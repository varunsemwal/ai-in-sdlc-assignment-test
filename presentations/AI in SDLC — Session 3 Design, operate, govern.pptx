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5" r:id="rId21"/>
    <p:sldId id="277" r:id="rId22"/>
    <p:sldId id="278" r:id="rId23"/>
    <p:sldId id="279" r:id="rId24"/>
    <p:sldId id="280" r:id="rId25"/>
    <p:sldId id="281" r:id="rId26"/>
    <p:sldId id="283"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359D49-C8D9-F9F0-507F-911F6C286B29}" v="32" dt="2026-10-14T05:07:59.147"/>
    <p1510:client id="{AA68632D-D900-4AE4-BDAB-AEE6A94DF08D}" v="95" dt="2026-10-14T05:51:13.043"/>
    <p1510:client id="{DEF456B6-B6ED-6597-84AB-067A97F05CF7}" v="2" dt="2026-10-14T06:46:52.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1B83DA7-D1D7-47D1-9900-CD702C0A8617}" type="datetimeFigureOut">
              <a:t>10/13/2026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6C314B6-79D5-4994-9CD0-1DEC37BFEF8D}" type="slidenum">
              <a:t>‹#›</a:t>
            </a:fld>
            <a:endParaRPr lang="en-US"/>
          </a:p>
        </p:txBody>
      </p:sp>
    </p:spTree>
    <p:extLst>
      <p:ext uri="{BB962C8B-B14F-4D97-AF65-F5344CB8AC3E}">
        <p14:creationId xmlns:p14="http://schemas.microsoft.com/office/powerpoint/2010/main" val="2871641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620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a:p>
        </p:txBody>
      </p:sp>
      <p:sp>
        <p:nvSpPr>
          <p:cNvPr id="3" name="Text Placeholder 2"/>
          <p:cNvSpPr>
            <a:spLocks noGrp="1"/>
          </p:cNvSpPr>
          <p:nvPr>
            <p:ph type="body" idx="101"/>
          </p:nvPr>
        </p:nvSpPr>
        <p:spPr>
          <a:xfrm>
            <a:off x="812800" y="1508720"/>
            <a:ext cx="10566400" cy="4536480"/>
          </a:xfrm>
          <a:prstGeom prst="rect">
            <a:avLst/>
          </a:prstGeom>
          <a:noFill/>
          <a:ln/>
        </p:spPr>
        <p:txBody>
          <a:bodyPr wrap="square" lIns="0" tIns="0" rIns="0" bIns="0" rtlCol="0" anchor="t"/>
          <a:lstStyle>
            <a:lvl1pPr marL="0" indent="0" algn="l">
              <a:lnSpc>
                <a:spcPct val="140000"/>
              </a:lnSpc>
              <a:buNone/>
              <a:defRPr lang="en-US" sz="1600" dirty="0">
                <a:solidFill>
                  <a:srgbClr val="16202A"/>
                </a:solidFill>
                <a:latin typeface="Inter" pitchFamily="34" charset="0"/>
                <a:ea typeface="Inter" pitchFamily="34" charset="-122"/>
                <a:cs typeface="Inter"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620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a:p>
        </p:txBody>
      </p:sp>
      <p:sp>
        <p:nvSpPr>
          <p:cNvPr id="3" name="Text Placeholder 2"/>
          <p:cNvSpPr>
            <a:spLocks noGrp="1"/>
          </p:cNvSpPr>
          <p:nvPr>
            <p:ph type="body" idx="101"/>
          </p:nvPr>
        </p:nvSpPr>
        <p:spPr>
          <a:xfrm>
            <a:off x="812800" y="1508720"/>
            <a:ext cx="10566400" cy="4536480"/>
          </a:xfrm>
          <a:prstGeom prst="rect">
            <a:avLst/>
          </a:prstGeom>
          <a:noFill/>
          <a:ln/>
        </p:spPr>
        <p:txBody>
          <a:bodyPr wrap="square" lIns="0" tIns="0" rIns="0" bIns="0" rtlCol="0" anchor="t"/>
          <a:lstStyle>
            <a:lvl1pPr marL="0" indent="0" algn="l">
              <a:lnSpc>
                <a:spcPct val="140000"/>
              </a:lnSpc>
              <a:buNone/>
              <a:defRPr lang="en-US" sz="1600" dirty="0">
                <a:solidFill>
                  <a:srgbClr val="16202A"/>
                </a:solidFill>
                <a:latin typeface="Inter" pitchFamily="34" charset="0"/>
                <a:ea typeface="Inter" pitchFamily="34" charset="-122"/>
                <a:cs typeface="Inter"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0"/>
        </a:solidFill>
        <a:effectLst/>
      </p:bgPr>
    </p:bg>
    <p:spTree>
      <p:nvGrpSpPr>
        <p:cNvPr id="1" name=""/>
        <p:cNvGrpSpPr/>
        <p:nvPr/>
      </p:nvGrpSpPr>
      <p:grpSpPr>
        <a:xfrm>
          <a:off x="0" y="0"/>
          <a:ext cx="0" cy="0"/>
          <a:chOff x="0" y="0"/>
          <a:chExt cx="0" cy="0"/>
        </a:xfrm>
      </p:grpSpPr>
      <p:sp>
        <p:nvSpPr>
          <p:cNvPr id="2" name="Shape 0"/>
          <p:cNvSpPr/>
          <p:nvPr/>
        </p:nvSpPr>
        <p:spPr>
          <a:xfrm>
            <a:off x="812800" y="1963539"/>
            <a:ext cx="889000" cy="88900"/>
          </a:xfrm>
          <a:prstGeom prst="rect">
            <a:avLst/>
          </a:prstGeom>
          <a:solidFill>
            <a:srgbClr val="F5A524"/>
          </a:solidFill>
          <a:ln/>
        </p:spPr>
        <p:txBody>
          <a:bodyPr/>
          <a:lstStyle/>
          <a:p>
            <a:endParaRPr lang="en-US"/>
          </a:p>
        </p:txBody>
      </p:sp>
      <p:sp>
        <p:nvSpPr>
          <p:cNvPr id="3" name="Text 1"/>
          <p:cNvSpPr/>
          <p:nvPr/>
        </p:nvSpPr>
        <p:spPr>
          <a:xfrm>
            <a:off x="812800" y="230643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a:solidFill>
                  <a:srgbClr val="35C7B4"/>
                </a:solidFill>
                <a:latin typeface="Inter" pitchFamily="34" charset="0"/>
                <a:ea typeface="Inter" pitchFamily="34" charset="-122"/>
                <a:cs typeface="Inter" pitchFamily="34" charset="-120"/>
              </a:rPr>
              <a:t>SESSION 3 OF 3</a:t>
            </a:r>
            <a:endParaRPr lang="en-US" sz="1400"/>
          </a:p>
        </p:txBody>
      </p:sp>
      <p:sp>
        <p:nvSpPr>
          <p:cNvPr id="4" name="Text 2"/>
          <p:cNvSpPr>
            <a:spLocks noGrp="1"/>
          </p:cNvSpPr>
          <p:nvPr>
            <p:ph type="title"/>
          </p:nvPr>
        </p:nvSpPr>
        <p:spPr>
          <a:xfrm>
            <a:off x="812800" y="2809280"/>
            <a:ext cx="10883392" cy="1518841"/>
          </a:xfrm>
          <a:prstGeom prst="rect">
            <a:avLst/>
          </a:prstGeom>
          <a:noFill/>
          <a:ln/>
        </p:spPr>
        <p:txBody>
          <a:bodyPr wrap="square" lIns="0" tIns="0" rIns="0" bIns="0" rtlCol="0" anchor="t">
            <a:normAutofit/>
          </a:bodyPr>
          <a:lstStyle/>
          <a:p>
            <a:pPr marL="0" indent="0" algn="l">
              <a:lnSpc>
                <a:spcPts val="5880"/>
              </a:lnSpc>
              <a:buNone/>
            </a:pPr>
            <a:r>
              <a:rPr lang="en-US" sz="5600" b="1" i="0">
                <a:solidFill>
                  <a:srgbClr val="F4F1EA"/>
                </a:solidFill>
                <a:latin typeface="Space Grotesk" pitchFamily="34" charset="0"/>
                <a:ea typeface="Space Grotesk" pitchFamily="34" charset="-122"/>
                <a:cs typeface="Space Grotesk" pitchFamily="34" charset="-120"/>
              </a:rPr>
              <a:t>AI in the SDLC: design, operate, govern</a:t>
            </a:r>
            <a:endParaRPr lang="en-US" sz="5600"/>
          </a:p>
        </p:txBody>
      </p:sp>
      <p:sp>
        <p:nvSpPr>
          <p:cNvPr id="5" name="Text 3"/>
          <p:cNvSpPr/>
          <p:nvPr/>
        </p:nvSpPr>
        <p:spPr>
          <a:xfrm>
            <a:off x="812800" y="4556720"/>
            <a:ext cx="10883392" cy="363141"/>
          </a:xfrm>
          <a:prstGeom prst="rect">
            <a:avLst/>
          </a:prstGeom>
          <a:noFill/>
          <a:ln/>
        </p:spPr>
        <p:txBody>
          <a:bodyPr wrap="square" lIns="0" tIns="0" rIns="0" bIns="0" rtlCol="0" anchor="t">
            <a:normAutofit/>
          </a:bodyPr>
          <a:lstStyle/>
          <a:p>
            <a:pPr marL="0" indent="0" algn="l">
              <a:lnSpc>
                <a:spcPts val="2660"/>
              </a:lnSpc>
              <a:buNone/>
            </a:pPr>
            <a:endParaRPr lang="en-US" sz="1900">
              <a:solidFill>
                <a:srgbClr val="B4C2CE"/>
              </a:solidFill>
            </a:endParaRPr>
          </a:p>
        </p:txBody>
      </p:sp>
      <p:sp>
        <p:nvSpPr>
          <p:cNvPr id="6" name="Text 4"/>
          <p:cNvSpPr/>
          <p:nvPr/>
        </p:nvSpPr>
        <p:spPr>
          <a:xfrm>
            <a:off x="812800" y="5999559"/>
            <a:ext cx="10464800" cy="274241"/>
          </a:xfrm>
          <a:prstGeom prst="rect">
            <a:avLst/>
          </a:prstGeom>
          <a:noFill/>
          <a:ln/>
        </p:spPr>
        <p:txBody>
          <a:bodyPr wrap="square" lIns="0" tIns="0" rIns="0" bIns="0" rtlCol="0" anchor="t">
            <a:normAutofit/>
          </a:bodyPr>
          <a:lstStyle/>
          <a:p>
            <a:pPr marL="0" indent="0" algn="l">
              <a:lnSpc>
                <a:spcPts val="1960"/>
              </a:lnSpc>
              <a:buNone/>
            </a:pPr>
            <a:endParaRPr lang="en-US" sz="1400">
              <a:solidFill>
                <a:srgbClr val="B4C2C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Recap: four ideas from Sessions 1 and 2</a:t>
            </a:r>
            <a:endParaRPr lang="en-US" sz="2800"/>
          </a:p>
        </p:txBody>
      </p:sp>
      <p:sp>
        <p:nvSpPr>
          <p:cNvPr id="3" name="Text 1"/>
          <p:cNvSpPr/>
          <p:nvPr/>
        </p:nvSpPr>
        <p:spPr>
          <a:xfrm>
            <a:off x="812800" y="140712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a:solidFill>
                  <a:srgbClr val="3B4652"/>
                </a:solidFill>
                <a:latin typeface="Inter" pitchFamily="34" charset="0"/>
                <a:ea typeface="Inter" pitchFamily="34" charset="-122"/>
                <a:cs typeface="Inter" pitchFamily="34" charset="-120"/>
              </a:rPr>
              <a:t>Sessions 1 and 2 were the inner loop: write, spec, test, review. Today is the outer loop: design, operate, govern.</a:t>
            </a:r>
            <a:endParaRPr lang="en-US" sz="1500"/>
          </a:p>
        </p:txBody>
      </p:sp>
      <p:sp>
        <p:nvSpPr>
          <p:cNvPr id="4" name="Shape 2"/>
          <p:cNvSpPr/>
          <p:nvPr/>
        </p:nvSpPr>
        <p:spPr>
          <a:xfrm>
            <a:off x="815975" y="1880195"/>
            <a:ext cx="2520950" cy="2086173"/>
          </a:xfrm>
          <a:prstGeom prst="roundRect">
            <a:avLst>
              <a:gd name="adj" fmla="val 4718"/>
            </a:avLst>
          </a:prstGeom>
          <a:solidFill>
            <a:srgbClr val="FBFAF6"/>
          </a:solidFill>
          <a:ln w="6350">
            <a:solidFill>
              <a:srgbClr val="D5CFC2"/>
            </a:solidFill>
            <a:prstDash val="solid"/>
          </a:ln>
        </p:spPr>
        <p:txBody>
          <a:bodyPr/>
          <a:lstStyle/>
          <a:p>
            <a:endParaRPr lang="en-US"/>
          </a:p>
        </p:txBody>
      </p:sp>
      <p:sp>
        <p:nvSpPr>
          <p:cNvPr id="5" name="Text 3"/>
          <p:cNvSpPr/>
          <p:nvPr/>
        </p:nvSpPr>
        <p:spPr>
          <a:xfrm>
            <a:off x="1047750" y="2111970"/>
            <a:ext cx="2119122" cy="551061"/>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Context is the interface</a:t>
            </a:r>
            <a:endParaRPr lang="en-US" sz="1800"/>
          </a:p>
        </p:txBody>
      </p:sp>
      <p:sp>
        <p:nvSpPr>
          <p:cNvPr id="6" name="Text 4"/>
          <p:cNvSpPr/>
          <p:nvPr/>
        </p:nvSpPr>
        <p:spPr>
          <a:xfrm>
            <a:off x="1047750" y="2739231"/>
            <a:ext cx="2119122" cy="1020763"/>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What the agent can see decides what it can do. AGENTS.md, skills, MCP.</a:t>
            </a:r>
            <a:endParaRPr lang="en-US" sz="1400"/>
          </a:p>
        </p:txBody>
      </p:sp>
      <p:sp>
        <p:nvSpPr>
          <p:cNvPr id="7" name="Shape 5"/>
          <p:cNvSpPr/>
          <p:nvPr/>
        </p:nvSpPr>
        <p:spPr>
          <a:xfrm>
            <a:off x="3495675" y="1880195"/>
            <a:ext cx="2520950" cy="2086173"/>
          </a:xfrm>
          <a:prstGeom prst="roundRect">
            <a:avLst>
              <a:gd name="adj" fmla="val 4718"/>
            </a:avLst>
          </a:prstGeom>
          <a:solidFill>
            <a:srgbClr val="FBFAF6"/>
          </a:solidFill>
          <a:ln w="6350">
            <a:solidFill>
              <a:srgbClr val="D5CFC2"/>
            </a:solidFill>
            <a:prstDash val="solid"/>
          </a:ln>
        </p:spPr>
        <p:txBody>
          <a:bodyPr/>
          <a:lstStyle/>
          <a:p>
            <a:endParaRPr lang="en-US"/>
          </a:p>
        </p:txBody>
      </p:sp>
      <p:sp>
        <p:nvSpPr>
          <p:cNvPr id="8" name="Text 6"/>
          <p:cNvSpPr/>
          <p:nvPr/>
        </p:nvSpPr>
        <p:spPr>
          <a:xfrm>
            <a:off x="3727450" y="2111970"/>
            <a:ext cx="2119122"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Specs hold intent</a:t>
            </a:r>
            <a:endParaRPr lang="en-US" sz="1800"/>
          </a:p>
        </p:txBody>
      </p:sp>
      <p:sp>
        <p:nvSpPr>
          <p:cNvPr id="9" name="Text 7"/>
          <p:cNvSpPr/>
          <p:nvPr/>
        </p:nvSpPr>
        <p:spPr>
          <a:xfrm>
            <a:off x="3727450" y="2476401"/>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Keep requirements in the repo, outside the chat.</a:t>
            </a:r>
            <a:endParaRPr lang="en-US" sz="1400"/>
          </a:p>
        </p:txBody>
      </p:sp>
      <p:sp>
        <p:nvSpPr>
          <p:cNvPr id="10" name="Shape 8"/>
          <p:cNvSpPr/>
          <p:nvPr/>
        </p:nvSpPr>
        <p:spPr>
          <a:xfrm>
            <a:off x="6175375" y="1880195"/>
            <a:ext cx="2520950" cy="2086173"/>
          </a:xfrm>
          <a:prstGeom prst="roundRect">
            <a:avLst>
              <a:gd name="adj" fmla="val 4718"/>
            </a:avLst>
          </a:prstGeom>
          <a:solidFill>
            <a:srgbClr val="FBFAF6"/>
          </a:solidFill>
          <a:ln w="6350">
            <a:solidFill>
              <a:srgbClr val="D5CFC2"/>
            </a:solidFill>
            <a:prstDash val="solid"/>
          </a:ln>
        </p:spPr>
        <p:txBody>
          <a:bodyPr/>
          <a:lstStyle/>
          <a:p>
            <a:endParaRPr lang="en-US"/>
          </a:p>
        </p:txBody>
      </p:sp>
      <p:sp>
        <p:nvSpPr>
          <p:cNvPr id="11" name="Text 9"/>
          <p:cNvSpPr/>
          <p:nvPr/>
        </p:nvSpPr>
        <p:spPr>
          <a:xfrm>
            <a:off x="6407150" y="2111970"/>
            <a:ext cx="2119122"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Checks, not proof</a:t>
            </a:r>
            <a:endParaRPr lang="en-US" sz="1800"/>
          </a:p>
        </p:txBody>
      </p:sp>
      <p:sp>
        <p:nvSpPr>
          <p:cNvPr id="12" name="Text 10"/>
          <p:cNvSpPr/>
          <p:nvPr/>
        </p:nvSpPr>
        <p:spPr>
          <a:xfrm>
            <a:off x="6407150" y="2476401"/>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Reviews and tests catch things. Passing them proves little by itself.</a:t>
            </a:r>
            <a:endParaRPr lang="en-US" sz="1400"/>
          </a:p>
        </p:txBody>
      </p:sp>
      <p:sp>
        <p:nvSpPr>
          <p:cNvPr id="13" name="Shape 11"/>
          <p:cNvSpPr/>
          <p:nvPr/>
        </p:nvSpPr>
        <p:spPr>
          <a:xfrm>
            <a:off x="8855075" y="1880195"/>
            <a:ext cx="2520950" cy="2086173"/>
          </a:xfrm>
          <a:prstGeom prst="roundRect">
            <a:avLst>
              <a:gd name="adj" fmla="val 4718"/>
            </a:avLst>
          </a:prstGeom>
          <a:solidFill>
            <a:srgbClr val="FBFAF6"/>
          </a:solidFill>
          <a:ln w="6350">
            <a:solidFill>
              <a:srgbClr val="D5CFC2"/>
            </a:solidFill>
            <a:prstDash val="solid"/>
          </a:ln>
        </p:spPr>
        <p:txBody>
          <a:bodyPr/>
          <a:lstStyle/>
          <a:p>
            <a:endParaRPr lang="en-US"/>
          </a:p>
        </p:txBody>
      </p:sp>
      <p:sp>
        <p:nvSpPr>
          <p:cNvPr id="14" name="Text 12"/>
          <p:cNvSpPr/>
          <p:nvPr/>
        </p:nvSpPr>
        <p:spPr>
          <a:xfrm>
            <a:off x="9086850" y="2111970"/>
            <a:ext cx="2119122" cy="551061"/>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Humans keep decisions</a:t>
            </a:r>
            <a:endParaRPr lang="en-US" sz="1800"/>
          </a:p>
        </p:txBody>
      </p:sp>
      <p:sp>
        <p:nvSpPr>
          <p:cNvPr id="15" name="Text 13"/>
          <p:cNvSpPr/>
          <p:nvPr/>
        </p:nvSpPr>
        <p:spPr>
          <a:xfrm>
            <a:off x="9086850" y="2739231"/>
            <a:ext cx="2119122" cy="523081"/>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The agent proposes. You own what ships.</a:t>
            </a:r>
            <a:endParaRPr lang="en-US" sz="1400"/>
          </a:p>
        </p:txBody>
      </p:sp>
      <p:sp>
        <p:nvSpPr>
          <p:cNvPr id="16" name="Text 14"/>
          <p:cNvSpPr/>
          <p:nvPr/>
        </p:nvSpPr>
        <p:spPr>
          <a:xfrm>
            <a:off x="812800" y="4172744"/>
            <a:ext cx="10883392" cy="292100"/>
          </a:xfrm>
          <a:prstGeom prst="rect">
            <a:avLst/>
          </a:prstGeom>
          <a:noFill/>
          <a:ln/>
        </p:spPr>
        <p:txBody>
          <a:bodyPr wrap="square" lIns="0" tIns="0" rIns="0" bIns="0" rtlCol="0" anchor="t">
            <a:normAutofit/>
          </a:bodyPr>
          <a:lstStyle/>
          <a:p>
            <a:pPr marL="0" indent="0" algn="l">
              <a:lnSpc>
                <a:spcPts val="2100"/>
              </a:lnSpc>
              <a:buNone/>
            </a:pPr>
            <a:endParaRPr lang="en-US" sz="1500" b="1"/>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18" name="Text 16"/>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A524"/>
        </a:solidFill>
        <a:effectLst/>
      </p:bgPr>
    </p:bg>
    <p:spTree>
      <p:nvGrpSpPr>
        <p:cNvPr id="1" name=""/>
        <p:cNvGrpSpPr/>
        <p:nvPr/>
      </p:nvGrpSpPr>
      <p:grpSpPr>
        <a:xfrm>
          <a:off x="0" y="0"/>
          <a:ext cx="0" cy="0"/>
          <a:chOff x="0" y="0"/>
          <a:chExt cx="0" cy="0"/>
        </a:xfrm>
      </p:grpSpPr>
      <p:sp>
        <p:nvSpPr>
          <p:cNvPr id="2" name="Text 0"/>
          <p:cNvSpPr/>
          <p:nvPr/>
        </p:nvSpPr>
        <p:spPr>
          <a:xfrm>
            <a:off x="812800" y="25324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a:solidFill>
                  <a:srgbClr val="16202A"/>
                </a:solidFill>
                <a:latin typeface="Inter" pitchFamily="34" charset="0"/>
                <a:ea typeface="Inter" pitchFamily="34" charset="-122"/>
                <a:cs typeface="Inter" pitchFamily="34" charset="-120"/>
              </a:rPr>
              <a:t>PART 1</a:t>
            </a:r>
            <a:endParaRPr lang="en-US" sz="1400"/>
          </a:p>
        </p:txBody>
      </p:sp>
      <p:sp>
        <p:nvSpPr>
          <p:cNvPr id="3" name="Text 1"/>
          <p:cNvSpPr>
            <a:spLocks noGrp="1"/>
          </p:cNvSpPr>
          <p:nvPr>
            <p:ph type="title"/>
          </p:nvPr>
        </p:nvSpPr>
        <p:spPr>
          <a:xfrm>
            <a:off x="812800" y="29845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a:solidFill>
                  <a:srgbClr val="16202A"/>
                </a:solidFill>
                <a:latin typeface="Space Grotesk" pitchFamily="34" charset="0"/>
                <a:ea typeface="Space Grotesk" pitchFamily="34" charset="-122"/>
                <a:cs typeface="Space Grotesk" pitchFamily="34" charset="-120"/>
              </a:rPr>
              <a:t>Design and architecture</a:t>
            </a:r>
            <a:endParaRPr lang="en-US" sz="6000"/>
          </a:p>
        </p:txBody>
      </p:sp>
      <p:sp>
        <p:nvSpPr>
          <p:cNvPr id="4" name="Text 2"/>
          <p:cNvSpPr/>
          <p:nvPr/>
        </p:nvSpPr>
        <p:spPr>
          <a:xfrm>
            <a:off x="812800" y="3987800"/>
            <a:ext cx="10883392" cy="363141"/>
          </a:xfrm>
          <a:prstGeom prst="rect">
            <a:avLst/>
          </a:prstGeom>
          <a:noFill/>
          <a:ln/>
        </p:spPr>
        <p:txBody>
          <a:bodyPr wrap="square" lIns="0" tIns="0" rIns="0" bIns="0" rtlCol="0" anchor="t">
            <a:normAutofit/>
          </a:bodyPr>
          <a:lstStyle/>
          <a:p>
            <a:pPr marL="0" indent="0" algn="l">
              <a:lnSpc>
                <a:spcPts val="2660"/>
              </a:lnSpc>
              <a:buNone/>
            </a:pPr>
            <a:endParaRPr lang="en-US" sz="1900"/>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16202A"/>
                </a:solidFill>
                <a:latin typeface="Inter" pitchFamily="34" charset="0"/>
                <a:ea typeface="Inter" pitchFamily="34" charset="-122"/>
                <a:cs typeface="Inter" pitchFamily="34" charset="-120"/>
              </a:rPr>
              <a:t>AI in SDLC · Session 3</a:t>
            </a:r>
            <a:endParaRPr lang="en-US" sz="1200"/>
          </a:p>
        </p:txBody>
      </p:sp>
      <p:sp>
        <p:nvSpPr>
          <p:cNvPr id="6" name="Text 4"/>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Where agents help in design, and where they mislead</a:t>
            </a:r>
            <a:endParaRPr lang="en-US" sz="2800"/>
          </a:p>
        </p:txBody>
      </p:sp>
      <p:sp>
        <p:nvSpPr>
          <p:cNvPr id="3" name="Shape 1"/>
          <p:cNvSpPr/>
          <p:nvPr/>
        </p:nvSpPr>
        <p:spPr>
          <a:xfrm>
            <a:off x="812800" y="1807766"/>
            <a:ext cx="10566400" cy="0"/>
          </a:xfrm>
          <a:prstGeom prst="line">
            <a:avLst/>
          </a:prstGeom>
          <a:noFill/>
          <a:ln w="19050">
            <a:solidFill>
              <a:srgbClr val="16202A"/>
            </a:solidFill>
            <a:prstDash val="solid"/>
          </a:ln>
        </p:spPr>
        <p:txBody>
          <a:bodyPr/>
          <a:lstStyle/>
          <a:p>
            <a:endParaRPr lang="en-US"/>
          </a:p>
        </p:txBody>
      </p:sp>
      <p:sp>
        <p:nvSpPr>
          <p:cNvPr id="4" name="Text 2"/>
          <p:cNvSpPr/>
          <p:nvPr/>
        </p:nvSpPr>
        <p:spPr>
          <a:xfrm>
            <a:off x="812800" y="1483320"/>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TASK</a:t>
            </a:r>
            <a:endParaRPr lang="en-US" sz="1200"/>
          </a:p>
        </p:txBody>
      </p:sp>
      <p:sp>
        <p:nvSpPr>
          <p:cNvPr id="5" name="Text 3"/>
          <p:cNvSpPr/>
          <p:nvPr/>
        </p:nvSpPr>
        <p:spPr>
          <a:xfrm>
            <a:off x="3149600" y="1483320"/>
            <a:ext cx="2812415"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AGENT IS GOOD AT</a:t>
            </a:r>
            <a:endParaRPr lang="en-US" sz="1200"/>
          </a:p>
        </p:txBody>
      </p:sp>
      <p:sp>
        <p:nvSpPr>
          <p:cNvPr id="6" name="Text 4"/>
          <p:cNvSpPr/>
          <p:nvPr/>
        </p:nvSpPr>
        <p:spPr>
          <a:xfrm>
            <a:off x="6057900" y="1483320"/>
            <a:ext cx="2812415"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TYPICAL FAILURE</a:t>
            </a:r>
            <a:endParaRPr lang="en-US" sz="1200"/>
          </a:p>
        </p:txBody>
      </p:sp>
      <p:sp>
        <p:nvSpPr>
          <p:cNvPr id="7" name="Text 5"/>
          <p:cNvSpPr/>
          <p:nvPr/>
        </p:nvSpPr>
        <p:spPr>
          <a:xfrm>
            <a:off x="8966200" y="14833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YOUR JOB</a:t>
            </a:r>
            <a:endParaRPr lang="en-US" sz="1200"/>
          </a:p>
        </p:txBody>
      </p:sp>
      <p:sp>
        <p:nvSpPr>
          <p:cNvPr id="8" name="Shape 6"/>
          <p:cNvSpPr/>
          <p:nvPr/>
        </p:nvSpPr>
        <p:spPr>
          <a:xfrm>
            <a:off x="812800" y="2545556"/>
            <a:ext cx="10566400" cy="0"/>
          </a:xfrm>
          <a:prstGeom prst="line">
            <a:avLst/>
          </a:prstGeom>
          <a:noFill/>
          <a:ln w="6350">
            <a:solidFill>
              <a:srgbClr val="D5CFC2"/>
            </a:solidFill>
            <a:prstDash val="solid"/>
          </a:ln>
        </p:spPr>
        <p:txBody>
          <a:bodyPr/>
          <a:lstStyle/>
          <a:p>
            <a:endParaRPr lang="en-US"/>
          </a:p>
        </p:txBody>
      </p:sp>
      <p:sp>
        <p:nvSpPr>
          <p:cNvPr id="9" name="Text 7"/>
          <p:cNvSpPr/>
          <p:nvPr/>
        </p:nvSpPr>
        <p:spPr>
          <a:xfrm>
            <a:off x="812800" y="1956991"/>
            <a:ext cx="222377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Diagram from code</a:t>
            </a:r>
            <a:endParaRPr lang="en-US" sz="1300"/>
          </a:p>
        </p:txBody>
      </p:sp>
      <p:sp>
        <p:nvSpPr>
          <p:cNvPr id="10" name="Text 8"/>
          <p:cNvSpPr/>
          <p:nvPr/>
        </p:nvSpPr>
        <p:spPr>
          <a:xfrm>
            <a:off x="3149600" y="1956991"/>
            <a:ext cx="2812415"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Reading structure fast</a:t>
            </a:r>
            <a:endParaRPr lang="en-US" sz="1300"/>
          </a:p>
        </p:txBody>
      </p:sp>
      <p:sp>
        <p:nvSpPr>
          <p:cNvPr id="11" name="Text 9"/>
          <p:cNvSpPr/>
          <p:nvPr/>
        </p:nvSpPr>
        <p:spPr>
          <a:xfrm>
            <a:off x="6057900" y="1956991"/>
            <a:ext cx="2812415"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Invents components that are not there</a:t>
            </a:r>
            <a:endParaRPr lang="en-US" sz="1300"/>
          </a:p>
        </p:txBody>
      </p:sp>
      <p:sp>
        <p:nvSpPr>
          <p:cNvPr id="12" name="Text 10"/>
          <p:cNvSpPr/>
          <p:nvPr/>
        </p:nvSpPr>
        <p:spPr>
          <a:xfrm>
            <a:off x="8966200" y="1956991"/>
            <a:ext cx="26162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Demand a file reference per element</a:t>
            </a:r>
            <a:endParaRPr lang="en-US" sz="1300"/>
          </a:p>
        </p:txBody>
      </p:sp>
      <p:sp>
        <p:nvSpPr>
          <p:cNvPr id="13" name="Shape 11"/>
          <p:cNvSpPr/>
          <p:nvPr/>
        </p:nvSpPr>
        <p:spPr>
          <a:xfrm>
            <a:off x="812800" y="3276997"/>
            <a:ext cx="10566400" cy="0"/>
          </a:xfrm>
          <a:prstGeom prst="line">
            <a:avLst/>
          </a:prstGeom>
          <a:noFill/>
          <a:ln w="6350">
            <a:solidFill>
              <a:srgbClr val="D5CFC2"/>
            </a:solidFill>
            <a:prstDash val="solid"/>
          </a:ln>
        </p:spPr>
        <p:txBody>
          <a:bodyPr/>
          <a:lstStyle/>
          <a:p>
            <a:endParaRPr lang="en-US"/>
          </a:p>
        </p:txBody>
      </p:sp>
      <p:sp>
        <p:nvSpPr>
          <p:cNvPr id="14" name="Text 12"/>
          <p:cNvSpPr/>
          <p:nvPr/>
        </p:nvSpPr>
        <p:spPr>
          <a:xfrm>
            <a:off x="812800" y="2688431"/>
            <a:ext cx="222377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Compare design options</a:t>
            </a:r>
            <a:endParaRPr lang="en-US" sz="1300"/>
          </a:p>
        </p:txBody>
      </p:sp>
      <p:sp>
        <p:nvSpPr>
          <p:cNvPr id="15" name="Text 13"/>
          <p:cNvSpPr/>
          <p:nvPr/>
        </p:nvSpPr>
        <p:spPr>
          <a:xfrm>
            <a:off x="3149600" y="2688431"/>
            <a:ext cx="2812415"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Listing trade-offs broadly</a:t>
            </a:r>
            <a:endParaRPr lang="en-US" sz="1300"/>
          </a:p>
        </p:txBody>
      </p:sp>
      <p:sp>
        <p:nvSpPr>
          <p:cNvPr id="16" name="Text 14"/>
          <p:cNvSpPr/>
          <p:nvPr/>
        </p:nvSpPr>
        <p:spPr>
          <a:xfrm>
            <a:off x="6057900" y="2688431"/>
            <a:ext cx="2812415"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Agrees with the option you lean toward</a:t>
            </a:r>
            <a:endParaRPr lang="en-US" sz="1300"/>
          </a:p>
        </p:txBody>
      </p:sp>
      <p:sp>
        <p:nvSpPr>
          <p:cNvPr id="17" name="Text 15"/>
          <p:cNvSpPr/>
          <p:nvPr/>
        </p:nvSpPr>
        <p:spPr>
          <a:xfrm>
            <a:off x="8966200" y="2688431"/>
            <a:ext cx="26162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State constraints, ask for the case against</a:t>
            </a:r>
            <a:endParaRPr lang="en-US" sz="1300"/>
          </a:p>
        </p:txBody>
      </p:sp>
      <p:sp>
        <p:nvSpPr>
          <p:cNvPr id="18" name="Shape 16"/>
          <p:cNvSpPr/>
          <p:nvPr/>
        </p:nvSpPr>
        <p:spPr>
          <a:xfrm>
            <a:off x="812800" y="4008438"/>
            <a:ext cx="10566400" cy="0"/>
          </a:xfrm>
          <a:prstGeom prst="line">
            <a:avLst/>
          </a:prstGeom>
          <a:noFill/>
          <a:ln w="6350">
            <a:solidFill>
              <a:srgbClr val="D5CFC2"/>
            </a:solidFill>
            <a:prstDash val="solid"/>
          </a:ln>
        </p:spPr>
        <p:txBody>
          <a:bodyPr/>
          <a:lstStyle/>
          <a:p>
            <a:endParaRPr lang="en-US"/>
          </a:p>
        </p:txBody>
      </p:sp>
      <p:sp>
        <p:nvSpPr>
          <p:cNvPr id="19" name="Text 17"/>
          <p:cNvSpPr/>
          <p:nvPr/>
        </p:nvSpPr>
        <p:spPr>
          <a:xfrm>
            <a:off x="812800" y="3419872"/>
            <a:ext cx="222377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Write the ADR</a:t>
            </a:r>
            <a:endParaRPr lang="en-US" sz="1300"/>
          </a:p>
        </p:txBody>
      </p:sp>
      <p:sp>
        <p:nvSpPr>
          <p:cNvPr id="20" name="Text 18"/>
          <p:cNvSpPr/>
          <p:nvPr/>
        </p:nvSpPr>
        <p:spPr>
          <a:xfrm>
            <a:off x="3149600" y="3419872"/>
            <a:ext cx="2812415"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Clean structure and wording</a:t>
            </a:r>
            <a:endParaRPr lang="en-US" sz="1300"/>
          </a:p>
        </p:txBody>
      </p:sp>
      <p:sp>
        <p:nvSpPr>
          <p:cNvPr id="21" name="Text 19"/>
          <p:cNvSpPr/>
          <p:nvPr/>
        </p:nvSpPr>
        <p:spPr>
          <a:xfrm>
            <a:off x="6057900" y="3419872"/>
            <a:ext cx="2812415"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Tidy prose that hides the real trade-off</a:t>
            </a:r>
            <a:endParaRPr lang="en-US" sz="1300"/>
          </a:p>
        </p:txBody>
      </p:sp>
      <p:sp>
        <p:nvSpPr>
          <p:cNvPr id="22" name="Text 20"/>
          <p:cNvSpPr/>
          <p:nvPr/>
        </p:nvSpPr>
        <p:spPr>
          <a:xfrm>
            <a:off x="8966200" y="3419872"/>
            <a:ext cx="26162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Own the decision and its rationale</a:t>
            </a:r>
            <a:endParaRPr lang="en-US" sz="1300"/>
          </a:p>
        </p:txBody>
      </p:sp>
      <p:sp>
        <p:nvSpPr>
          <p:cNvPr id="23" name="Text 21"/>
          <p:cNvSpPr/>
          <p:nvPr/>
        </p:nvSpPr>
        <p:spPr>
          <a:xfrm>
            <a:off x="812800" y="4151313"/>
            <a:ext cx="2223770" cy="248245"/>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Check conformance</a:t>
            </a:r>
            <a:endParaRPr lang="en-US" sz="1300"/>
          </a:p>
        </p:txBody>
      </p:sp>
      <p:sp>
        <p:nvSpPr>
          <p:cNvPr id="24" name="Text 22"/>
          <p:cNvSpPr/>
          <p:nvPr/>
        </p:nvSpPr>
        <p:spPr>
          <a:xfrm>
            <a:off x="3149600" y="4151313"/>
            <a:ext cx="2812415"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Scanning many files quickly</a:t>
            </a:r>
            <a:endParaRPr lang="en-US" sz="1300"/>
          </a:p>
        </p:txBody>
      </p:sp>
      <p:sp>
        <p:nvSpPr>
          <p:cNvPr id="25" name="Text 23"/>
          <p:cNvSpPr/>
          <p:nvPr/>
        </p:nvSpPr>
        <p:spPr>
          <a:xfrm>
            <a:off x="6057900" y="4151313"/>
            <a:ext cx="2812415"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Misses rules nobody wrote down</a:t>
            </a:r>
            <a:endParaRPr lang="en-US" sz="1300"/>
          </a:p>
        </p:txBody>
      </p:sp>
      <p:sp>
        <p:nvSpPr>
          <p:cNvPr id="26" name="Text 24"/>
          <p:cNvSpPr/>
          <p:nvPr/>
        </p:nvSpPr>
        <p:spPr>
          <a:xfrm>
            <a:off x="8966200" y="4151313"/>
            <a:ext cx="26162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Encode the rules as tests</a:t>
            </a:r>
            <a:endParaRPr lang="en-US" sz="1300"/>
          </a:p>
        </p:txBody>
      </p:sp>
      <p:sp>
        <p:nvSpPr>
          <p:cNvPr id="27" name="Text 2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Mermaid MCP: diagrams as code the agent can render</a:t>
            </a:r>
            <a:endParaRPr lang="en-US" sz="2800"/>
          </a:p>
        </p:txBody>
      </p:sp>
      <p:sp>
        <p:nvSpPr>
          <p:cNvPr id="3" name="Text 1"/>
          <p:cNvSpPr/>
          <p:nvPr/>
        </p:nvSpPr>
        <p:spPr>
          <a:xfrm>
            <a:off x="812800" y="1407120"/>
            <a:ext cx="4970780" cy="558800"/>
          </a:xfrm>
          <a:prstGeom prst="rect">
            <a:avLst/>
          </a:prstGeom>
          <a:noFill/>
          <a:ln/>
        </p:spPr>
        <p:txBody>
          <a:bodyPr wrap="square" lIns="0" tIns="0" rIns="0" bIns="0" rtlCol="0" anchor="t">
            <a:normAutofit/>
          </a:bodyPr>
          <a:lstStyle/>
          <a:p>
            <a:pPr marL="0" indent="0" algn="l">
              <a:lnSpc>
                <a:spcPts val="2100"/>
              </a:lnSpc>
              <a:buNone/>
            </a:pPr>
            <a:r>
              <a:rPr lang="en-US" sz="1500">
                <a:solidFill>
                  <a:srgbClr val="3B4652"/>
                </a:solidFill>
                <a:latin typeface="Inter" pitchFamily="34" charset="0"/>
                <a:ea typeface="Inter" pitchFamily="34" charset="-122"/>
                <a:cs typeface="Inter" pitchFamily="34" charset="-120"/>
              </a:rPr>
              <a:t>Mermaid is plain text, so diagrams live in the repo, diff in a pull request and can be reviewed like code.</a:t>
            </a:r>
            <a:endParaRPr lang="en-US" sz="1500"/>
          </a:p>
        </p:txBody>
      </p:sp>
      <p:sp>
        <p:nvSpPr>
          <p:cNvPr id="4" name="Text 2"/>
          <p:cNvSpPr/>
          <p:nvPr/>
        </p:nvSpPr>
        <p:spPr>
          <a:xfrm>
            <a:off x="812800" y="2092920"/>
            <a:ext cx="4970780" cy="558800"/>
          </a:xfrm>
          <a:prstGeom prst="rect">
            <a:avLst/>
          </a:prstGeom>
          <a:noFill/>
          <a:ln/>
        </p:spPr>
        <p:txBody>
          <a:bodyPr wrap="square" lIns="0" tIns="0" rIns="0" bIns="0" rtlCol="0" anchor="t">
            <a:normAutofit/>
          </a:bodyPr>
          <a:lstStyle/>
          <a:p>
            <a:pPr marL="0" indent="0" algn="l">
              <a:lnSpc>
                <a:spcPts val="2100"/>
              </a:lnSpc>
              <a:buNone/>
            </a:pPr>
            <a:r>
              <a:rPr lang="en-US" sz="1500">
                <a:solidFill>
                  <a:srgbClr val="3B4652"/>
                </a:solidFill>
                <a:latin typeface="Inter" pitchFamily="34" charset="0"/>
                <a:ea typeface="Inter" pitchFamily="34" charset="-122"/>
                <a:cs typeface="Inter" pitchFamily="34" charset="-120"/>
              </a:rPr>
              <a:t>The MCP server lets the agent render what it writes and check that the syntax is valid.</a:t>
            </a:r>
            <a:endParaRPr lang="en-US" sz="1500"/>
          </a:p>
        </p:txBody>
      </p:sp>
      <p:sp>
        <p:nvSpPr>
          <p:cNvPr id="5" name="Text 3"/>
          <p:cNvSpPr/>
          <p:nvPr/>
        </p:nvSpPr>
        <p:spPr>
          <a:xfrm>
            <a:off x="815975" y="2781895"/>
            <a:ext cx="4819650" cy="1055191"/>
          </a:xfrm>
          <a:prstGeom prst="roundRect">
            <a:avLst>
              <a:gd name="adj" fmla="val 6921"/>
            </a:avLst>
          </a:prstGeom>
          <a:solidFill>
            <a:srgbClr val="FBFAF6"/>
          </a:solidFill>
          <a:ln w="6350">
            <a:solidFill>
              <a:srgbClr val="D5CFC2"/>
            </a:solidFill>
            <a:prstDash val="solid"/>
          </a:ln>
        </p:spPr>
        <p:txBody>
          <a:bodyPr wrap="square" lIns="159587" tIns="159587" rIns="25856" bIns="134187" rtlCol="0" anchor="t">
            <a:normAutofit/>
          </a:bodyPr>
          <a:lstStyle/>
          <a:p>
            <a:pPr marL="0" indent="0" algn="l">
              <a:lnSpc>
                <a:spcPts val="1820"/>
              </a:lnSpc>
              <a:buNone/>
            </a:pPr>
            <a:r>
              <a:rPr lang="en-US" sz="1300" b="1">
                <a:solidFill>
                  <a:srgbClr val="16202A"/>
                </a:solidFill>
                <a:latin typeface="Inter" pitchFamily="34" charset="0"/>
                <a:ea typeface="Inter" pitchFamily="34" charset="-122"/>
                <a:cs typeface="Inter" pitchFamily="34" charset="-120"/>
              </a:rPr>
              <a:t>Check the output mode.</a:t>
            </a:r>
            <a:r>
              <a:rPr lang="en-US" sz="1300">
                <a:solidFill>
                  <a:srgbClr val="16202A"/>
                </a:solidFill>
                <a:latin typeface="Inter" pitchFamily="34" charset="0"/>
                <a:ea typeface="Inter" pitchFamily="34" charset="-122"/>
                <a:cs typeface="Inter" pitchFamily="34" charset="-120"/>
              </a:rPr>
              <a:t> Some modes return a link to the public mermaid.ink service. For private architecture, ask for Mermaid text or an image file instead.</a:t>
            </a:r>
            <a:endParaRPr lang="en-US" sz="1300"/>
          </a:p>
        </p:txBody>
      </p:sp>
      <p:sp>
        <p:nvSpPr>
          <p:cNvPr id="6" name="Shape 4"/>
          <p:cNvSpPr/>
          <p:nvPr/>
        </p:nvSpPr>
        <p:spPr>
          <a:xfrm>
            <a:off x="5943600" y="1407120"/>
            <a:ext cx="5715000" cy="2637730"/>
          </a:xfrm>
          <a:prstGeom prst="roundRect">
            <a:avLst>
              <a:gd name="adj" fmla="val 3852"/>
            </a:avLst>
          </a:prstGeom>
          <a:solidFill>
            <a:srgbClr val="0F1720"/>
          </a:solidFill>
          <a:ln/>
        </p:spPr>
        <p:txBody>
          <a:bodyPr/>
          <a:lstStyle/>
          <a:p>
            <a:endParaRPr lang="en-US"/>
          </a:p>
        </p:txBody>
      </p:sp>
      <p:sp>
        <p:nvSpPr>
          <p:cNvPr id="7" name="Text 5"/>
          <p:cNvSpPr/>
          <p:nvPr/>
        </p:nvSpPr>
        <p:spPr>
          <a:xfrm>
            <a:off x="6172200" y="1635720"/>
            <a:ext cx="5415534" cy="220960"/>
          </a:xfrm>
          <a:prstGeom prst="rect">
            <a:avLst/>
          </a:prstGeom>
          <a:noFill/>
          <a:ln/>
        </p:spPr>
        <p:txBody>
          <a:bodyPr wrap="square" lIns="0" tIns="0" rIns="0" bIns="0" rtlCol="0" anchor="t">
            <a:normAutofit/>
          </a:bodyPr>
          <a:lstStyle/>
          <a:p>
            <a:pPr marL="0" indent="0" algn="l">
              <a:lnSpc>
                <a:spcPts val="1540"/>
              </a:lnSpc>
              <a:buNone/>
            </a:pPr>
            <a:endParaRPr lang="en-US" sz="1100"/>
          </a:p>
        </p:txBody>
      </p:sp>
      <p:sp>
        <p:nvSpPr>
          <p:cNvPr id="8" name="Text 6"/>
          <p:cNvSpPr/>
          <p:nvPr/>
        </p:nvSpPr>
        <p:spPr>
          <a:xfrm>
            <a:off x="6172200" y="1932880"/>
            <a:ext cx="5415534" cy="254000"/>
          </a:xfrm>
          <a:prstGeom prst="rect">
            <a:avLst/>
          </a:prstGeom>
          <a:noFill/>
          <a:ln/>
        </p:spPr>
        <p:txBody>
          <a:bodyPr wrap="square" lIns="0" tIns="0" rIns="0" bIns="0" rtlCol="0" anchor="t">
            <a:normAutofit/>
          </a:bodyPr>
          <a:lstStyle/>
          <a:p>
            <a:pPr marL="0" indent="0" algn="l">
              <a:lnSpc>
                <a:spcPts val="1800"/>
              </a:lnSpc>
              <a:buNone/>
            </a:pPr>
            <a:endParaRPr lang="en-US" sz="1200"/>
          </a:p>
        </p:txBody>
      </p:sp>
      <p:sp>
        <p:nvSpPr>
          <p:cNvPr id="9" name="Text 7"/>
          <p:cNvSpPr/>
          <p:nvPr/>
        </p:nvSpPr>
        <p:spPr>
          <a:xfrm>
            <a:off x="6172200" y="1711920"/>
            <a:ext cx="541553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WINDOWS</a:t>
            </a:r>
            <a:endParaRPr lang="en-US" sz="1100"/>
          </a:p>
        </p:txBody>
      </p:sp>
      <p:sp>
        <p:nvSpPr>
          <p:cNvPr id="10" name="Text 8"/>
          <p:cNvSpPr/>
          <p:nvPr/>
        </p:nvSpPr>
        <p:spPr>
          <a:xfrm>
            <a:off x="6172200" y="2059880"/>
            <a:ext cx="5415534" cy="254000"/>
          </a:xfrm>
          <a:prstGeom prst="rect">
            <a:avLst/>
          </a:prstGeom>
          <a:noFill/>
          <a:ln/>
        </p:spPr>
        <p:txBody>
          <a:bodyPr wrap="square" lIns="0" tIns="0" rIns="0" bIns="0" rtlCol="0" anchor="t">
            <a:normAutofit/>
          </a:bodyPr>
          <a:lstStyle/>
          <a:p>
            <a:pPr>
              <a:lnSpc>
                <a:spcPts val="1800"/>
              </a:lnSpc>
            </a:pPr>
            <a:r>
              <a:rPr lang="en-US" sz="1200" err="1">
                <a:solidFill>
                  <a:srgbClr val="F4F1EA"/>
                </a:solidFill>
                <a:latin typeface="JetBrains Mono" pitchFamily="49" charset="0"/>
                <a:ea typeface="JetBrains Mono" pitchFamily="49" charset="-122"/>
                <a:cs typeface="JetBrains Mono" pitchFamily="49" charset="-120"/>
              </a:rPr>
              <a:t>npm</a:t>
            </a:r>
            <a:r>
              <a:rPr lang="en-US" sz="1200">
                <a:solidFill>
                  <a:srgbClr val="F4F1EA"/>
                </a:solidFill>
                <a:latin typeface="JetBrains Mono" pitchFamily="49" charset="0"/>
                <a:ea typeface="JetBrains Mono" pitchFamily="49" charset="-122"/>
                <a:cs typeface="JetBrains Mono" pitchFamily="49" charset="-120"/>
              </a:rPr>
              <a:t> install -g </a:t>
            </a:r>
            <a:r>
              <a:rPr lang="en-US" sz="1200" err="1">
                <a:solidFill>
                  <a:srgbClr val="F4F1EA"/>
                </a:solidFill>
                <a:latin typeface="JetBrains Mono" pitchFamily="49" charset="0"/>
                <a:ea typeface="JetBrains Mono" pitchFamily="49" charset="-122"/>
                <a:cs typeface="JetBrains Mono" pitchFamily="49" charset="-120"/>
              </a:rPr>
              <a:t>mcp</a:t>
            </a:r>
            <a:r>
              <a:rPr lang="en-US" sz="1200">
                <a:solidFill>
                  <a:srgbClr val="F4F1EA"/>
                </a:solidFill>
                <a:latin typeface="JetBrains Mono" pitchFamily="49" charset="0"/>
                <a:ea typeface="JetBrains Mono" pitchFamily="49" charset="-122"/>
                <a:cs typeface="JetBrains Mono" pitchFamily="49" charset="-120"/>
              </a:rPr>
              <a:t>-mermaid / </a:t>
            </a:r>
            <a:r>
              <a:rPr lang="en-US" sz="1200" err="1">
                <a:solidFill>
                  <a:srgbClr val="F4F1EA"/>
                </a:solidFill>
                <a:latin typeface="JetBrains Mono" pitchFamily="49" charset="0"/>
                <a:ea typeface="JetBrains Mono" pitchFamily="49" charset="-122"/>
                <a:cs typeface="JetBrains Mono" pitchFamily="49" charset="-120"/>
              </a:rPr>
              <a:t>npx</a:t>
            </a:r>
            <a:r>
              <a:rPr lang="en-US" sz="1200">
                <a:solidFill>
                  <a:srgbClr val="F4F1EA"/>
                </a:solidFill>
                <a:latin typeface="JetBrains Mono" pitchFamily="49" charset="0"/>
                <a:ea typeface="JetBrains Mono" pitchFamily="49" charset="-122"/>
                <a:cs typeface="JetBrains Mono" pitchFamily="49" charset="-120"/>
              </a:rPr>
              <a:t> -y </a:t>
            </a:r>
            <a:r>
              <a:rPr lang="en-US" sz="1200" err="1">
                <a:solidFill>
                  <a:srgbClr val="F4F1EA"/>
                </a:solidFill>
                <a:latin typeface="JetBrains Mono" pitchFamily="49" charset="0"/>
                <a:ea typeface="JetBrains Mono" pitchFamily="49" charset="-122"/>
                <a:cs typeface="JetBrains Mono" pitchFamily="49" charset="-120"/>
              </a:rPr>
              <a:t>mcp</a:t>
            </a:r>
            <a:r>
              <a:rPr lang="en-US" sz="1200">
                <a:solidFill>
                  <a:srgbClr val="F4F1EA"/>
                </a:solidFill>
                <a:latin typeface="JetBrains Mono" pitchFamily="49" charset="0"/>
                <a:ea typeface="JetBrains Mono" pitchFamily="49" charset="-122"/>
                <a:cs typeface="JetBrains Mono" pitchFamily="49" charset="-120"/>
              </a:rPr>
              <a:t>-mermaid</a:t>
            </a:r>
            <a:endParaRPr lang="en-US" sz="1200"/>
          </a:p>
        </p:txBody>
      </p:sp>
      <p:sp>
        <p:nvSpPr>
          <p:cNvPr id="11" name="Text 9"/>
          <p:cNvSpPr/>
          <p:nvPr/>
        </p:nvSpPr>
        <p:spPr>
          <a:xfrm>
            <a:off x="6172200" y="2890441"/>
            <a:ext cx="541553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OR IN .MCP.JSON</a:t>
            </a:r>
            <a:endParaRPr lang="en-US" sz="1100"/>
          </a:p>
        </p:txBody>
      </p:sp>
      <p:sp>
        <p:nvSpPr>
          <p:cNvPr id="12" name="Text 10"/>
          <p:cNvSpPr/>
          <p:nvPr/>
        </p:nvSpPr>
        <p:spPr>
          <a:xfrm>
            <a:off x="6172200" y="3187601"/>
            <a:ext cx="5415534" cy="654050"/>
          </a:xfrm>
          <a:prstGeom prst="rect">
            <a:avLst/>
          </a:prstGeom>
          <a:noFill/>
          <a:ln/>
        </p:spPr>
        <p:txBody>
          <a:bodyPr wrap="square" lIns="0" tIns="0" rIns="0" bIns="0" rtlCol="0" anchor="t">
            <a:normAutofit/>
          </a:bodyPr>
          <a:lstStyle/>
          <a:p>
            <a:pPr marL="0" indent="0" algn="l">
              <a:lnSpc>
                <a:spcPts val="1650"/>
              </a:lnSpc>
              <a:buNone/>
            </a:pPr>
            <a:r>
              <a:rPr lang="en-US" sz="1100">
                <a:solidFill>
                  <a:srgbClr val="F4F1EA"/>
                </a:solidFill>
                <a:latin typeface="JetBrains Mono" pitchFamily="49" charset="0"/>
                <a:ea typeface="JetBrains Mono" pitchFamily="49" charset="-122"/>
                <a:cs typeface="JetBrains Mono" pitchFamily="49" charset="-120"/>
              </a:rPr>
              <a:t>{ "mcpServers": { "mermaid": {</a:t>
            </a:r>
            <a:endParaRPr lang="en-US" sz="1100"/>
          </a:p>
          <a:p>
            <a:pPr marL="0" indent="0" algn="l">
              <a:lnSpc>
                <a:spcPts val="1650"/>
              </a:lnSpc>
              <a:buNone/>
            </a:pPr>
            <a:r>
              <a:rPr lang="en-US" sz="1100">
                <a:solidFill>
                  <a:srgbClr val="F4F1EA"/>
                </a:solidFill>
                <a:latin typeface="JetBrains Mono" pitchFamily="49" charset="0"/>
                <a:ea typeface="JetBrains Mono" pitchFamily="49" charset="-122"/>
                <a:cs typeface="JetBrains Mono" pitchFamily="49" charset="-120"/>
              </a:rPr>
              <a:t>  "command": "npx",</a:t>
            </a:r>
            <a:endParaRPr lang="en-US" sz="1100"/>
          </a:p>
          <a:p>
            <a:pPr marL="0" indent="0" algn="l">
              <a:lnSpc>
                <a:spcPts val="1650"/>
              </a:lnSpc>
              <a:buNone/>
            </a:pPr>
            <a:r>
              <a:rPr lang="en-US" sz="1100">
                <a:solidFill>
                  <a:srgbClr val="F4F1EA"/>
                </a:solidFill>
                <a:latin typeface="JetBrains Mono" pitchFamily="49" charset="0"/>
                <a:ea typeface="JetBrains Mono" pitchFamily="49" charset="-122"/>
                <a:cs typeface="JetBrains Mono" pitchFamily="49" charset="-120"/>
              </a:rPr>
              <a:t>  "args": ["-y", "mcp-mermaid"] } } }</a:t>
            </a:r>
            <a:endParaRPr lang="en-US" sz="110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14" name="Text 12"/>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711200"/>
            <a:ext cx="2197993" cy="314920"/>
          </a:xfrm>
          <a:prstGeom prst="roundRect">
            <a:avLst>
              <a:gd name="adj" fmla="val 50000"/>
            </a:avLst>
          </a:prstGeom>
          <a:solidFill>
            <a:srgbClr val="F5A524"/>
          </a:solidFill>
          <a:ln/>
        </p:spPr>
        <p:txBody>
          <a:bodyPr wrap="none" lIns="0" tIns="0" rIns="0" bIns="0" rtlCol="0" anchor="ctr">
            <a:normAutofit/>
          </a:bodyPr>
          <a:lstStyle/>
          <a:p>
            <a:pPr marL="0" indent="0" algn="ctr">
              <a:lnSpc>
                <a:spcPts val="1680"/>
              </a:lnSpc>
              <a:buNone/>
            </a:pPr>
            <a:r>
              <a:rPr lang="en-US" sz="1200" b="1" kern="0" spc="100">
                <a:solidFill>
                  <a:srgbClr val="16202A"/>
                </a:solidFill>
                <a:latin typeface="Inter"/>
                <a:ea typeface="Inter"/>
                <a:cs typeface="Inter" pitchFamily="34" charset="-120"/>
              </a:rPr>
              <a:t>DEMO </a:t>
            </a:r>
            <a:endParaRPr lang="en-US" sz="1200">
              <a:latin typeface="Inter"/>
              <a:ea typeface="Inter"/>
            </a:endParaRPr>
          </a:p>
        </p:txBody>
      </p:sp>
      <p:sp>
        <p:nvSpPr>
          <p:cNvPr id="3" name="Text 1"/>
          <p:cNvSpPr>
            <a:spLocks noGrp="1"/>
          </p:cNvSpPr>
          <p:nvPr>
            <p:ph type="title"/>
          </p:nvPr>
        </p:nvSpPr>
        <p:spPr>
          <a:xfrm>
            <a:off x="812800" y="1203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F4F1EA"/>
                </a:solidFill>
                <a:latin typeface="Space Grotesk" pitchFamily="34" charset="0"/>
                <a:ea typeface="Space Grotesk" pitchFamily="34" charset="-122"/>
                <a:cs typeface="Space Grotesk" pitchFamily="34" charset="-120"/>
              </a:rPr>
              <a:t>As-built diagrams from the code, then a change</a:t>
            </a:r>
            <a:endParaRPr lang="en-US" sz="2800"/>
          </a:p>
        </p:txBody>
      </p:sp>
      <p:sp>
        <p:nvSpPr>
          <p:cNvPr id="4" name="Shape 2"/>
          <p:cNvSpPr/>
          <p:nvPr/>
        </p:nvSpPr>
        <p:spPr>
          <a:xfrm>
            <a:off x="812800" y="1772841"/>
            <a:ext cx="10566400" cy="1363960"/>
          </a:xfrm>
          <a:prstGeom prst="roundRect">
            <a:avLst>
              <a:gd name="adj" fmla="val 7449"/>
            </a:avLst>
          </a:prstGeom>
          <a:solidFill>
            <a:srgbClr val="1B2733"/>
          </a:solidFill>
          <a:ln/>
        </p:spPr>
        <p:txBody>
          <a:bodyPr/>
          <a:lstStyle/>
          <a:p>
            <a:endParaRPr lang="en-US"/>
          </a:p>
        </p:txBody>
      </p:sp>
      <p:sp>
        <p:nvSpPr>
          <p:cNvPr id="5" name="Text 3"/>
          <p:cNvSpPr/>
          <p:nvPr/>
        </p:nvSpPr>
        <p:spPr>
          <a:xfrm>
            <a:off x="1016000" y="197604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PROMPT</a:t>
            </a:r>
            <a:endParaRPr lang="en-US" sz="1100"/>
          </a:p>
        </p:txBody>
      </p:sp>
      <p:sp>
        <p:nvSpPr>
          <p:cNvPr id="6" name="Text 4"/>
          <p:cNvSpPr/>
          <p:nvPr/>
        </p:nvSpPr>
        <p:spPr>
          <a:xfrm>
            <a:off x="1016000" y="2247801"/>
            <a:ext cx="10464800" cy="711200"/>
          </a:xfrm>
          <a:prstGeom prst="rect">
            <a:avLst/>
          </a:prstGeom>
          <a:noFill/>
          <a:ln/>
        </p:spPr>
        <p:txBody>
          <a:bodyPr wrap="square" lIns="0" tIns="0" rIns="0" bIns="0" rtlCol="0" anchor="t">
            <a:normAutofit/>
          </a:bodyPr>
          <a:lstStyle/>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Using the Mermaid MCP, draw the as-built C4 container view and a sequence diagram for invoice approval. Read the code only. For every box and arrow, cite the file or symbol it comes from. List separately anything you inferred. Then add a notification queue after approval and show the updated sequence.</a:t>
            </a:r>
            <a:endParaRPr lang="en-US" sz="1200"/>
          </a:p>
        </p:txBody>
      </p:sp>
      <p:sp>
        <p:nvSpPr>
          <p:cNvPr id="7" name="Shape 5"/>
          <p:cNvSpPr/>
          <p:nvPr/>
        </p:nvSpPr>
        <p:spPr>
          <a:xfrm>
            <a:off x="812800" y="3314601"/>
            <a:ext cx="10566400" cy="863501"/>
          </a:xfrm>
          <a:prstGeom prst="roundRect">
            <a:avLst>
              <a:gd name="adj" fmla="val 8825"/>
            </a:avLst>
          </a:prstGeom>
          <a:solidFill>
            <a:srgbClr val="1B2733"/>
          </a:solidFill>
          <a:ln/>
        </p:spPr>
        <p:txBody>
          <a:bodyPr/>
          <a:lstStyle/>
          <a:p>
            <a:endParaRPr lang="en-US"/>
          </a:p>
        </p:txBody>
      </p:sp>
      <p:sp>
        <p:nvSpPr>
          <p:cNvPr id="8" name="Shape 6"/>
          <p:cNvSpPr/>
          <p:nvPr/>
        </p:nvSpPr>
        <p:spPr>
          <a:xfrm>
            <a:off x="812800" y="3314601"/>
            <a:ext cx="10566400" cy="863501"/>
          </a:xfrm>
          <a:custGeom>
            <a:avLst/>
            <a:gdLst/>
            <a:ahLst/>
            <a:cxnLst/>
            <a:rect l="l" t="t" r="r" b="b"/>
            <a:pathLst>
              <a:path w="10566400" h="863501">
                <a:moveTo>
                  <a:pt x="76200" y="863501"/>
                </a:moveTo>
                <a:lnTo>
                  <a:pt x="76200" y="863501"/>
                </a:lnTo>
                <a:arcTo wR="76200" hR="76200" stAng="5400000" swAng="5400000"/>
                <a:lnTo>
                  <a:pt x="0" y="76200"/>
                </a:lnTo>
                <a:arcTo wR="76200" hR="76200" stAng="10800000" swAng="5400000"/>
                <a:lnTo>
                  <a:pt x="76200" y="0"/>
                </a:lnTo>
                <a:arcTo wR="25400" hR="76200" stAng="16200000" swAng="-5400000"/>
                <a:lnTo>
                  <a:pt x="50800" y="787301"/>
                </a:lnTo>
                <a:arcTo wR="25400" hR="76200" stAng="10800000" swAng="-5400000"/>
                <a:close/>
              </a:path>
            </a:pathLst>
          </a:custGeom>
          <a:solidFill>
            <a:srgbClr val="35C7B4"/>
          </a:solidFill>
          <a:ln/>
        </p:spPr>
        <p:txBody>
          <a:bodyPr/>
          <a:lstStyle/>
          <a:p>
            <a:endParaRPr lang="en-US"/>
          </a:p>
        </p:txBody>
      </p:sp>
      <p:sp>
        <p:nvSpPr>
          <p:cNvPr id="9" name="Text 7"/>
          <p:cNvSpPr/>
          <p:nvPr/>
        </p:nvSpPr>
        <p:spPr>
          <a:xfrm>
            <a:off x="1041400" y="349240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WATCH FOR</a:t>
            </a:r>
            <a:endParaRPr lang="en-US" sz="1100"/>
          </a:p>
        </p:txBody>
      </p:sp>
      <p:sp>
        <p:nvSpPr>
          <p:cNvPr id="10" name="Text 8"/>
          <p:cNvSpPr/>
          <p:nvPr/>
        </p:nvSpPr>
        <p:spPr>
          <a:xfrm>
            <a:off x="1041400" y="3751461"/>
            <a:ext cx="10464800"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cs typeface="Inter" pitchFamily="34" charset="-120"/>
              </a:rPr>
              <a:t>Check each element against its citation. Look for components that are not in the repository.</a:t>
            </a:r>
            <a:endParaRPr lang="en-US" sz="140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12" name="Text 10"/>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Keeping diagrams honest</a:t>
            </a:r>
            <a:endParaRPr lang="en-US" sz="2800"/>
          </a:p>
        </p:txBody>
      </p:sp>
      <p:sp>
        <p:nvSpPr>
          <p:cNvPr id="3" name="Text 1"/>
          <p:cNvSpPr/>
          <p:nvPr/>
        </p:nvSpPr>
        <p:spPr>
          <a:xfrm>
            <a:off x="812800" y="140712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a:solidFill>
                  <a:srgbClr val="3B4652"/>
                </a:solidFill>
                <a:latin typeface="Inter" pitchFamily="34" charset="0"/>
                <a:ea typeface="Inter" pitchFamily="34" charset="-122"/>
                <a:cs typeface="Inter" pitchFamily="34" charset="-120"/>
              </a:rPr>
              <a:t>A diagram that drifts from the code is worse than none. Four habits stop that.</a:t>
            </a:r>
            <a:endParaRPr lang="en-US" sz="1500"/>
          </a:p>
        </p:txBody>
      </p:sp>
      <p:sp>
        <p:nvSpPr>
          <p:cNvPr id="4" name="Shape 2"/>
          <p:cNvSpPr/>
          <p:nvPr/>
        </p:nvSpPr>
        <p:spPr>
          <a:xfrm>
            <a:off x="815975" y="1880195"/>
            <a:ext cx="2520950" cy="1852612"/>
          </a:xfrm>
          <a:prstGeom prst="roundRect">
            <a:avLst>
              <a:gd name="adj" fmla="val 5313"/>
            </a:avLst>
          </a:prstGeom>
          <a:solidFill>
            <a:srgbClr val="FBFAF6"/>
          </a:solidFill>
          <a:ln w="6350">
            <a:solidFill>
              <a:srgbClr val="D5CFC2"/>
            </a:solidFill>
            <a:prstDash val="solid"/>
          </a:ln>
        </p:spPr>
        <p:txBody>
          <a:bodyPr/>
          <a:lstStyle/>
          <a:p>
            <a:endParaRPr lang="en-US"/>
          </a:p>
        </p:txBody>
      </p:sp>
      <p:sp>
        <p:nvSpPr>
          <p:cNvPr id="5" name="Text 3"/>
          <p:cNvSpPr/>
          <p:nvPr/>
        </p:nvSpPr>
        <p:spPr>
          <a:xfrm>
            <a:off x="1047750" y="2111970"/>
            <a:ext cx="2119122" cy="3175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16202A"/>
                </a:solidFill>
                <a:latin typeface="Space Grotesk" pitchFamily="34" charset="0"/>
                <a:ea typeface="Space Grotesk" pitchFamily="34" charset="-122"/>
                <a:cs typeface="Space Grotesk" pitchFamily="34" charset="-120"/>
              </a:rPr>
              <a:t>Cite</a:t>
            </a:r>
            <a:endParaRPr lang="en-US" sz="2000"/>
          </a:p>
        </p:txBody>
      </p:sp>
      <p:sp>
        <p:nvSpPr>
          <p:cNvPr id="6" name="Text 4"/>
          <p:cNvSpPr/>
          <p:nvPr/>
        </p:nvSpPr>
        <p:spPr>
          <a:xfrm>
            <a:off x="1047750" y="2505670"/>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Every element points to a file or symbol. No citation, no box.</a:t>
            </a:r>
            <a:endParaRPr lang="en-US" sz="1400"/>
          </a:p>
        </p:txBody>
      </p:sp>
      <p:sp>
        <p:nvSpPr>
          <p:cNvPr id="7" name="Shape 5"/>
          <p:cNvSpPr/>
          <p:nvPr/>
        </p:nvSpPr>
        <p:spPr>
          <a:xfrm>
            <a:off x="3495675" y="1880195"/>
            <a:ext cx="2520950" cy="1852612"/>
          </a:xfrm>
          <a:prstGeom prst="roundRect">
            <a:avLst>
              <a:gd name="adj" fmla="val 5313"/>
            </a:avLst>
          </a:prstGeom>
          <a:solidFill>
            <a:srgbClr val="FBFAF6"/>
          </a:solidFill>
          <a:ln w="6350">
            <a:solidFill>
              <a:srgbClr val="D5CFC2"/>
            </a:solidFill>
            <a:prstDash val="solid"/>
          </a:ln>
        </p:spPr>
        <p:txBody>
          <a:bodyPr/>
          <a:lstStyle/>
          <a:p>
            <a:endParaRPr lang="en-US"/>
          </a:p>
        </p:txBody>
      </p:sp>
      <p:sp>
        <p:nvSpPr>
          <p:cNvPr id="8" name="Text 6"/>
          <p:cNvSpPr/>
          <p:nvPr/>
        </p:nvSpPr>
        <p:spPr>
          <a:xfrm>
            <a:off x="3727450" y="2111970"/>
            <a:ext cx="2119122" cy="3175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16202A"/>
                </a:solidFill>
                <a:latin typeface="Space Grotesk" pitchFamily="34" charset="0"/>
                <a:ea typeface="Space Grotesk" pitchFamily="34" charset="-122"/>
                <a:cs typeface="Space Grotesk" pitchFamily="34" charset="-120"/>
              </a:rPr>
              <a:t>Commit</a:t>
            </a:r>
            <a:endParaRPr lang="en-US" sz="2000"/>
          </a:p>
        </p:txBody>
      </p:sp>
      <p:sp>
        <p:nvSpPr>
          <p:cNvPr id="9" name="Text 7"/>
          <p:cNvSpPr/>
          <p:nvPr/>
        </p:nvSpPr>
        <p:spPr>
          <a:xfrm>
            <a:off x="3727450" y="2505670"/>
            <a:ext cx="2119122" cy="1020763"/>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Store the Mermaid text next to the code so changes show up in review.</a:t>
            </a:r>
            <a:endParaRPr lang="en-US" sz="1400"/>
          </a:p>
        </p:txBody>
      </p:sp>
      <p:sp>
        <p:nvSpPr>
          <p:cNvPr id="10" name="Shape 8"/>
          <p:cNvSpPr/>
          <p:nvPr/>
        </p:nvSpPr>
        <p:spPr>
          <a:xfrm>
            <a:off x="6175375" y="1880195"/>
            <a:ext cx="2520950" cy="1852612"/>
          </a:xfrm>
          <a:prstGeom prst="roundRect">
            <a:avLst>
              <a:gd name="adj" fmla="val 5313"/>
            </a:avLst>
          </a:prstGeom>
          <a:solidFill>
            <a:srgbClr val="FBFAF6"/>
          </a:solidFill>
          <a:ln w="6350">
            <a:solidFill>
              <a:srgbClr val="D5CFC2"/>
            </a:solidFill>
            <a:prstDash val="solid"/>
          </a:ln>
        </p:spPr>
        <p:txBody>
          <a:bodyPr/>
          <a:lstStyle/>
          <a:p>
            <a:endParaRPr lang="en-US"/>
          </a:p>
        </p:txBody>
      </p:sp>
      <p:sp>
        <p:nvSpPr>
          <p:cNvPr id="11" name="Text 9"/>
          <p:cNvSpPr/>
          <p:nvPr/>
        </p:nvSpPr>
        <p:spPr>
          <a:xfrm>
            <a:off x="6407150" y="2111970"/>
            <a:ext cx="2119122" cy="3175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16202A"/>
                </a:solidFill>
                <a:latin typeface="Space Grotesk" pitchFamily="34" charset="0"/>
                <a:ea typeface="Space Grotesk" pitchFamily="34" charset="-122"/>
                <a:cs typeface="Space Grotesk" pitchFamily="34" charset="-120"/>
              </a:rPr>
              <a:t>Check</a:t>
            </a:r>
            <a:endParaRPr lang="en-US" sz="2000"/>
          </a:p>
        </p:txBody>
      </p:sp>
      <p:sp>
        <p:nvSpPr>
          <p:cNvPr id="12" name="Text 10"/>
          <p:cNvSpPr/>
          <p:nvPr/>
        </p:nvSpPr>
        <p:spPr>
          <a:xfrm>
            <a:off x="6407150" y="2505670"/>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Ask a second pass to find elements the code does not support.</a:t>
            </a:r>
            <a:endParaRPr lang="en-US" sz="1400"/>
          </a:p>
        </p:txBody>
      </p:sp>
      <p:sp>
        <p:nvSpPr>
          <p:cNvPr id="13" name="Shape 11"/>
          <p:cNvSpPr/>
          <p:nvPr/>
        </p:nvSpPr>
        <p:spPr>
          <a:xfrm>
            <a:off x="8855075" y="1880195"/>
            <a:ext cx="2520950" cy="1852612"/>
          </a:xfrm>
          <a:prstGeom prst="roundRect">
            <a:avLst>
              <a:gd name="adj" fmla="val 5313"/>
            </a:avLst>
          </a:prstGeom>
          <a:solidFill>
            <a:srgbClr val="FBFAF6"/>
          </a:solidFill>
          <a:ln w="6350">
            <a:solidFill>
              <a:srgbClr val="D5CFC2"/>
            </a:solidFill>
            <a:prstDash val="solid"/>
          </a:ln>
        </p:spPr>
        <p:txBody>
          <a:bodyPr/>
          <a:lstStyle/>
          <a:p>
            <a:endParaRPr lang="en-US"/>
          </a:p>
        </p:txBody>
      </p:sp>
      <p:sp>
        <p:nvSpPr>
          <p:cNvPr id="14" name="Text 12"/>
          <p:cNvSpPr/>
          <p:nvPr/>
        </p:nvSpPr>
        <p:spPr>
          <a:xfrm>
            <a:off x="9086850" y="2111970"/>
            <a:ext cx="2119122" cy="3175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16202A"/>
                </a:solidFill>
                <a:latin typeface="Space Grotesk" pitchFamily="34" charset="0"/>
                <a:ea typeface="Space Grotesk" pitchFamily="34" charset="-122"/>
                <a:cs typeface="Space Grotesk" pitchFamily="34" charset="-120"/>
              </a:rPr>
              <a:t>Enforce</a:t>
            </a:r>
            <a:endParaRPr lang="en-US" sz="2000"/>
          </a:p>
        </p:txBody>
      </p:sp>
      <p:sp>
        <p:nvSpPr>
          <p:cNvPr id="15" name="Text 13"/>
          <p:cNvSpPr/>
          <p:nvPr/>
        </p:nvSpPr>
        <p:spPr>
          <a:xfrm>
            <a:off x="9086850" y="2505670"/>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Turn the rules into tests, for example: Domain must not reference Api.</a:t>
            </a:r>
            <a:endParaRPr lang="en-US" sz="1400"/>
          </a:p>
        </p:txBody>
      </p:sp>
      <p:sp>
        <p:nvSpPr>
          <p:cNvPr id="16" name="Text 14"/>
          <p:cNvSpPr/>
          <p:nvPr/>
        </p:nvSpPr>
        <p:spPr>
          <a:xfrm>
            <a:off x="812800" y="3939183"/>
            <a:ext cx="10883392" cy="274241"/>
          </a:xfrm>
          <a:prstGeom prst="rect">
            <a:avLst/>
          </a:prstGeom>
          <a:noFill/>
          <a:ln/>
        </p:spPr>
        <p:txBody>
          <a:bodyPr wrap="square" lIns="0" tIns="0" rIns="0" bIns="0" rtlCol="0" anchor="t">
            <a:normAutofit/>
          </a:bodyPr>
          <a:lstStyle/>
          <a:p>
            <a:pPr marL="0" indent="0" algn="l">
              <a:lnSpc>
                <a:spcPts val="1960"/>
              </a:lnSpc>
              <a:buNone/>
            </a:pPr>
            <a:endParaRPr lang="en-US" sz="1400">
              <a:solidFill>
                <a:srgbClr val="3B4652"/>
              </a:solidFill>
            </a:endParaRPr>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18" name="Text 16"/>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711200"/>
            <a:ext cx="2202160" cy="314920"/>
          </a:xfrm>
          <a:prstGeom prst="roundRect">
            <a:avLst>
              <a:gd name="adj" fmla="val 50000"/>
            </a:avLst>
          </a:prstGeom>
          <a:solidFill>
            <a:srgbClr val="F5A524"/>
          </a:solidFill>
          <a:ln/>
        </p:spPr>
        <p:txBody>
          <a:bodyPr wrap="none" lIns="0" tIns="0" rIns="0" bIns="0" rtlCol="0" anchor="ctr">
            <a:normAutofit/>
          </a:bodyPr>
          <a:lstStyle/>
          <a:p>
            <a:pPr marL="0" indent="0" algn="ctr">
              <a:lnSpc>
                <a:spcPts val="1680"/>
              </a:lnSpc>
              <a:buNone/>
            </a:pPr>
            <a:r>
              <a:rPr lang="en-US" sz="1200" b="1" kern="0" spc="100">
                <a:solidFill>
                  <a:srgbClr val="16202A"/>
                </a:solidFill>
                <a:latin typeface="Inter"/>
              </a:rPr>
              <a:t>DEMO</a:t>
            </a:r>
            <a:endParaRPr lang="en-US" sz="1200">
              <a:latin typeface="Inter"/>
            </a:endParaRPr>
          </a:p>
        </p:txBody>
      </p:sp>
      <p:sp>
        <p:nvSpPr>
          <p:cNvPr id="3" name="Text 1"/>
          <p:cNvSpPr>
            <a:spLocks noGrp="1"/>
          </p:cNvSpPr>
          <p:nvPr>
            <p:ph type="title"/>
          </p:nvPr>
        </p:nvSpPr>
        <p:spPr>
          <a:xfrm>
            <a:off x="812800" y="1203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F4F1EA"/>
                </a:solidFill>
                <a:latin typeface="Space Grotesk" pitchFamily="34" charset="0"/>
                <a:ea typeface="Space Grotesk" pitchFamily="34" charset="-122"/>
                <a:cs typeface="Space Grotesk" pitchFamily="34" charset="-120"/>
              </a:rPr>
              <a:t>A design decision record, then try to break it</a:t>
            </a:r>
            <a:endParaRPr lang="en-US" sz="2800"/>
          </a:p>
        </p:txBody>
      </p:sp>
      <p:sp>
        <p:nvSpPr>
          <p:cNvPr id="4" name="Shape 2"/>
          <p:cNvSpPr/>
          <p:nvPr/>
        </p:nvSpPr>
        <p:spPr>
          <a:xfrm>
            <a:off x="812800" y="1772841"/>
            <a:ext cx="10566400" cy="1592560"/>
          </a:xfrm>
          <a:prstGeom prst="roundRect">
            <a:avLst>
              <a:gd name="adj" fmla="val 6380"/>
            </a:avLst>
          </a:prstGeom>
          <a:solidFill>
            <a:srgbClr val="1B2733"/>
          </a:solidFill>
          <a:ln/>
        </p:spPr>
        <p:txBody>
          <a:bodyPr/>
          <a:lstStyle/>
          <a:p>
            <a:endParaRPr lang="en-US"/>
          </a:p>
        </p:txBody>
      </p:sp>
      <p:sp>
        <p:nvSpPr>
          <p:cNvPr id="5" name="Text 3"/>
          <p:cNvSpPr/>
          <p:nvPr/>
        </p:nvSpPr>
        <p:spPr>
          <a:xfrm>
            <a:off x="1016000" y="197604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PROMPT</a:t>
            </a:r>
            <a:endParaRPr lang="en-US" sz="1100"/>
          </a:p>
        </p:txBody>
      </p:sp>
      <p:sp>
        <p:nvSpPr>
          <p:cNvPr id="6" name="Text 4"/>
          <p:cNvSpPr/>
          <p:nvPr/>
        </p:nvSpPr>
        <p:spPr>
          <a:xfrm>
            <a:off x="1016000" y="2247801"/>
            <a:ext cx="10464800" cy="939800"/>
          </a:xfrm>
          <a:prstGeom prst="rect">
            <a:avLst/>
          </a:prstGeom>
          <a:noFill/>
          <a:ln/>
        </p:spPr>
        <p:txBody>
          <a:bodyPr wrap="square" lIns="0" tIns="0" rIns="0" bIns="0" rtlCol="0" anchor="t">
            <a:normAutofit/>
          </a:bodyPr>
          <a:lstStyle/>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Write an ADR for how to publish an event after invoice approval: transactional outbox, direct publish, or polling.</a:t>
            </a:r>
            <a:endParaRPr lang="en-US" sz="1200"/>
          </a:p>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Constraints: SQL Server, Azure Service Bus, a team of six, 24x7 on-call.</a:t>
            </a:r>
            <a:endParaRPr lang="en-US" sz="1200"/>
          </a:p>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Give context, options, the decision, consequences and what would make us revisit it.</a:t>
            </a:r>
            <a:endParaRPr lang="en-US" sz="1200"/>
          </a:p>
        </p:txBody>
      </p:sp>
      <p:sp>
        <p:nvSpPr>
          <p:cNvPr id="7" name="Shape 5"/>
          <p:cNvSpPr/>
          <p:nvPr/>
        </p:nvSpPr>
        <p:spPr>
          <a:xfrm>
            <a:off x="812800" y="3543201"/>
            <a:ext cx="10566400" cy="863501"/>
          </a:xfrm>
          <a:prstGeom prst="roundRect">
            <a:avLst>
              <a:gd name="adj" fmla="val 8825"/>
            </a:avLst>
          </a:prstGeom>
          <a:solidFill>
            <a:srgbClr val="1B2733"/>
          </a:solidFill>
          <a:ln/>
        </p:spPr>
        <p:txBody>
          <a:bodyPr/>
          <a:lstStyle/>
          <a:p>
            <a:endParaRPr lang="en-US"/>
          </a:p>
        </p:txBody>
      </p:sp>
      <p:sp>
        <p:nvSpPr>
          <p:cNvPr id="8" name="Shape 6"/>
          <p:cNvSpPr/>
          <p:nvPr/>
        </p:nvSpPr>
        <p:spPr>
          <a:xfrm>
            <a:off x="812800" y="3543201"/>
            <a:ext cx="10566400" cy="863501"/>
          </a:xfrm>
          <a:custGeom>
            <a:avLst/>
            <a:gdLst/>
            <a:ahLst/>
            <a:cxnLst/>
            <a:rect l="l" t="t" r="r" b="b"/>
            <a:pathLst>
              <a:path w="10566400" h="863501">
                <a:moveTo>
                  <a:pt x="76200" y="863501"/>
                </a:moveTo>
                <a:lnTo>
                  <a:pt x="76200" y="863501"/>
                </a:lnTo>
                <a:arcTo wR="76200" hR="76200" stAng="5400000" swAng="5400000"/>
                <a:lnTo>
                  <a:pt x="0" y="76200"/>
                </a:lnTo>
                <a:arcTo wR="76200" hR="76200" stAng="10800000" swAng="5400000"/>
                <a:lnTo>
                  <a:pt x="76200" y="0"/>
                </a:lnTo>
                <a:arcTo wR="25400" hR="76200" stAng="16200000" swAng="-5400000"/>
                <a:lnTo>
                  <a:pt x="50800" y="787301"/>
                </a:lnTo>
                <a:arcTo wR="25400" hR="76200" stAng="10800000" swAng="-5400000"/>
                <a:close/>
              </a:path>
            </a:pathLst>
          </a:custGeom>
          <a:solidFill>
            <a:srgbClr val="35C7B4"/>
          </a:solidFill>
          <a:ln/>
        </p:spPr>
        <p:txBody>
          <a:bodyPr/>
          <a:lstStyle/>
          <a:p>
            <a:endParaRPr lang="en-US"/>
          </a:p>
        </p:txBody>
      </p:sp>
      <p:sp>
        <p:nvSpPr>
          <p:cNvPr id="9" name="Text 7"/>
          <p:cNvSpPr/>
          <p:nvPr/>
        </p:nvSpPr>
        <p:spPr>
          <a:xfrm>
            <a:off x="1041400" y="372100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WATCH FOR</a:t>
            </a:r>
            <a:endParaRPr lang="en-US" sz="1100"/>
          </a:p>
        </p:txBody>
      </p:sp>
      <p:sp>
        <p:nvSpPr>
          <p:cNvPr id="10" name="Text 8"/>
          <p:cNvSpPr/>
          <p:nvPr/>
        </p:nvSpPr>
        <p:spPr>
          <a:xfrm>
            <a:off x="1041400" y="3980061"/>
            <a:ext cx="10464800"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cs typeface="Inter" pitchFamily="34" charset="-120"/>
              </a:rPr>
              <a:t>Then state a preference for one option and rerun it. Does the decision change with your opinion or with the facts?</a:t>
            </a:r>
            <a:endParaRPr lang="en-US" sz="140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12" name="Text 10"/>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Stress-test a recommendation before you trust it</a:t>
            </a:r>
            <a:endParaRPr lang="en-US" sz="2800"/>
          </a:p>
        </p:txBody>
      </p:sp>
      <p:sp>
        <p:nvSpPr>
          <p:cNvPr id="3" name="Shape 1"/>
          <p:cNvSpPr/>
          <p:nvPr/>
        </p:nvSpPr>
        <p:spPr>
          <a:xfrm>
            <a:off x="815975" y="1410295"/>
            <a:ext cx="3414117" cy="1823343"/>
          </a:xfrm>
          <a:prstGeom prst="roundRect">
            <a:avLst>
              <a:gd name="adj" fmla="val 5398"/>
            </a:avLst>
          </a:prstGeom>
          <a:solidFill>
            <a:srgbClr val="FBFAF6"/>
          </a:solidFill>
          <a:ln w="6350">
            <a:solidFill>
              <a:srgbClr val="D5CFC2"/>
            </a:solidFill>
            <a:prstDash val="solid"/>
          </a:ln>
        </p:spPr>
        <p:txBody>
          <a:bodyPr/>
          <a:lstStyle/>
          <a:p>
            <a:endParaRPr lang="en-US"/>
          </a:p>
        </p:txBody>
      </p:sp>
      <p:sp>
        <p:nvSpPr>
          <p:cNvPr id="4" name="Text 2"/>
          <p:cNvSpPr/>
          <p:nvPr/>
        </p:nvSpPr>
        <p:spPr>
          <a:xfrm>
            <a:off x="1047750" y="1642070"/>
            <a:ext cx="3039084"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Flip the framing</a:t>
            </a:r>
            <a:endParaRPr lang="en-US" sz="1800"/>
          </a:p>
        </p:txBody>
      </p:sp>
      <p:sp>
        <p:nvSpPr>
          <p:cNvPr id="5" name="Text 3"/>
          <p:cNvSpPr/>
          <p:nvPr/>
        </p:nvSpPr>
        <p:spPr>
          <a:xfrm>
            <a:off x="1047750" y="2006501"/>
            <a:ext cx="3039084" cy="1020763"/>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Say you prefer the other option. If the answer flips with no new facts, the first answer was agreement, not analysis.</a:t>
            </a:r>
            <a:endParaRPr lang="en-US" sz="1400"/>
          </a:p>
        </p:txBody>
      </p:sp>
      <p:sp>
        <p:nvSpPr>
          <p:cNvPr id="6" name="Shape 4"/>
          <p:cNvSpPr/>
          <p:nvPr/>
        </p:nvSpPr>
        <p:spPr>
          <a:xfrm>
            <a:off x="4388842" y="1410295"/>
            <a:ext cx="3414216" cy="1823343"/>
          </a:xfrm>
          <a:prstGeom prst="roundRect">
            <a:avLst>
              <a:gd name="adj" fmla="val 5398"/>
            </a:avLst>
          </a:prstGeom>
          <a:solidFill>
            <a:srgbClr val="FBFAF6"/>
          </a:solidFill>
          <a:ln w="6350">
            <a:solidFill>
              <a:srgbClr val="D5CFC2"/>
            </a:solidFill>
            <a:prstDash val="solid"/>
          </a:ln>
        </p:spPr>
        <p:txBody>
          <a:bodyPr/>
          <a:lstStyle/>
          <a:p>
            <a:endParaRPr lang="en-US"/>
          </a:p>
        </p:txBody>
      </p:sp>
      <p:sp>
        <p:nvSpPr>
          <p:cNvPr id="7" name="Text 5"/>
          <p:cNvSpPr/>
          <p:nvPr/>
        </p:nvSpPr>
        <p:spPr>
          <a:xfrm>
            <a:off x="4620617" y="1642070"/>
            <a:ext cx="3039186"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Ask for the failure</a:t>
            </a:r>
            <a:endParaRPr lang="en-US" sz="1800"/>
          </a:p>
        </p:txBody>
      </p:sp>
      <p:sp>
        <p:nvSpPr>
          <p:cNvPr id="8" name="Text 6"/>
          <p:cNvSpPr/>
          <p:nvPr/>
        </p:nvSpPr>
        <p:spPr>
          <a:xfrm>
            <a:off x="4620617" y="2006501"/>
            <a:ext cx="3039186"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Ask how the chosen design fails at 3 a.m., and what the on-call engineer sees.</a:t>
            </a:r>
            <a:endParaRPr lang="en-US" sz="1400"/>
          </a:p>
        </p:txBody>
      </p:sp>
      <p:sp>
        <p:nvSpPr>
          <p:cNvPr id="9" name="Shape 7"/>
          <p:cNvSpPr/>
          <p:nvPr/>
        </p:nvSpPr>
        <p:spPr>
          <a:xfrm>
            <a:off x="7961809" y="1410295"/>
            <a:ext cx="3414216" cy="1823343"/>
          </a:xfrm>
          <a:prstGeom prst="roundRect">
            <a:avLst>
              <a:gd name="adj" fmla="val 5398"/>
            </a:avLst>
          </a:prstGeom>
          <a:solidFill>
            <a:srgbClr val="FBFAF6"/>
          </a:solidFill>
          <a:ln w="6350">
            <a:solidFill>
              <a:srgbClr val="D5CFC2"/>
            </a:solidFill>
            <a:prstDash val="solid"/>
          </a:ln>
        </p:spPr>
        <p:txBody>
          <a:bodyPr/>
          <a:lstStyle/>
          <a:p>
            <a:endParaRPr lang="en-US"/>
          </a:p>
        </p:txBody>
      </p:sp>
      <p:sp>
        <p:nvSpPr>
          <p:cNvPr id="10" name="Text 8"/>
          <p:cNvSpPr/>
          <p:nvPr/>
        </p:nvSpPr>
        <p:spPr>
          <a:xfrm>
            <a:off x="8193584" y="1642070"/>
            <a:ext cx="3039186"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Ask for the cost</a:t>
            </a:r>
            <a:endParaRPr lang="en-US" sz="1800"/>
          </a:p>
        </p:txBody>
      </p:sp>
      <p:sp>
        <p:nvSpPr>
          <p:cNvPr id="11" name="Text 9"/>
          <p:cNvSpPr/>
          <p:nvPr/>
        </p:nvSpPr>
        <p:spPr>
          <a:xfrm>
            <a:off x="8193584" y="2006501"/>
            <a:ext cx="3039186"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Ask what it costs in build effort, operations and lock-in, not just what it gains.</a:t>
            </a:r>
            <a:endParaRPr lang="en-US" sz="1400"/>
          </a:p>
        </p:txBody>
      </p:sp>
      <p:sp>
        <p:nvSpPr>
          <p:cNvPr id="12" name="Text 10"/>
          <p:cNvSpPr/>
          <p:nvPr/>
        </p:nvSpPr>
        <p:spPr>
          <a:xfrm>
            <a:off x="812800" y="344001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If the recommendation survives all three, record it. If not, you found the real trade-off.</a:t>
            </a:r>
            <a:endParaRPr lang="en-US" sz="140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14" name="Text 12"/>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A524"/>
        </a:solidFill>
        <a:effectLst/>
      </p:bgPr>
    </p:bg>
    <p:spTree>
      <p:nvGrpSpPr>
        <p:cNvPr id="1" name=""/>
        <p:cNvGrpSpPr/>
        <p:nvPr/>
      </p:nvGrpSpPr>
      <p:grpSpPr>
        <a:xfrm>
          <a:off x="0" y="0"/>
          <a:ext cx="0" cy="0"/>
          <a:chOff x="0" y="0"/>
          <a:chExt cx="0" cy="0"/>
        </a:xfrm>
      </p:grpSpPr>
      <p:sp>
        <p:nvSpPr>
          <p:cNvPr id="2" name="Text 0"/>
          <p:cNvSpPr/>
          <p:nvPr/>
        </p:nvSpPr>
        <p:spPr>
          <a:xfrm>
            <a:off x="812800" y="25324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a:solidFill>
                  <a:srgbClr val="16202A"/>
                </a:solidFill>
                <a:latin typeface="Inter" pitchFamily="34" charset="0"/>
                <a:ea typeface="Inter" pitchFamily="34" charset="-122"/>
                <a:cs typeface="Inter" pitchFamily="34" charset="-120"/>
              </a:rPr>
              <a:t>PART 2</a:t>
            </a:r>
            <a:endParaRPr lang="en-US" sz="1400"/>
          </a:p>
        </p:txBody>
      </p:sp>
      <p:sp>
        <p:nvSpPr>
          <p:cNvPr id="3" name="Text 1"/>
          <p:cNvSpPr>
            <a:spLocks noGrp="1"/>
          </p:cNvSpPr>
          <p:nvPr>
            <p:ph type="title"/>
          </p:nvPr>
        </p:nvSpPr>
        <p:spPr>
          <a:xfrm>
            <a:off x="812800" y="29845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a:solidFill>
                  <a:srgbClr val="16202A"/>
                </a:solidFill>
                <a:latin typeface="Space Grotesk" pitchFamily="34" charset="0"/>
                <a:ea typeface="Space Grotesk" pitchFamily="34" charset="-122"/>
                <a:cs typeface="Space Grotesk" pitchFamily="34" charset="-120"/>
              </a:rPr>
              <a:t>AI in DevSecOps</a:t>
            </a:r>
            <a:endParaRPr lang="en-US" sz="6000"/>
          </a:p>
        </p:txBody>
      </p:sp>
      <p:sp>
        <p:nvSpPr>
          <p:cNvPr id="4" name="Text 2"/>
          <p:cNvSpPr/>
          <p:nvPr/>
        </p:nvSpPr>
        <p:spPr>
          <a:xfrm>
            <a:off x="812800" y="3987800"/>
            <a:ext cx="10883392" cy="363141"/>
          </a:xfrm>
          <a:prstGeom prst="rect">
            <a:avLst/>
          </a:prstGeom>
          <a:noFill/>
          <a:ln/>
        </p:spPr>
        <p:txBody>
          <a:bodyPr wrap="square" lIns="0" tIns="0" rIns="0" bIns="0" rtlCol="0" anchor="t">
            <a:normAutofit/>
          </a:bodyPr>
          <a:lstStyle/>
          <a:p>
            <a:pPr marL="0" indent="0" algn="l">
              <a:lnSpc>
                <a:spcPts val="2660"/>
              </a:lnSpc>
              <a:buNone/>
            </a:pPr>
            <a:endParaRPr lang="en-US" sz="1900"/>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16202A"/>
                </a:solidFill>
                <a:latin typeface="Inter" pitchFamily="34" charset="0"/>
                <a:ea typeface="Inter" pitchFamily="34" charset="-122"/>
                <a:cs typeface="Inter" pitchFamily="34" charset="-120"/>
              </a:rPr>
              <a:t>AI in SDLC · Session 3</a:t>
            </a:r>
            <a:endParaRPr lang="en-US" sz="1200"/>
          </a:p>
        </p:txBody>
      </p:sp>
      <p:sp>
        <p:nvSpPr>
          <p:cNvPr id="6" name="Text 4"/>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Agent autonomy is a policy decision</a:t>
            </a:r>
            <a:endParaRPr lang="en-US" sz="2800"/>
          </a:p>
        </p:txBody>
      </p:sp>
      <p:sp>
        <p:nvSpPr>
          <p:cNvPr id="3" name="Shape 1"/>
          <p:cNvSpPr/>
          <p:nvPr/>
        </p:nvSpPr>
        <p:spPr>
          <a:xfrm>
            <a:off x="812800" y="1807766"/>
            <a:ext cx="10566400" cy="0"/>
          </a:xfrm>
          <a:prstGeom prst="line">
            <a:avLst/>
          </a:prstGeom>
          <a:noFill/>
          <a:ln w="19050">
            <a:solidFill>
              <a:srgbClr val="16202A"/>
            </a:solidFill>
            <a:prstDash val="solid"/>
          </a:ln>
        </p:spPr>
        <p:txBody>
          <a:bodyPr/>
          <a:lstStyle/>
          <a:p>
            <a:endParaRPr lang="en-US"/>
          </a:p>
        </p:txBody>
      </p:sp>
      <p:sp>
        <p:nvSpPr>
          <p:cNvPr id="4" name="Text 2"/>
          <p:cNvSpPr/>
          <p:nvPr/>
        </p:nvSpPr>
        <p:spPr>
          <a:xfrm>
            <a:off x="812800" y="1483320"/>
            <a:ext cx="6096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LEVEL</a:t>
            </a:r>
            <a:endParaRPr lang="en-US" sz="1200"/>
          </a:p>
        </p:txBody>
      </p:sp>
      <p:sp>
        <p:nvSpPr>
          <p:cNvPr id="5" name="Text 3"/>
          <p:cNvSpPr/>
          <p:nvPr/>
        </p:nvSpPr>
        <p:spPr>
          <a:xfrm>
            <a:off x="1498600" y="1483320"/>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WHAT THE AGENT DOES</a:t>
            </a:r>
            <a:endParaRPr lang="en-US" sz="1200"/>
          </a:p>
        </p:txBody>
      </p:sp>
      <p:sp>
        <p:nvSpPr>
          <p:cNvPr id="6" name="Text 4"/>
          <p:cNvSpPr/>
          <p:nvPr/>
        </p:nvSpPr>
        <p:spPr>
          <a:xfrm>
            <a:off x="4089400" y="1483320"/>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CONTROLS REQUIRED</a:t>
            </a:r>
            <a:endParaRPr lang="en-US" sz="1200"/>
          </a:p>
        </p:txBody>
      </p:sp>
      <p:sp>
        <p:nvSpPr>
          <p:cNvPr id="7" name="Text 5"/>
          <p:cNvSpPr/>
          <p:nvPr/>
        </p:nvSpPr>
        <p:spPr>
          <a:xfrm>
            <a:off x="7823200" y="1483320"/>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OPERATIONS EXAMPLE</a:t>
            </a:r>
            <a:endParaRPr lang="en-US" sz="1200"/>
          </a:p>
        </p:txBody>
      </p:sp>
      <p:sp>
        <p:nvSpPr>
          <p:cNvPr id="8" name="Shape 6"/>
          <p:cNvSpPr/>
          <p:nvPr/>
        </p:nvSpPr>
        <p:spPr>
          <a:xfrm>
            <a:off x="812800" y="2322711"/>
            <a:ext cx="10566400" cy="0"/>
          </a:xfrm>
          <a:prstGeom prst="line">
            <a:avLst/>
          </a:prstGeom>
          <a:noFill/>
          <a:ln w="6350">
            <a:solidFill>
              <a:srgbClr val="D5CFC2"/>
            </a:solidFill>
            <a:prstDash val="solid"/>
          </a:ln>
        </p:spPr>
        <p:txBody>
          <a:bodyPr/>
          <a:lstStyle/>
          <a:p>
            <a:endParaRPr lang="en-US"/>
          </a:p>
        </p:txBody>
      </p:sp>
      <p:sp>
        <p:nvSpPr>
          <p:cNvPr id="9" name="Text 7"/>
          <p:cNvSpPr/>
          <p:nvPr/>
        </p:nvSpPr>
        <p:spPr>
          <a:xfrm>
            <a:off x="812800" y="1956991"/>
            <a:ext cx="558800" cy="248245"/>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1</a:t>
            </a:r>
            <a:endParaRPr lang="en-US" sz="1300"/>
          </a:p>
        </p:txBody>
      </p:sp>
      <p:sp>
        <p:nvSpPr>
          <p:cNvPr id="10" name="Text 8"/>
          <p:cNvSpPr/>
          <p:nvPr/>
        </p:nvSpPr>
        <p:spPr>
          <a:xfrm>
            <a:off x="1498600" y="1956991"/>
            <a:ext cx="2485390" cy="248245"/>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Read</a:t>
            </a:r>
            <a:endParaRPr lang="en-US" sz="1300"/>
          </a:p>
        </p:txBody>
      </p:sp>
      <p:sp>
        <p:nvSpPr>
          <p:cNvPr id="11" name="Text 9"/>
          <p:cNvSpPr/>
          <p:nvPr/>
        </p:nvSpPr>
        <p:spPr>
          <a:xfrm>
            <a:off x="4089400" y="1956991"/>
            <a:ext cx="366268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Read-only credentials, redacted logs</a:t>
            </a:r>
            <a:endParaRPr lang="en-US" sz="1300"/>
          </a:p>
        </p:txBody>
      </p:sp>
      <p:sp>
        <p:nvSpPr>
          <p:cNvPr id="12" name="Text 10"/>
          <p:cNvSpPr/>
          <p:nvPr/>
        </p:nvSpPr>
        <p:spPr>
          <a:xfrm>
            <a:off x="7823200" y="1956991"/>
            <a:ext cx="340106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Summarize logs, build a timeline</a:t>
            </a:r>
            <a:endParaRPr lang="en-US" sz="1300"/>
          </a:p>
        </p:txBody>
      </p:sp>
      <p:sp>
        <p:nvSpPr>
          <p:cNvPr id="13" name="Shape 11"/>
          <p:cNvSpPr/>
          <p:nvPr/>
        </p:nvSpPr>
        <p:spPr>
          <a:xfrm>
            <a:off x="812800" y="2831306"/>
            <a:ext cx="10566400" cy="0"/>
          </a:xfrm>
          <a:prstGeom prst="line">
            <a:avLst/>
          </a:prstGeom>
          <a:noFill/>
          <a:ln w="6350">
            <a:solidFill>
              <a:srgbClr val="D5CFC2"/>
            </a:solidFill>
            <a:prstDash val="solid"/>
          </a:ln>
        </p:spPr>
        <p:txBody>
          <a:bodyPr/>
          <a:lstStyle/>
          <a:p>
            <a:endParaRPr lang="en-US"/>
          </a:p>
        </p:txBody>
      </p:sp>
      <p:sp>
        <p:nvSpPr>
          <p:cNvPr id="14" name="Text 12"/>
          <p:cNvSpPr/>
          <p:nvPr/>
        </p:nvSpPr>
        <p:spPr>
          <a:xfrm>
            <a:off x="812800" y="2465586"/>
            <a:ext cx="558800" cy="248245"/>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2</a:t>
            </a:r>
            <a:endParaRPr lang="en-US" sz="1300"/>
          </a:p>
        </p:txBody>
      </p:sp>
      <p:sp>
        <p:nvSpPr>
          <p:cNvPr id="15" name="Text 13"/>
          <p:cNvSpPr/>
          <p:nvPr/>
        </p:nvSpPr>
        <p:spPr>
          <a:xfrm>
            <a:off x="1498600" y="2465586"/>
            <a:ext cx="2485390" cy="248245"/>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Propose</a:t>
            </a:r>
            <a:endParaRPr lang="en-US" sz="1300"/>
          </a:p>
        </p:txBody>
      </p:sp>
      <p:sp>
        <p:nvSpPr>
          <p:cNvPr id="16" name="Text 14"/>
          <p:cNvSpPr/>
          <p:nvPr/>
        </p:nvSpPr>
        <p:spPr>
          <a:xfrm>
            <a:off x="4089400" y="2465586"/>
            <a:ext cx="366268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A human reviews every suggestion</a:t>
            </a:r>
            <a:endParaRPr lang="en-US" sz="1300"/>
          </a:p>
        </p:txBody>
      </p:sp>
      <p:sp>
        <p:nvSpPr>
          <p:cNvPr id="17" name="Text 15"/>
          <p:cNvSpPr/>
          <p:nvPr/>
        </p:nvSpPr>
        <p:spPr>
          <a:xfrm>
            <a:off x="7823200" y="2465586"/>
            <a:ext cx="340106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Draft a fix, a runbook step, a PR</a:t>
            </a:r>
            <a:endParaRPr lang="en-US" sz="1300"/>
          </a:p>
        </p:txBody>
      </p:sp>
      <p:sp>
        <p:nvSpPr>
          <p:cNvPr id="18" name="Shape 16"/>
          <p:cNvSpPr/>
          <p:nvPr/>
        </p:nvSpPr>
        <p:spPr>
          <a:xfrm>
            <a:off x="812800" y="3562747"/>
            <a:ext cx="10566400" cy="0"/>
          </a:xfrm>
          <a:prstGeom prst="line">
            <a:avLst/>
          </a:prstGeom>
          <a:noFill/>
          <a:ln w="6350">
            <a:solidFill>
              <a:srgbClr val="D5CFC2"/>
            </a:solidFill>
            <a:prstDash val="solid"/>
          </a:ln>
        </p:spPr>
        <p:txBody>
          <a:bodyPr/>
          <a:lstStyle/>
          <a:p>
            <a:endParaRPr lang="en-US"/>
          </a:p>
        </p:txBody>
      </p:sp>
      <p:sp>
        <p:nvSpPr>
          <p:cNvPr id="19" name="Text 17"/>
          <p:cNvSpPr/>
          <p:nvPr/>
        </p:nvSpPr>
        <p:spPr>
          <a:xfrm>
            <a:off x="812800" y="2974181"/>
            <a:ext cx="55880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3</a:t>
            </a:r>
            <a:endParaRPr lang="en-US" sz="1300"/>
          </a:p>
        </p:txBody>
      </p:sp>
      <p:sp>
        <p:nvSpPr>
          <p:cNvPr id="20" name="Text 18"/>
          <p:cNvSpPr/>
          <p:nvPr/>
        </p:nvSpPr>
        <p:spPr>
          <a:xfrm>
            <a:off x="1498600" y="2974181"/>
            <a:ext cx="248539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Act with approval</a:t>
            </a:r>
            <a:endParaRPr lang="en-US" sz="1300"/>
          </a:p>
        </p:txBody>
      </p:sp>
      <p:sp>
        <p:nvSpPr>
          <p:cNvPr id="21" name="Text 19"/>
          <p:cNvSpPr/>
          <p:nvPr/>
        </p:nvSpPr>
        <p:spPr>
          <a:xfrm>
            <a:off x="4089400" y="2974181"/>
            <a:ext cx="366268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Scoped permissions, approval per action, audit log, rollback</a:t>
            </a:r>
            <a:endParaRPr lang="en-US" sz="1300"/>
          </a:p>
        </p:txBody>
      </p:sp>
      <p:sp>
        <p:nvSpPr>
          <p:cNvPr id="22" name="Text 20"/>
          <p:cNvSpPr/>
          <p:nvPr/>
        </p:nvSpPr>
        <p:spPr>
          <a:xfrm>
            <a:off x="7823200" y="2974181"/>
            <a:ext cx="340106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Restart a service after a person says yes</a:t>
            </a:r>
            <a:endParaRPr lang="en-US" sz="1300"/>
          </a:p>
        </p:txBody>
      </p:sp>
      <p:sp>
        <p:nvSpPr>
          <p:cNvPr id="23" name="Text 21"/>
          <p:cNvSpPr/>
          <p:nvPr/>
        </p:nvSpPr>
        <p:spPr>
          <a:xfrm>
            <a:off x="812800" y="3705622"/>
            <a:ext cx="55880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4</a:t>
            </a:r>
            <a:endParaRPr lang="en-US" sz="1300"/>
          </a:p>
        </p:txBody>
      </p:sp>
      <p:sp>
        <p:nvSpPr>
          <p:cNvPr id="24" name="Text 22"/>
          <p:cNvSpPr/>
          <p:nvPr/>
        </p:nvSpPr>
        <p:spPr>
          <a:xfrm>
            <a:off x="1498600" y="3705622"/>
            <a:ext cx="248539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16202A"/>
                </a:solidFill>
                <a:latin typeface="Inter" pitchFamily="34" charset="0"/>
                <a:ea typeface="Inter" pitchFamily="34" charset="-122"/>
                <a:cs typeface="Inter" pitchFamily="34" charset="-120"/>
              </a:rPr>
              <a:t>Act alone</a:t>
            </a:r>
            <a:endParaRPr lang="en-US" sz="1300"/>
          </a:p>
        </p:txBody>
      </p:sp>
      <p:sp>
        <p:nvSpPr>
          <p:cNvPr id="25" name="Text 23"/>
          <p:cNvSpPr/>
          <p:nvPr/>
        </p:nvSpPr>
        <p:spPr>
          <a:xfrm>
            <a:off x="4089400" y="3705622"/>
            <a:ext cx="366268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Tested rollback, blast-radius limits, kill switch, an owner</a:t>
            </a:r>
            <a:endParaRPr lang="en-US" sz="1300"/>
          </a:p>
        </p:txBody>
      </p:sp>
      <p:sp>
        <p:nvSpPr>
          <p:cNvPr id="26" name="Text 24"/>
          <p:cNvSpPr/>
          <p:nvPr/>
        </p:nvSpPr>
        <p:spPr>
          <a:xfrm>
            <a:off x="7823200" y="3705622"/>
            <a:ext cx="340106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6202A"/>
                </a:solidFill>
                <a:latin typeface="Inter" pitchFamily="34" charset="0"/>
                <a:ea typeface="Inter" pitchFamily="34" charset="-122"/>
                <a:cs typeface="Inter" pitchFamily="34" charset="-120"/>
              </a:rPr>
              <a:t>Rare. Narrow, reversible actions only</a:t>
            </a:r>
            <a:endParaRPr lang="en-US" sz="1300"/>
          </a:p>
        </p:txBody>
      </p:sp>
      <p:sp>
        <p:nvSpPr>
          <p:cNvPr id="27" name="Text 25"/>
          <p:cNvSpPr/>
          <p:nvPr/>
        </p:nvSpPr>
        <p:spPr>
          <a:xfrm>
            <a:off x="812800" y="4468813"/>
            <a:ext cx="10883392" cy="274241"/>
          </a:xfrm>
          <a:prstGeom prst="rect">
            <a:avLst/>
          </a:prstGeom>
          <a:noFill/>
          <a:ln/>
        </p:spPr>
        <p:txBody>
          <a:bodyPr wrap="square" lIns="0" tIns="0" rIns="0" bIns="0" rtlCol="0" anchor="t">
            <a:normAutofit/>
          </a:bodyPr>
          <a:lstStyle/>
          <a:p>
            <a:pPr marL="0" indent="0" algn="l">
              <a:lnSpc>
                <a:spcPts val="1960"/>
              </a:lnSpc>
              <a:buNone/>
            </a:pPr>
            <a:endParaRPr lang="en-US" sz="140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29" name="Text 27"/>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711200"/>
            <a:ext cx="2191841" cy="314920"/>
          </a:xfrm>
          <a:prstGeom prst="roundRect">
            <a:avLst>
              <a:gd name="adj" fmla="val 50000"/>
            </a:avLst>
          </a:prstGeom>
          <a:solidFill>
            <a:srgbClr val="F5A524"/>
          </a:solidFill>
          <a:ln/>
        </p:spPr>
        <p:txBody>
          <a:bodyPr wrap="none" lIns="0" tIns="0" rIns="0" bIns="0" rtlCol="0" anchor="ctr">
            <a:normAutofit/>
          </a:bodyPr>
          <a:lstStyle/>
          <a:p>
            <a:pPr marL="0" indent="0" algn="ctr">
              <a:lnSpc>
                <a:spcPts val="1680"/>
              </a:lnSpc>
              <a:buNone/>
            </a:pPr>
            <a:r>
              <a:rPr lang="en-US" sz="1200" b="1" kern="0" spc="100">
                <a:solidFill>
                  <a:srgbClr val="16202A"/>
                </a:solidFill>
                <a:latin typeface="Inter"/>
                <a:ea typeface="Inter" pitchFamily="34" charset="-122"/>
                <a:cs typeface="Inter" pitchFamily="34" charset="-120"/>
              </a:rPr>
              <a:t>DEMO</a:t>
            </a:r>
            <a:endParaRPr lang="en-US" sz="1200">
              <a:latin typeface="Inter"/>
            </a:endParaRPr>
          </a:p>
        </p:txBody>
      </p:sp>
      <p:sp>
        <p:nvSpPr>
          <p:cNvPr id="3" name="Text 1"/>
          <p:cNvSpPr>
            <a:spLocks noGrp="1"/>
          </p:cNvSpPr>
          <p:nvPr>
            <p:ph type="title"/>
          </p:nvPr>
        </p:nvSpPr>
        <p:spPr>
          <a:xfrm>
            <a:off x="812800" y="1203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F4F1EA"/>
                </a:solidFill>
                <a:latin typeface="Space Grotesk" pitchFamily="34" charset="0"/>
                <a:ea typeface="Space Grotesk" pitchFamily="34" charset="-122"/>
                <a:cs typeface="Space Grotesk" pitchFamily="34" charset="-120"/>
              </a:rPr>
              <a:t>Root cause analysis from logs, no fix yet</a:t>
            </a:r>
            <a:endParaRPr lang="en-US" sz="2800"/>
          </a:p>
        </p:txBody>
      </p:sp>
      <p:sp>
        <p:nvSpPr>
          <p:cNvPr id="4" name="Shape 2"/>
          <p:cNvSpPr/>
          <p:nvPr/>
        </p:nvSpPr>
        <p:spPr>
          <a:xfrm>
            <a:off x="812800" y="1772841"/>
            <a:ext cx="10566400" cy="1363960"/>
          </a:xfrm>
          <a:prstGeom prst="roundRect">
            <a:avLst>
              <a:gd name="adj" fmla="val 7449"/>
            </a:avLst>
          </a:prstGeom>
          <a:solidFill>
            <a:srgbClr val="1B2733"/>
          </a:solidFill>
          <a:ln/>
        </p:spPr>
        <p:txBody>
          <a:bodyPr/>
          <a:lstStyle/>
          <a:p>
            <a:endParaRPr lang="en-US"/>
          </a:p>
        </p:txBody>
      </p:sp>
      <p:sp>
        <p:nvSpPr>
          <p:cNvPr id="5" name="Text 3"/>
          <p:cNvSpPr/>
          <p:nvPr/>
        </p:nvSpPr>
        <p:spPr>
          <a:xfrm>
            <a:off x="1016000" y="197604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PROMPT</a:t>
            </a:r>
            <a:endParaRPr lang="en-US" sz="1100"/>
          </a:p>
        </p:txBody>
      </p:sp>
      <p:sp>
        <p:nvSpPr>
          <p:cNvPr id="6" name="Text 4"/>
          <p:cNvSpPr/>
          <p:nvPr/>
        </p:nvSpPr>
        <p:spPr>
          <a:xfrm>
            <a:off x="1016000" y="2247801"/>
            <a:ext cx="10464800" cy="711200"/>
          </a:xfrm>
          <a:prstGeom prst="rect">
            <a:avLst/>
          </a:prstGeom>
          <a:noFill/>
          <a:ln/>
        </p:spPr>
        <p:txBody>
          <a:bodyPr wrap="square" lIns="0" tIns="0" rIns="0" bIns="0" rtlCol="0" anchor="t">
            <a:normAutofit/>
          </a:bodyPr>
          <a:lstStyle/>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Here are the logs, metrics and the last deploy diff from the incident window. Build a timeline. Give ranked hypotheses with the evidence for each. Say what would disprove your top hypothesis, and what data is missing. Do not propose a fix yet.</a:t>
            </a:r>
            <a:endParaRPr lang="en-US" sz="1200"/>
          </a:p>
        </p:txBody>
      </p:sp>
      <p:sp>
        <p:nvSpPr>
          <p:cNvPr id="7" name="Shape 5"/>
          <p:cNvSpPr/>
          <p:nvPr/>
        </p:nvSpPr>
        <p:spPr>
          <a:xfrm>
            <a:off x="812800" y="3314601"/>
            <a:ext cx="10566400" cy="863501"/>
          </a:xfrm>
          <a:prstGeom prst="roundRect">
            <a:avLst>
              <a:gd name="adj" fmla="val 8825"/>
            </a:avLst>
          </a:prstGeom>
          <a:solidFill>
            <a:srgbClr val="1B2733"/>
          </a:solidFill>
          <a:ln/>
        </p:spPr>
        <p:txBody>
          <a:bodyPr/>
          <a:lstStyle/>
          <a:p>
            <a:endParaRPr lang="en-US"/>
          </a:p>
        </p:txBody>
      </p:sp>
      <p:sp>
        <p:nvSpPr>
          <p:cNvPr id="8" name="Shape 6"/>
          <p:cNvSpPr/>
          <p:nvPr/>
        </p:nvSpPr>
        <p:spPr>
          <a:xfrm>
            <a:off x="812800" y="3314601"/>
            <a:ext cx="10566400" cy="863501"/>
          </a:xfrm>
          <a:custGeom>
            <a:avLst/>
            <a:gdLst/>
            <a:ahLst/>
            <a:cxnLst/>
            <a:rect l="l" t="t" r="r" b="b"/>
            <a:pathLst>
              <a:path w="10566400" h="863501">
                <a:moveTo>
                  <a:pt x="76200" y="863501"/>
                </a:moveTo>
                <a:lnTo>
                  <a:pt x="76200" y="863501"/>
                </a:lnTo>
                <a:arcTo wR="76200" hR="76200" stAng="5400000" swAng="5400000"/>
                <a:lnTo>
                  <a:pt x="0" y="76200"/>
                </a:lnTo>
                <a:arcTo wR="76200" hR="76200" stAng="10800000" swAng="5400000"/>
                <a:lnTo>
                  <a:pt x="76200" y="0"/>
                </a:lnTo>
                <a:arcTo wR="25400" hR="76200" stAng="16200000" swAng="-5400000"/>
                <a:lnTo>
                  <a:pt x="50800" y="787301"/>
                </a:lnTo>
                <a:arcTo wR="25400" hR="76200" stAng="10800000" swAng="-5400000"/>
                <a:close/>
              </a:path>
            </a:pathLst>
          </a:custGeom>
          <a:solidFill>
            <a:srgbClr val="35C7B4"/>
          </a:solidFill>
          <a:ln/>
        </p:spPr>
        <p:txBody>
          <a:bodyPr/>
          <a:lstStyle/>
          <a:p>
            <a:endParaRPr lang="en-US"/>
          </a:p>
        </p:txBody>
      </p:sp>
      <p:sp>
        <p:nvSpPr>
          <p:cNvPr id="9" name="Text 7"/>
          <p:cNvSpPr/>
          <p:nvPr/>
        </p:nvSpPr>
        <p:spPr>
          <a:xfrm>
            <a:off x="1041400" y="349240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WATCH FOR</a:t>
            </a:r>
            <a:endParaRPr lang="en-US" sz="1100"/>
          </a:p>
        </p:txBody>
      </p:sp>
      <p:sp>
        <p:nvSpPr>
          <p:cNvPr id="10" name="Text 8"/>
          <p:cNvSpPr/>
          <p:nvPr/>
        </p:nvSpPr>
        <p:spPr>
          <a:xfrm>
            <a:off x="1041400" y="3751461"/>
            <a:ext cx="10464800"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cs typeface="Inter" pitchFamily="34" charset="-120"/>
              </a:rPr>
              <a:t>Does the timeline match the raw timestamps? Is every claim tied to a log line? Does it say what it cannot know?</a:t>
            </a:r>
            <a:endParaRPr lang="en-US" sz="140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12" name="Text 10"/>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ndParaRPr>
          </a:p>
        </p:txBody>
      </p:sp>
      <p:sp>
        <p:nvSpPr>
          <p:cNvPr id="13" name="TextBox 12">
            <a:extLst>
              <a:ext uri="{FF2B5EF4-FFF2-40B4-BE49-F238E27FC236}">
                <a16:creationId xmlns:a16="http://schemas.microsoft.com/office/drawing/2014/main" id="{E5284C43-40E3-9203-1EEB-8BC9D4738EA3}"/>
              </a:ext>
            </a:extLst>
          </p:cNvPr>
          <p:cNvSpPr txBox="1"/>
          <p:nvPr/>
        </p:nvSpPr>
        <p:spPr>
          <a:xfrm>
            <a:off x="812801" y="4917233"/>
            <a:ext cx="1517972" cy="369332"/>
          </a:xfrm>
          <a:prstGeom prst="rect">
            <a:avLst/>
          </a:prstGeom>
          <a:noFill/>
        </p:spPr>
        <p:txBody>
          <a:bodyPr wrap="square" rtlCol="0">
            <a:spAutoFit/>
          </a:bodyPr>
          <a:lstStyle/>
          <a:p>
            <a:r>
              <a:rPr lang="en-US"/>
              <a:t>For a </a:t>
            </a:r>
          </a:p>
        </p:txBody>
      </p:sp>
      <p:sp>
        <p:nvSpPr>
          <p:cNvPr id="15" name="Shape 5">
            <a:extLst>
              <a:ext uri="{FF2B5EF4-FFF2-40B4-BE49-F238E27FC236}">
                <a16:creationId xmlns:a16="http://schemas.microsoft.com/office/drawing/2014/main" id="{6DBB8F0B-1755-57FD-B30F-253DDD3183D2}"/>
              </a:ext>
            </a:extLst>
          </p:cNvPr>
          <p:cNvSpPr/>
          <p:nvPr/>
        </p:nvSpPr>
        <p:spPr>
          <a:xfrm>
            <a:off x="812800" y="4545666"/>
            <a:ext cx="10566400" cy="863501"/>
          </a:xfrm>
          <a:prstGeom prst="roundRect">
            <a:avLst>
              <a:gd name="adj" fmla="val 8825"/>
            </a:avLst>
          </a:prstGeom>
          <a:solidFill>
            <a:srgbClr val="1B2733"/>
          </a:solidFill>
          <a:ln/>
        </p:spPr>
        <p:txBody>
          <a:bodyPr/>
          <a:lstStyle/>
          <a:p>
            <a:endParaRPr lang="en-US"/>
          </a:p>
        </p:txBody>
      </p:sp>
      <p:sp>
        <p:nvSpPr>
          <p:cNvPr id="17" name="Text 8">
            <a:extLst>
              <a:ext uri="{FF2B5EF4-FFF2-40B4-BE49-F238E27FC236}">
                <a16:creationId xmlns:a16="http://schemas.microsoft.com/office/drawing/2014/main" id="{0ED284B9-6D2E-8ACD-1613-0CB22E579792}"/>
              </a:ext>
            </a:extLst>
          </p:cNvPr>
          <p:cNvSpPr/>
          <p:nvPr/>
        </p:nvSpPr>
        <p:spPr>
          <a:xfrm>
            <a:off x="1041400" y="4982526"/>
            <a:ext cx="10464800"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rPr>
              <a:t>Create a fix, test it</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711200"/>
            <a:ext cx="2127151" cy="314920"/>
          </a:xfrm>
          <a:prstGeom prst="roundRect">
            <a:avLst>
              <a:gd name="adj" fmla="val 50000"/>
            </a:avLst>
          </a:prstGeom>
          <a:solidFill>
            <a:srgbClr val="F5A524"/>
          </a:solidFill>
          <a:ln/>
        </p:spPr>
        <p:txBody>
          <a:bodyPr wrap="none" lIns="0" tIns="0" rIns="0" bIns="0" rtlCol="0" anchor="ctr">
            <a:normAutofit/>
          </a:bodyPr>
          <a:lstStyle/>
          <a:p>
            <a:pPr marL="0" indent="0" algn="ctr">
              <a:lnSpc>
                <a:spcPts val="1680"/>
              </a:lnSpc>
              <a:buNone/>
            </a:pPr>
            <a:r>
              <a:rPr lang="en-US" sz="1200" b="1" kern="0" spc="100">
                <a:solidFill>
                  <a:srgbClr val="16202A"/>
                </a:solidFill>
                <a:latin typeface="Inter"/>
                <a:ea typeface="Inter" pitchFamily="34" charset="-122"/>
                <a:cs typeface="Inter" pitchFamily="34" charset="-120"/>
              </a:rPr>
              <a:t>DEMO</a:t>
            </a:r>
            <a:endParaRPr lang="en-US" sz="1200">
              <a:latin typeface="Inter"/>
            </a:endParaRPr>
          </a:p>
        </p:txBody>
      </p:sp>
      <p:sp>
        <p:nvSpPr>
          <p:cNvPr id="3" name="Text 1"/>
          <p:cNvSpPr>
            <a:spLocks noGrp="1"/>
          </p:cNvSpPr>
          <p:nvPr>
            <p:ph type="title"/>
          </p:nvPr>
        </p:nvSpPr>
        <p:spPr>
          <a:xfrm>
            <a:off x="812800" y="1203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F4F1EA"/>
                </a:solidFill>
                <a:latin typeface="Space Grotesk" pitchFamily="34" charset="0"/>
                <a:ea typeface="Space Grotesk" pitchFamily="34" charset="-122"/>
                <a:cs typeface="Space Grotesk" pitchFamily="34" charset="-120"/>
              </a:rPr>
              <a:t>Pipeline optimization that keeps every security gate</a:t>
            </a:r>
            <a:endParaRPr lang="en-US" sz="2800"/>
          </a:p>
        </p:txBody>
      </p:sp>
      <p:sp>
        <p:nvSpPr>
          <p:cNvPr id="4" name="Shape 2"/>
          <p:cNvSpPr/>
          <p:nvPr/>
        </p:nvSpPr>
        <p:spPr>
          <a:xfrm>
            <a:off x="812800" y="1772841"/>
            <a:ext cx="10566400" cy="1363960"/>
          </a:xfrm>
          <a:prstGeom prst="roundRect">
            <a:avLst>
              <a:gd name="adj" fmla="val 7449"/>
            </a:avLst>
          </a:prstGeom>
          <a:solidFill>
            <a:srgbClr val="1B2733"/>
          </a:solidFill>
          <a:ln/>
        </p:spPr>
        <p:txBody>
          <a:bodyPr/>
          <a:lstStyle/>
          <a:p>
            <a:endParaRPr lang="en-US"/>
          </a:p>
        </p:txBody>
      </p:sp>
      <p:sp>
        <p:nvSpPr>
          <p:cNvPr id="5" name="Text 3"/>
          <p:cNvSpPr/>
          <p:nvPr/>
        </p:nvSpPr>
        <p:spPr>
          <a:xfrm>
            <a:off x="1016000" y="197604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PROMPT</a:t>
            </a:r>
            <a:endParaRPr lang="en-US" sz="1100"/>
          </a:p>
        </p:txBody>
      </p:sp>
      <p:sp>
        <p:nvSpPr>
          <p:cNvPr id="6" name="Text 4"/>
          <p:cNvSpPr/>
          <p:nvPr/>
        </p:nvSpPr>
        <p:spPr>
          <a:xfrm>
            <a:off x="1016000" y="2247801"/>
            <a:ext cx="10464800" cy="711200"/>
          </a:xfrm>
          <a:prstGeom prst="rect">
            <a:avLst/>
          </a:prstGeom>
          <a:noFill/>
          <a:ln/>
        </p:spPr>
        <p:txBody>
          <a:bodyPr wrap="square" lIns="0" tIns="0" rIns="0" bIns="0" rtlCol="0" anchor="t">
            <a:normAutofit/>
          </a:bodyPr>
          <a:lstStyle/>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Here is our CI pipeline and the last 20 run timings. Propose changes that cut wall-clock time. Every security and quality gate must still run on every pull request. List each change with the time it saves and the risk it adds.</a:t>
            </a:r>
            <a:endParaRPr lang="en-US" sz="1200"/>
          </a:p>
        </p:txBody>
      </p:sp>
      <p:sp>
        <p:nvSpPr>
          <p:cNvPr id="7" name="Shape 5"/>
          <p:cNvSpPr/>
          <p:nvPr/>
        </p:nvSpPr>
        <p:spPr>
          <a:xfrm>
            <a:off x="812800" y="3314601"/>
            <a:ext cx="10566400" cy="863501"/>
          </a:xfrm>
          <a:prstGeom prst="roundRect">
            <a:avLst>
              <a:gd name="adj" fmla="val 8825"/>
            </a:avLst>
          </a:prstGeom>
          <a:solidFill>
            <a:srgbClr val="1B2733"/>
          </a:solidFill>
          <a:ln/>
        </p:spPr>
        <p:txBody>
          <a:bodyPr/>
          <a:lstStyle/>
          <a:p>
            <a:endParaRPr lang="en-US"/>
          </a:p>
        </p:txBody>
      </p:sp>
      <p:sp>
        <p:nvSpPr>
          <p:cNvPr id="8" name="Shape 6"/>
          <p:cNvSpPr/>
          <p:nvPr/>
        </p:nvSpPr>
        <p:spPr>
          <a:xfrm>
            <a:off x="812800" y="3314601"/>
            <a:ext cx="10566400" cy="863501"/>
          </a:xfrm>
          <a:custGeom>
            <a:avLst/>
            <a:gdLst/>
            <a:ahLst/>
            <a:cxnLst/>
            <a:rect l="l" t="t" r="r" b="b"/>
            <a:pathLst>
              <a:path w="10566400" h="863501">
                <a:moveTo>
                  <a:pt x="76200" y="863501"/>
                </a:moveTo>
                <a:lnTo>
                  <a:pt x="76200" y="863501"/>
                </a:lnTo>
                <a:arcTo wR="76200" hR="76200" stAng="5400000" swAng="5400000"/>
                <a:lnTo>
                  <a:pt x="0" y="76200"/>
                </a:lnTo>
                <a:arcTo wR="76200" hR="76200" stAng="10800000" swAng="5400000"/>
                <a:lnTo>
                  <a:pt x="76200" y="0"/>
                </a:lnTo>
                <a:arcTo wR="25400" hR="76200" stAng="16200000" swAng="-5400000"/>
                <a:lnTo>
                  <a:pt x="50800" y="787301"/>
                </a:lnTo>
                <a:arcTo wR="25400" hR="76200" stAng="10800000" swAng="-5400000"/>
                <a:close/>
              </a:path>
            </a:pathLst>
          </a:custGeom>
          <a:solidFill>
            <a:srgbClr val="35C7B4"/>
          </a:solidFill>
          <a:ln/>
        </p:spPr>
        <p:txBody>
          <a:bodyPr/>
          <a:lstStyle/>
          <a:p>
            <a:endParaRPr lang="en-US"/>
          </a:p>
        </p:txBody>
      </p:sp>
      <p:sp>
        <p:nvSpPr>
          <p:cNvPr id="9" name="Text 7"/>
          <p:cNvSpPr/>
          <p:nvPr/>
        </p:nvSpPr>
        <p:spPr>
          <a:xfrm>
            <a:off x="1041400" y="349240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WATCH FOR</a:t>
            </a:r>
            <a:endParaRPr lang="en-US" sz="1100"/>
          </a:p>
        </p:txBody>
      </p:sp>
      <p:sp>
        <p:nvSpPr>
          <p:cNvPr id="10" name="Text 8"/>
          <p:cNvSpPr/>
          <p:nvPr/>
        </p:nvSpPr>
        <p:spPr>
          <a:xfrm>
            <a:off x="1041400" y="3751461"/>
            <a:ext cx="10464800"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cs typeface="Inter" pitchFamily="34" charset="-120"/>
              </a:rPr>
              <a:t>Diff the list of stages before and after, not only the timings. A faster pipeline that quietly lost a gate is a regression.</a:t>
            </a:r>
            <a:endParaRPr lang="en-US" sz="140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12" name="Text 10"/>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a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711200"/>
            <a:ext cx="2202160" cy="314920"/>
          </a:xfrm>
          <a:prstGeom prst="roundRect">
            <a:avLst>
              <a:gd name="adj" fmla="val 50000"/>
            </a:avLst>
          </a:prstGeom>
          <a:solidFill>
            <a:srgbClr val="F5A524"/>
          </a:solidFill>
          <a:ln/>
        </p:spPr>
        <p:txBody>
          <a:bodyPr wrap="none" lIns="0" tIns="0" rIns="0" bIns="0" rtlCol="0" anchor="ctr">
            <a:normAutofit/>
          </a:bodyPr>
          <a:lstStyle/>
          <a:p>
            <a:pPr marL="0" indent="0" algn="ctr">
              <a:lnSpc>
                <a:spcPts val="1680"/>
              </a:lnSpc>
              <a:buNone/>
            </a:pPr>
            <a:r>
              <a:rPr lang="en-US" sz="1200" b="1" kern="0" spc="100">
                <a:solidFill>
                  <a:srgbClr val="16202A"/>
                </a:solidFill>
                <a:latin typeface="Inter"/>
                <a:ea typeface="Inter" pitchFamily="34" charset="-122"/>
                <a:cs typeface="Inter" pitchFamily="34" charset="-120"/>
              </a:rPr>
              <a:t>DEMO </a:t>
            </a:r>
            <a:endParaRPr lang="en-US" sz="1200">
              <a:latin typeface="Inter"/>
            </a:endParaRPr>
          </a:p>
        </p:txBody>
      </p:sp>
      <p:sp>
        <p:nvSpPr>
          <p:cNvPr id="3" name="Text 1"/>
          <p:cNvSpPr>
            <a:spLocks noGrp="1"/>
          </p:cNvSpPr>
          <p:nvPr>
            <p:ph type="title"/>
          </p:nvPr>
        </p:nvSpPr>
        <p:spPr>
          <a:xfrm>
            <a:off x="812800" y="1203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F4F1EA"/>
                </a:solidFill>
                <a:latin typeface="Space Grotesk" pitchFamily="34" charset="0"/>
                <a:ea typeface="Space Grotesk" pitchFamily="34" charset="-122"/>
                <a:cs typeface="Space Grotesk" pitchFamily="34" charset="-120"/>
              </a:rPr>
              <a:t>Incident response: read-only until a human approves</a:t>
            </a:r>
            <a:endParaRPr lang="en-US" sz="2800"/>
          </a:p>
        </p:txBody>
      </p:sp>
      <p:sp>
        <p:nvSpPr>
          <p:cNvPr id="4" name="Shape 2"/>
          <p:cNvSpPr/>
          <p:nvPr/>
        </p:nvSpPr>
        <p:spPr>
          <a:xfrm>
            <a:off x="812800" y="1772841"/>
            <a:ext cx="10566400" cy="1363960"/>
          </a:xfrm>
          <a:prstGeom prst="roundRect">
            <a:avLst>
              <a:gd name="adj" fmla="val 7449"/>
            </a:avLst>
          </a:prstGeom>
          <a:solidFill>
            <a:srgbClr val="1B2733"/>
          </a:solidFill>
          <a:ln/>
        </p:spPr>
        <p:txBody>
          <a:bodyPr/>
          <a:lstStyle/>
          <a:p>
            <a:endParaRPr lang="en-US"/>
          </a:p>
        </p:txBody>
      </p:sp>
      <p:sp>
        <p:nvSpPr>
          <p:cNvPr id="5" name="Text 3"/>
          <p:cNvSpPr/>
          <p:nvPr/>
        </p:nvSpPr>
        <p:spPr>
          <a:xfrm>
            <a:off x="1016000" y="197604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PROMPT</a:t>
            </a:r>
            <a:endParaRPr lang="en-US" sz="1100"/>
          </a:p>
        </p:txBody>
      </p:sp>
      <p:sp>
        <p:nvSpPr>
          <p:cNvPr id="6" name="Text 4"/>
          <p:cNvSpPr/>
          <p:nvPr/>
        </p:nvSpPr>
        <p:spPr>
          <a:xfrm>
            <a:off x="1016000" y="2247801"/>
            <a:ext cx="10464800" cy="711200"/>
          </a:xfrm>
          <a:prstGeom prst="rect">
            <a:avLst/>
          </a:prstGeom>
          <a:noFill/>
          <a:ln/>
        </p:spPr>
        <p:txBody>
          <a:bodyPr wrap="square" lIns="0" tIns="0" rIns="0" bIns="0" rtlCol="0" anchor="t">
            <a:normAutofit/>
          </a:bodyPr>
          <a:lstStyle/>
          <a:p>
            <a:pPr marL="0" indent="0" algn="l">
              <a:lnSpc>
                <a:spcPts val="1800"/>
              </a:lnSpc>
              <a:buNone/>
            </a:pPr>
            <a:r>
              <a:rPr lang="en-US" sz="1200">
                <a:solidFill>
                  <a:srgbClr val="F4F1EA"/>
                </a:solidFill>
                <a:latin typeface="JetBrains Mono" pitchFamily="49" charset="0"/>
                <a:ea typeface="JetBrains Mono" pitchFamily="49" charset="-122"/>
                <a:cs typeface="JetBrains Mono" pitchFamily="49" charset="-120"/>
              </a:rPr>
              <a:t>Alert: approved invoices are not triggering notifications. Use read-only tools to investigate. Present two or three mitigation options. For each, state what it changes and how to undo it. Wait for my approval before running anything that changes state.</a:t>
            </a:r>
            <a:endParaRPr lang="en-US" sz="1200"/>
          </a:p>
        </p:txBody>
      </p:sp>
      <p:sp>
        <p:nvSpPr>
          <p:cNvPr id="7" name="Shape 5"/>
          <p:cNvSpPr/>
          <p:nvPr/>
        </p:nvSpPr>
        <p:spPr>
          <a:xfrm>
            <a:off x="812800" y="3314601"/>
            <a:ext cx="10566400" cy="1112341"/>
          </a:xfrm>
          <a:prstGeom prst="roundRect">
            <a:avLst>
              <a:gd name="adj" fmla="val 6850"/>
            </a:avLst>
          </a:prstGeom>
          <a:solidFill>
            <a:srgbClr val="1B2733"/>
          </a:solidFill>
          <a:ln/>
        </p:spPr>
        <p:txBody>
          <a:bodyPr/>
          <a:lstStyle/>
          <a:p>
            <a:endParaRPr lang="en-US"/>
          </a:p>
        </p:txBody>
      </p:sp>
      <p:sp>
        <p:nvSpPr>
          <p:cNvPr id="8" name="Shape 6"/>
          <p:cNvSpPr/>
          <p:nvPr/>
        </p:nvSpPr>
        <p:spPr>
          <a:xfrm>
            <a:off x="812800" y="3314601"/>
            <a:ext cx="10566400" cy="1112341"/>
          </a:xfrm>
          <a:custGeom>
            <a:avLst/>
            <a:gdLst/>
            <a:ahLst/>
            <a:cxnLst/>
            <a:rect l="l" t="t" r="r" b="b"/>
            <a:pathLst>
              <a:path w="10566400" h="1112341">
                <a:moveTo>
                  <a:pt x="76200" y="1112341"/>
                </a:moveTo>
                <a:lnTo>
                  <a:pt x="76200" y="1112341"/>
                </a:lnTo>
                <a:arcTo wR="76200" hR="76200" stAng="5400000" swAng="5400000"/>
                <a:lnTo>
                  <a:pt x="0" y="76200"/>
                </a:lnTo>
                <a:arcTo wR="76200" hR="76200" stAng="10800000" swAng="5400000"/>
                <a:lnTo>
                  <a:pt x="76200" y="0"/>
                </a:lnTo>
                <a:arcTo wR="25400" hR="76200" stAng="16200000" swAng="-5400000"/>
                <a:lnTo>
                  <a:pt x="50800" y="1036141"/>
                </a:lnTo>
                <a:arcTo wR="25400" hR="76200" stAng="10800000" swAng="-5400000"/>
                <a:close/>
              </a:path>
            </a:pathLst>
          </a:custGeom>
          <a:solidFill>
            <a:srgbClr val="35C7B4"/>
          </a:solidFill>
          <a:ln/>
        </p:spPr>
        <p:txBody>
          <a:bodyPr/>
          <a:lstStyle/>
          <a:p>
            <a:endParaRPr lang="en-US"/>
          </a:p>
        </p:txBody>
      </p:sp>
      <p:sp>
        <p:nvSpPr>
          <p:cNvPr id="9" name="Text 7"/>
          <p:cNvSpPr/>
          <p:nvPr/>
        </p:nvSpPr>
        <p:spPr>
          <a:xfrm>
            <a:off x="1041400" y="349240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WATCH FOR</a:t>
            </a:r>
            <a:endParaRPr lang="en-US" sz="1100"/>
          </a:p>
        </p:txBody>
      </p:sp>
      <p:sp>
        <p:nvSpPr>
          <p:cNvPr id="10" name="Text 8"/>
          <p:cNvSpPr/>
          <p:nvPr/>
        </p:nvSpPr>
        <p:spPr>
          <a:xfrm>
            <a:off x="1041400" y="3751461"/>
            <a:ext cx="10464800" cy="52308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cs typeface="Inter" pitchFamily="34" charset="-120"/>
              </a:rPr>
              <a:t>Does it stay read-only? Can you tell what each option changes and how to roll it back? Approve one, then check the audit trail.</a:t>
            </a:r>
            <a:endParaRPr lang="en-US" sz="140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12" name="Text 10"/>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a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A524"/>
        </a:solidFill>
        <a:effectLst/>
      </p:bgPr>
    </p:bg>
    <p:spTree>
      <p:nvGrpSpPr>
        <p:cNvPr id="1" name=""/>
        <p:cNvGrpSpPr/>
        <p:nvPr/>
      </p:nvGrpSpPr>
      <p:grpSpPr>
        <a:xfrm>
          <a:off x="0" y="0"/>
          <a:ext cx="0" cy="0"/>
          <a:chOff x="0" y="0"/>
          <a:chExt cx="0" cy="0"/>
        </a:xfrm>
      </p:grpSpPr>
      <p:sp>
        <p:nvSpPr>
          <p:cNvPr id="2" name="Text 0"/>
          <p:cNvSpPr/>
          <p:nvPr/>
        </p:nvSpPr>
        <p:spPr>
          <a:xfrm>
            <a:off x="812800" y="213240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a:solidFill>
                  <a:srgbClr val="16202A"/>
                </a:solidFill>
                <a:latin typeface="Inter" pitchFamily="34" charset="0"/>
                <a:ea typeface="Inter" pitchFamily="34" charset="-122"/>
                <a:cs typeface="Inter" pitchFamily="34" charset="-120"/>
              </a:rPr>
              <a:t>PART 3</a:t>
            </a:r>
            <a:endParaRPr lang="en-US" sz="1400"/>
          </a:p>
        </p:txBody>
      </p:sp>
      <p:sp>
        <p:nvSpPr>
          <p:cNvPr id="3" name="Text 1"/>
          <p:cNvSpPr>
            <a:spLocks noGrp="1"/>
          </p:cNvSpPr>
          <p:nvPr>
            <p:ph type="title"/>
          </p:nvPr>
        </p:nvSpPr>
        <p:spPr>
          <a:xfrm>
            <a:off x="812800" y="258445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a:solidFill>
                  <a:srgbClr val="16202A"/>
                </a:solidFill>
                <a:latin typeface="Space Grotesk" pitchFamily="34" charset="0"/>
                <a:ea typeface="Space Grotesk" pitchFamily="34" charset="-122"/>
                <a:cs typeface="Space Grotesk" pitchFamily="34" charset="-120"/>
              </a:rPr>
              <a:t>Risks, governance and measurement</a:t>
            </a:r>
            <a:endParaRPr lang="en-US" sz="6000"/>
          </a:p>
        </p:txBody>
      </p:sp>
      <p:sp>
        <p:nvSpPr>
          <p:cNvPr id="4" name="Text 2"/>
          <p:cNvSpPr/>
          <p:nvPr/>
        </p:nvSpPr>
        <p:spPr>
          <a:xfrm>
            <a:off x="812800" y="4387850"/>
            <a:ext cx="10883392" cy="363141"/>
          </a:xfrm>
          <a:prstGeom prst="rect">
            <a:avLst/>
          </a:prstGeom>
          <a:noFill/>
          <a:ln/>
        </p:spPr>
        <p:txBody>
          <a:bodyPr wrap="square" lIns="0" tIns="0" rIns="0" bIns="0" rtlCol="0" anchor="t">
            <a:normAutofit/>
          </a:bodyPr>
          <a:lstStyle/>
          <a:p>
            <a:pPr marL="0" indent="0" algn="l">
              <a:lnSpc>
                <a:spcPts val="2660"/>
              </a:lnSpc>
              <a:buNone/>
            </a:pPr>
            <a:endParaRPr lang="en-US" sz="1900"/>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16202A"/>
                </a:solidFill>
                <a:latin typeface="Inter" pitchFamily="34" charset="0"/>
                <a:ea typeface="Inter" pitchFamily="34" charset="-122"/>
                <a:cs typeface="Inter" pitchFamily="34" charset="-120"/>
              </a:rPr>
              <a:t>AI in SDLC · Session 3</a:t>
            </a:r>
            <a:endParaRPr lang="en-US" sz="1200"/>
          </a:p>
        </p:txBody>
      </p:sp>
      <p:sp>
        <p:nvSpPr>
          <p:cNvPr id="6" name="Text 4"/>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ea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The lethal trifecta: the risk to design around</a:t>
            </a:r>
            <a:endParaRPr lang="en-US" sz="2800"/>
          </a:p>
        </p:txBody>
      </p:sp>
      <p:sp>
        <p:nvSpPr>
          <p:cNvPr id="3" name="Shape 1"/>
          <p:cNvSpPr/>
          <p:nvPr/>
        </p:nvSpPr>
        <p:spPr>
          <a:xfrm>
            <a:off x="815975" y="1384895"/>
            <a:ext cx="3414117" cy="1445022"/>
          </a:xfrm>
          <a:prstGeom prst="roundRect">
            <a:avLst>
              <a:gd name="adj" fmla="val 6811"/>
            </a:avLst>
          </a:prstGeom>
          <a:solidFill>
            <a:srgbClr val="FBFAF6"/>
          </a:solidFill>
          <a:ln w="6350">
            <a:solidFill>
              <a:srgbClr val="D5CFC2"/>
            </a:solidFill>
            <a:prstDash val="solid"/>
          </a:ln>
        </p:spPr>
        <p:txBody>
          <a:bodyPr/>
          <a:lstStyle/>
          <a:p>
            <a:endParaRPr lang="en-US"/>
          </a:p>
        </p:txBody>
      </p:sp>
      <p:sp>
        <p:nvSpPr>
          <p:cNvPr id="4" name="Text 2"/>
          <p:cNvSpPr/>
          <p:nvPr/>
        </p:nvSpPr>
        <p:spPr>
          <a:xfrm>
            <a:off x="1022350" y="1591270"/>
            <a:ext cx="3091408"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1. Private data</a:t>
            </a:r>
            <a:endParaRPr lang="en-US" sz="1800"/>
          </a:p>
        </p:txBody>
      </p:sp>
      <p:sp>
        <p:nvSpPr>
          <p:cNvPr id="5" name="Text 3"/>
          <p:cNvSpPr/>
          <p:nvPr/>
        </p:nvSpPr>
        <p:spPr>
          <a:xfrm>
            <a:off x="1022350" y="1930301"/>
            <a:ext cx="3091408" cy="487561"/>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652"/>
                </a:solidFill>
                <a:latin typeface="Inter" pitchFamily="34" charset="0"/>
                <a:ea typeface="Inter" pitchFamily="34" charset="-122"/>
                <a:cs typeface="Inter" pitchFamily="34" charset="-120"/>
              </a:rPr>
              <a:t>Source code, secrets, customer records, internal documents.</a:t>
            </a:r>
            <a:endParaRPr lang="en-US" sz="1300"/>
          </a:p>
        </p:txBody>
      </p:sp>
      <p:sp>
        <p:nvSpPr>
          <p:cNvPr id="6" name="Shape 4"/>
          <p:cNvSpPr/>
          <p:nvPr/>
        </p:nvSpPr>
        <p:spPr>
          <a:xfrm>
            <a:off x="4388842" y="1384895"/>
            <a:ext cx="3414216" cy="1445022"/>
          </a:xfrm>
          <a:prstGeom prst="roundRect">
            <a:avLst>
              <a:gd name="adj" fmla="val 6811"/>
            </a:avLst>
          </a:prstGeom>
          <a:solidFill>
            <a:srgbClr val="FBFAF6"/>
          </a:solidFill>
          <a:ln w="6350">
            <a:solidFill>
              <a:srgbClr val="D5CFC2"/>
            </a:solidFill>
            <a:prstDash val="solid"/>
          </a:ln>
        </p:spPr>
        <p:txBody>
          <a:bodyPr/>
          <a:lstStyle/>
          <a:p>
            <a:endParaRPr lang="en-US"/>
          </a:p>
        </p:txBody>
      </p:sp>
      <p:sp>
        <p:nvSpPr>
          <p:cNvPr id="7" name="Text 5"/>
          <p:cNvSpPr/>
          <p:nvPr/>
        </p:nvSpPr>
        <p:spPr>
          <a:xfrm>
            <a:off x="4595217" y="1591270"/>
            <a:ext cx="3091510"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2. Untrusted content</a:t>
            </a:r>
            <a:endParaRPr lang="en-US" sz="1800"/>
          </a:p>
        </p:txBody>
      </p:sp>
      <p:sp>
        <p:nvSpPr>
          <p:cNvPr id="8" name="Text 6"/>
          <p:cNvSpPr/>
          <p:nvPr/>
        </p:nvSpPr>
        <p:spPr>
          <a:xfrm>
            <a:off x="4595217" y="1930301"/>
            <a:ext cx="3091510" cy="718641"/>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652"/>
                </a:solidFill>
                <a:latin typeface="Inter" pitchFamily="34" charset="0"/>
                <a:ea typeface="Inter" pitchFamily="34" charset="-122"/>
                <a:cs typeface="Inter" pitchFamily="34" charset="-120"/>
              </a:rPr>
              <a:t>Public issues, web pages, emails, dependency READMEs, anything an outsider can write.</a:t>
            </a:r>
            <a:endParaRPr lang="en-US" sz="1300"/>
          </a:p>
        </p:txBody>
      </p:sp>
      <p:sp>
        <p:nvSpPr>
          <p:cNvPr id="9" name="Shape 7"/>
          <p:cNvSpPr/>
          <p:nvPr/>
        </p:nvSpPr>
        <p:spPr>
          <a:xfrm>
            <a:off x="7961809" y="1384895"/>
            <a:ext cx="3414216" cy="1445022"/>
          </a:xfrm>
          <a:prstGeom prst="roundRect">
            <a:avLst>
              <a:gd name="adj" fmla="val 6811"/>
            </a:avLst>
          </a:prstGeom>
          <a:solidFill>
            <a:srgbClr val="FBFAF6"/>
          </a:solidFill>
          <a:ln w="6350">
            <a:solidFill>
              <a:srgbClr val="D5CFC2"/>
            </a:solidFill>
            <a:prstDash val="solid"/>
          </a:ln>
        </p:spPr>
        <p:txBody>
          <a:bodyPr/>
          <a:lstStyle/>
          <a:p>
            <a:endParaRPr lang="en-US"/>
          </a:p>
        </p:txBody>
      </p:sp>
      <p:sp>
        <p:nvSpPr>
          <p:cNvPr id="10" name="Text 8"/>
          <p:cNvSpPr/>
          <p:nvPr/>
        </p:nvSpPr>
        <p:spPr>
          <a:xfrm>
            <a:off x="8168184" y="1591270"/>
            <a:ext cx="3204666"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3. External communication</a:t>
            </a:r>
            <a:endParaRPr lang="en-US" sz="1800"/>
          </a:p>
        </p:txBody>
      </p:sp>
      <p:sp>
        <p:nvSpPr>
          <p:cNvPr id="11" name="Text 9"/>
          <p:cNvSpPr/>
          <p:nvPr/>
        </p:nvSpPr>
        <p:spPr>
          <a:xfrm>
            <a:off x="8168184" y="1930301"/>
            <a:ext cx="3091510" cy="487561"/>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652"/>
                </a:solidFill>
                <a:latin typeface="Inter" pitchFamily="34" charset="0"/>
                <a:ea typeface="Inter" pitchFamily="34" charset="-122"/>
                <a:cs typeface="Inter" pitchFamily="34" charset="-120"/>
              </a:rPr>
              <a:t>Posting comments, calling URLs, sending email, opening pull requests.</a:t>
            </a:r>
            <a:endParaRPr lang="en-US" sz="1300"/>
          </a:p>
        </p:txBody>
      </p:sp>
      <p:sp>
        <p:nvSpPr>
          <p:cNvPr id="12" name="Text 10"/>
          <p:cNvSpPr/>
          <p:nvPr/>
        </p:nvSpPr>
        <p:spPr>
          <a:xfrm>
            <a:off x="812800" y="3010892"/>
            <a:ext cx="11379200" cy="292100"/>
          </a:xfrm>
          <a:prstGeom prst="rect">
            <a:avLst/>
          </a:prstGeom>
          <a:noFill/>
          <a:ln/>
        </p:spPr>
        <p:txBody>
          <a:bodyPr wrap="square" lIns="0" tIns="0" rIns="0" bIns="0" rtlCol="0" anchor="t">
            <a:normAutofit/>
          </a:bodyPr>
          <a:lstStyle/>
          <a:p>
            <a:pPr marL="0" indent="0" algn="l">
              <a:lnSpc>
                <a:spcPts val="2100"/>
              </a:lnSpc>
              <a:buNone/>
            </a:pPr>
            <a:r>
              <a:rPr lang="en-US" sz="1500" b="1">
                <a:solidFill>
                  <a:srgbClr val="16202A"/>
                </a:solidFill>
                <a:latin typeface="Inter" pitchFamily="34" charset="0"/>
                <a:ea typeface="Inter" pitchFamily="34" charset="-122"/>
                <a:cs typeface="Inter" pitchFamily="34" charset="-120"/>
              </a:rPr>
              <a:t>When one agent session has all three, a hidden instruction in the untrusted content can send the private data out.</a:t>
            </a:r>
            <a:endParaRPr lang="en-US" sz="1500"/>
          </a:p>
        </p:txBody>
      </p:sp>
      <p:sp>
        <p:nvSpPr>
          <p:cNvPr id="13" name="Text 11"/>
          <p:cNvSpPr/>
          <p:nvPr/>
        </p:nvSpPr>
        <p:spPr>
          <a:xfrm>
            <a:off x="812800" y="3455392"/>
            <a:ext cx="10883392" cy="523081"/>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Example: an agent that reads private repos, triages public issues and posts comments. Remove at least one leg: split the agent, drop the write access, or cut the private data. Filters are not a control.</a:t>
            </a:r>
            <a:endParaRPr lang="en-US" sz="1400"/>
          </a:p>
        </p:txBody>
      </p:sp>
      <p:sp>
        <p:nvSpPr>
          <p:cNvPr id="14" name="Text 1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15" name="Text 13"/>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a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Five risks and the control that answers each</a:t>
            </a:r>
            <a:endParaRPr lang="en-US" sz="2800"/>
          </a:p>
        </p:txBody>
      </p:sp>
      <p:sp>
        <p:nvSpPr>
          <p:cNvPr id="3" name="Shape 1"/>
          <p:cNvSpPr/>
          <p:nvPr/>
        </p:nvSpPr>
        <p:spPr>
          <a:xfrm>
            <a:off x="812800" y="1807766"/>
            <a:ext cx="10566400" cy="0"/>
          </a:xfrm>
          <a:prstGeom prst="line">
            <a:avLst/>
          </a:prstGeom>
          <a:noFill/>
          <a:ln w="19050">
            <a:solidFill>
              <a:srgbClr val="16202A"/>
            </a:solidFill>
            <a:prstDash val="solid"/>
          </a:ln>
        </p:spPr>
        <p:txBody>
          <a:bodyPr/>
          <a:lstStyle/>
          <a:p>
            <a:endParaRPr lang="en-US"/>
          </a:p>
        </p:txBody>
      </p:sp>
      <p:sp>
        <p:nvSpPr>
          <p:cNvPr id="4" name="Text 2"/>
          <p:cNvSpPr/>
          <p:nvPr/>
        </p:nvSpPr>
        <p:spPr>
          <a:xfrm>
            <a:off x="812800" y="1483320"/>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RISK</a:t>
            </a:r>
            <a:endParaRPr lang="en-US" sz="1200"/>
          </a:p>
        </p:txBody>
      </p:sp>
      <p:sp>
        <p:nvSpPr>
          <p:cNvPr id="5" name="Text 3"/>
          <p:cNvSpPr/>
          <p:nvPr/>
        </p:nvSpPr>
        <p:spPr>
          <a:xfrm>
            <a:off x="4038600" y="1483320"/>
            <a:ext cx="719455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CONTROL</a:t>
            </a:r>
            <a:endParaRPr lang="en-US" sz="1200"/>
          </a:p>
        </p:txBody>
      </p:sp>
      <p:sp>
        <p:nvSpPr>
          <p:cNvPr id="6" name="Shape 4"/>
          <p:cNvSpPr/>
          <p:nvPr/>
        </p:nvSpPr>
        <p:spPr>
          <a:xfrm>
            <a:off x="812800" y="2339876"/>
            <a:ext cx="10566400" cy="0"/>
          </a:xfrm>
          <a:prstGeom prst="line">
            <a:avLst/>
          </a:prstGeom>
          <a:noFill/>
          <a:ln w="6350">
            <a:solidFill>
              <a:srgbClr val="D5CFC2"/>
            </a:solidFill>
            <a:prstDash val="solid"/>
          </a:ln>
        </p:spPr>
        <p:txBody>
          <a:bodyPr/>
          <a:lstStyle/>
          <a:p>
            <a:endParaRPr lang="en-US"/>
          </a:p>
        </p:txBody>
      </p:sp>
      <p:sp>
        <p:nvSpPr>
          <p:cNvPr id="7" name="Text 5"/>
          <p:cNvSpPr/>
          <p:nvPr/>
        </p:nvSpPr>
        <p:spPr>
          <a:xfrm>
            <a:off x="812800" y="1956991"/>
            <a:ext cx="313944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Prompt injection</a:t>
            </a:r>
            <a:endParaRPr lang="en-US" sz="1400"/>
          </a:p>
        </p:txBody>
      </p:sp>
      <p:sp>
        <p:nvSpPr>
          <p:cNvPr id="8" name="Text 6"/>
          <p:cNvSpPr/>
          <p:nvPr/>
        </p:nvSpPr>
        <p:spPr>
          <a:xfrm>
            <a:off x="4038600" y="1956991"/>
            <a:ext cx="719455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Treat all fetched content as untrusted. Limit tools and egress. Break the trifecta.</a:t>
            </a:r>
            <a:endParaRPr lang="en-US" sz="1400"/>
          </a:p>
        </p:txBody>
      </p:sp>
      <p:sp>
        <p:nvSpPr>
          <p:cNvPr id="9" name="Shape 7"/>
          <p:cNvSpPr/>
          <p:nvPr/>
        </p:nvSpPr>
        <p:spPr>
          <a:xfrm>
            <a:off x="812800" y="2865636"/>
            <a:ext cx="10566400" cy="0"/>
          </a:xfrm>
          <a:prstGeom prst="line">
            <a:avLst/>
          </a:prstGeom>
          <a:noFill/>
          <a:ln w="6350">
            <a:solidFill>
              <a:srgbClr val="D5CFC2"/>
            </a:solidFill>
            <a:prstDash val="solid"/>
          </a:ln>
        </p:spPr>
        <p:txBody>
          <a:bodyPr/>
          <a:lstStyle/>
          <a:p>
            <a:endParaRPr lang="en-US"/>
          </a:p>
        </p:txBody>
      </p:sp>
      <p:sp>
        <p:nvSpPr>
          <p:cNvPr id="10" name="Text 8"/>
          <p:cNvSpPr/>
          <p:nvPr/>
        </p:nvSpPr>
        <p:spPr>
          <a:xfrm>
            <a:off x="812800" y="2482751"/>
            <a:ext cx="313944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Data leakage</a:t>
            </a:r>
            <a:endParaRPr lang="en-US" sz="1400"/>
          </a:p>
        </p:txBody>
      </p:sp>
      <p:sp>
        <p:nvSpPr>
          <p:cNvPr id="11" name="Text 9"/>
          <p:cNvSpPr/>
          <p:nvPr/>
        </p:nvSpPr>
        <p:spPr>
          <a:xfrm>
            <a:off x="4038600" y="2482751"/>
            <a:ext cx="719455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Classify data. Approved tools and plans only. Redact before prompting.</a:t>
            </a:r>
            <a:endParaRPr lang="en-US" sz="1400"/>
          </a:p>
        </p:txBody>
      </p:sp>
      <p:sp>
        <p:nvSpPr>
          <p:cNvPr id="12" name="Shape 10"/>
          <p:cNvSpPr/>
          <p:nvPr/>
        </p:nvSpPr>
        <p:spPr>
          <a:xfrm>
            <a:off x="812800" y="3391396"/>
            <a:ext cx="10566400" cy="0"/>
          </a:xfrm>
          <a:prstGeom prst="line">
            <a:avLst/>
          </a:prstGeom>
          <a:noFill/>
          <a:ln w="6350">
            <a:solidFill>
              <a:srgbClr val="D5CFC2"/>
            </a:solidFill>
            <a:prstDash val="solid"/>
          </a:ln>
        </p:spPr>
        <p:txBody>
          <a:bodyPr/>
          <a:lstStyle/>
          <a:p>
            <a:endParaRPr lang="en-US"/>
          </a:p>
        </p:txBody>
      </p:sp>
      <p:sp>
        <p:nvSpPr>
          <p:cNvPr id="13" name="Text 11"/>
          <p:cNvSpPr/>
          <p:nvPr/>
        </p:nvSpPr>
        <p:spPr>
          <a:xfrm>
            <a:off x="812800" y="3008511"/>
            <a:ext cx="313944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Insecure or unreviewed code</a:t>
            </a:r>
            <a:endParaRPr lang="en-US" sz="1400"/>
          </a:p>
        </p:txBody>
      </p:sp>
      <p:sp>
        <p:nvSpPr>
          <p:cNvPr id="14" name="Text 12"/>
          <p:cNvSpPr/>
          <p:nvPr/>
        </p:nvSpPr>
        <p:spPr>
          <a:xfrm>
            <a:off x="4038600" y="3008511"/>
            <a:ext cx="719455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Same review and scanning as human code. Mark AI-assisted changes in the PR.</a:t>
            </a:r>
            <a:endParaRPr lang="en-US" sz="1400"/>
          </a:p>
        </p:txBody>
      </p:sp>
      <p:sp>
        <p:nvSpPr>
          <p:cNvPr id="15" name="Shape 13"/>
          <p:cNvSpPr/>
          <p:nvPr/>
        </p:nvSpPr>
        <p:spPr>
          <a:xfrm>
            <a:off x="812800" y="4157166"/>
            <a:ext cx="10566400" cy="0"/>
          </a:xfrm>
          <a:prstGeom prst="line">
            <a:avLst/>
          </a:prstGeom>
          <a:noFill/>
          <a:ln w="6350">
            <a:solidFill>
              <a:srgbClr val="D5CFC2"/>
            </a:solidFill>
            <a:prstDash val="solid"/>
          </a:ln>
        </p:spPr>
        <p:txBody>
          <a:bodyPr/>
          <a:lstStyle/>
          <a:p>
            <a:endParaRPr lang="en-US"/>
          </a:p>
        </p:txBody>
      </p:sp>
      <p:sp>
        <p:nvSpPr>
          <p:cNvPr id="16" name="Text 14"/>
          <p:cNvSpPr/>
          <p:nvPr/>
        </p:nvSpPr>
        <p:spPr>
          <a:xfrm>
            <a:off x="812800" y="3534271"/>
            <a:ext cx="3139440" cy="50542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Supply chain</a:t>
            </a:r>
            <a:endParaRPr lang="en-US" sz="1400"/>
          </a:p>
        </p:txBody>
      </p:sp>
      <p:sp>
        <p:nvSpPr>
          <p:cNvPr id="17" name="Text 15"/>
          <p:cNvSpPr/>
          <p:nvPr/>
        </p:nvSpPr>
        <p:spPr>
          <a:xfrm>
            <a:off x="4038600" y="3534271"/>
            <a:ext cx="7194550" cy="50542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Vet MCP servers and skills like dependencies. Pin versions. Check any package an agent suggests.</a:t>
            </a:r>
            <a:endParaRPr lang="en-US" sz="1400"/>
          </a:p>
        </p:txBody>
      </p:sp>
      <p:sp>
        <p:nvSpPr>
          <p:cNvPr id="18" name="Text 16"/>
          <p:cNvSpPr/>
          <p:nvPr/>
        </p:nvSpPr>
        <p:spPr>
          <a:xfrm>
            <a:off x="812800" y="4300041"/>
            <a:ext cx="313944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Excessive agency</a:t>
            </a:r>
            <a:endParaRPr lang="en-US" sz="1400"/>
          </a:p>
        </p:txBody>
      </p:sp>
      <p:sp>
        <p:nvSpPr>
          <p:cNvPr id="19" name="Text 17"/>
          <p:cNvSpPr/>
          <p:nvPr/>
        </p:nvSpPr>
        <p:spPr>
          <a:xfrm>
            <a:off x="4038600" y="4300041"/>
            <a:ext cx="719455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Least privilege, approval for state changes, audit logs, a kill switch.</a:t>
            </a:r>
            <a:endParaRPr lang="en-US" sz="140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21" name="Text 19"/>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Data privacy: decide what may go where</a:t>
            </a:r>
            <a:endParaRPr lang="en-US" sz="2800"/>
          </a:p>
        </p:txBody>
      </p:sp>
      <p:sp>
        <p:nvSpPr>
          <p:cNvPr id="3" name="Shape 1"/>
          <p:cNvSpPr/>
          <p:nvPr/>
        </p:nvSpPr>
        <p:spPr>
          <a:xfrm>
            <a:off x="815975" y="1410295"/>
            <a:ext cx="5175250" cy="2072184"/>
          </a:xfrm>
          <a:prstGeom prst="roundRect">
            <a:avLst>
              <a:gd name="adj" fmla="val 4750"/>
            </a:avLst>
          </a:prstGeom>
          <a:solidFill>
            <a:srgbClr val="FBFAF6"/>
          </a:solidFill>
          <a:ln w="6350">
            <a:solidFill>
              <a:srgbClr val="D5CFC2"/>
            </a:solidFill>
            <a:prstDash val="solid"/>
          </a:ln>
        </p:spPr>
        <p:txBody>
          <a:bodyPr/>
          <a:lstStyle/>
          <a:p>
            <a:endParaRPr lang="en-US"/>
          </a:p>
        </p:txBody>
      </p:sp>
      <p:sp>
        <p:nvSpPr>
          <p:cNvPr id="4" name="Text 2"/>
          <p:cNvSpPr/>
          <p:nvPr/>
        </p:nvSpPr>
        <p:spPr>
          <a:xfrm>
            <a:off x="1047750" y="1642070"/>
            <a:ext cx="4853051"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Ask every vendor</a:t>
            </a:r>
            <a:endParaRPr lang="en-US" sz="1800"/>
          </a:p>
        </p:txBody>
      </p:sp>
      <p:sp>
        <p:nvSpPr>
          <p:cNvPr id="5" name="Text 3"/>
          <p:cNvSpPr/>
          <p:nvPr/>
        </p:nvSpPr>
        <p:spPr>
          <a:xfrm>
            <a:off x="1047750" y="2006501"/>
            <a:ext cx="4853051" cy="1269603"/>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Is our data used for training?</a:t>
            </a:r>
            <a:endParaRPr lang="en-US" sz="1400"/>
          </a:p>
          <a:p>
            <a:pPr marL="0" indent="0" algn="l">
              <a:lnSpc>
                <a:spcPts val="1960"/>
              </a:lnSpc>
              <a:buNone/>
            </a:pPr>
            <a:r>
              <a:rPr lang="en-US" sz="1400">
                <a:solidFill>
                  <a:srgbClr val="3B4652"/>
                </a:solidFill>
                <a:latin typeface="Inter" pitchFamily="34" charset="0"/>
                <a:ea typeface="Inter" pitchFamily="34" charset="-122"/>
                <a:cs typeface="Inter" pitchFamily="34" charset="-120"/>
              </a:rPr>
              <a:t>How long is it retained?</a:t>
            </a:r>
            <a:endParaRPr lang="en-US" sz="1400"/>
          </a:p>
          <a:p>
            <a:pPr marL="0" indent="0" algn="l">
              <a:lnSpc>
                <a:spcPts val="1960"/>
              </a:lnSpc>
              <a:buNone/>
            </a:pPr>
            <a:r>
              <a:rPr lang="en-US" sz="1400">
                <a:solidFill>
                  <a:srgbClr val="3B4652"/>
                </a:solidFill>
                <a:latin typeface="Inter" pitchFamily="34" charset="0"/>
                <a:ea typeface="Inter" pitchFamily="34" charset="-122"/>
                <a:cs typeface="Inter" pitchFamily="34" charset="-120"/>
              </a:rPr>
              <a:t>Which region is it processed in?</a:t>
            </a:r>
            <a:endParaRPr lang="en-US" sz="1400"/>
          </a:p>
          <a:p>
            <a:pPr marL="0" indent="0" algn="l">
              <a:lnSpc>
                <a:spcPts val="1960"/>
              </a:lnSpc>
              <a:buNone/>
            </a:pPr>
            <a:r>
              <a:rPr lang="en-US" sz="1400">
                <a:solidFill>
                  <a:srgbClr val="3B4652"/>
                </a:solidFill>
                <a:latin typeface="Inter" pitchFamily="34" charset="0"/>
                <a:ea typeface="Inter" pitchFamily="34" charset="-122"/>
                <a:cs typeface="Inter" pitchFamily="34" charset="-120"/>
              </a:rPr>
              <a:t>Is there an admin audit log?</a:t>
            </a:r>
            <a:endParaRPr lang="en-US" sz="1400"/>
          </a:p>
          <a:p>
            <a:pPr marL="0" indent="0" algn="l">
              <a:lnSpc>
                <a:spcPts val="1960"/>
              </a:lnSpc>
              <a:buNone/>
            </a:pPr>
            <a:r>
              <a:rPr lang="en-US" sz="1400">
                <a:solidFill>
                  <a:srgbClr val="3B4652"/>
                </a:solidFill>
                <a:latin typeface="Inter" pitchFamily="34" charset="0"/>
                <a:ea typeface="Inter" pitchFamily="34" charset="-122"/>
                <a:cs typeface="Inter" pitchFamily="34" charset="-120"/>
              </a:rPr>
              <a:t>What leaves the machine, and when?</a:t>
            </a:r>
            <a:endParaRPr lang="en-US" sz="1400"/>
          </a:p>
        </p:txBody>
      </p:sp>
      <p:sp>
        <p:nvSpPr>
          <p:cNvPr id="6" name="Shape 4"/>
          <p:cNvSpPr/>
          <p:nvPr/>
        </p:nvSpPr>
        <p:spPr>
          <a:xfrm>
            <a:off x="6200775" y="1410295"/>
            <a:ext cx="5175250" cy="2072184"/>
          </a:xfrm>
          <a:prstGeom prst="roundRect">
            <a:avLst>
              <a:gd name="adj" fmla="val 4750"/>
            </a:avLst>
          </a:prstGeom>
          <a:solidFill>
            <a:srgbClr val="FBFAF6"/>
          </a:solidFill>
          <a:ln w="6350">
            <a:solidFill>
              <a:srgbClr val="D5CFC2"/>
            </a:solidFill>
            <a:prstDash val="solid"/>
          </a:ln>
        </p:spPr>
        <p:txBody>
          <a:bodyPr/>
          <a:lstStyle/>
          <a:p>
            <a:endParaRPr lang="en-US"/>
          </a:p>
        </p:txBody>
      </p:sp>
      <p:sp>
        <p:nvSpPr>
          <p:cNvPr id="7" name="Text 5"/>
          <p:cNvSpPr/>
          <p:nvPr/>
        </p:nvSpPr>
        <p:spPr>
          <a:xfrm>
            <a:off x="6432550" y="1642070"/>
            <a:ext cx="4853051"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Classify the data</a:t>
            </a:r>
            <a:endParaRPr lang="en-US" sz="1800"/>
          </a:p>
        </p:txBody>
      </p:sp>
      <p:sp>
        <p:nvSpPr>
          <p:cNvPr id="8" name="Text 6"/>
          <p:cNvSpPr/>
          <p:nvPr/>
        </p:nvSpPr>
        <p:spPr>
          <a:xfrm>
            <a:off x="6432550" y="2006501"/>
            <a:ext cx="4853051" cy="1020763"/>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3B4652"/>
                </a:solidFill>
                <a:latin typeface="Inter" pitchFamily="34" charset="0"/>
                <a:ea typeface="Inter" pitchFamily="34" charset="-122"/>
                <a:cs typeface="Inter" pitchFamily="34" charset="-120"/>
              </a:rPr>
              <a:t>Public:</a:t>
            </a:r>
            <a:r>
              <a:rPr lang="en-US" sz="1400">
                <a:solidFill>
                  <a:srgbClr val="3B4652"/>
                </a:solidFill>
                <a:latin typeface="Inter" pitchFamily="34" charset="0"/>
                <a:ea typeface="Inter" pitchFamily="34" charset="-122"/>
                <a:cs typeface="Inter" pitchFamily="34" charset="-120"/>
              </a:rPr>
              <a:t> any approved tool.</a:t>
            </a:r>
            <a:endParaRPr lang="en-US" sz="1400"/>
          </a:p>
          <a:p>
            <a:pPr marL="0" indent="0" algn="l">
              <a:lnSpc>
                <a:spcPts val="1960"/>
              </a:lnSpc>
              <a:buNone/>
            </a:pPr>
            <a:r>
              <a:rPr lang="en-US" sz="1400" b="1">
                <a:solidFill>
                  <a:srgbClr val="3B4652"/>
                </a:solidFill>
                <a:latin typeface="Inter" pitchFamily="34" charset="0"/>
                <a:ea typeface="Inter" pitchFamily="34" charset="-122"/>
                <a:cs typeface="Inter" pitchFamily="34" charset="-120"/>
              </a:rPr>
              <a:t>Internal:</a:t>
            </a:r>
            <a:r>
              <a:rPr lang="en-US" sz="1400">
                <a:solidFill>
                  <a:srgbClr val="3B4652"/>
                </a:solidFill>
                <a:latin typeface="Inter" pitchFamily="34" charset="0"/>
                <a:ea typeface="Inter" pitchFamily="34" charset="-122"/>
                <a:cs typeface="Inter" pitchFamily="34" charset="-120"/>
              </a:rPr>
              <a:t> approved tools on business plans.</a:t>
            </a:r>
            <a:endParaRPr lang="en-US" sz="1400"/>
          </a:p>
          <a:p>
            <a:pPr marL="0" indent="0" algn="l">
              <a:lnSpc>
                <a:spcPts val="1960"/>
              </a:lnSpc>
              <a:buNone/>
            </a:pPr>
            <a:r>
              <a:rPr lang="en-US" sz="1400" b="1">
                <a:solidFill>
                  <a:srgbClr val="3B4652"/>
                </a:solidFill>
                <a:latin typeface="Inter" pitchFamily="34" charset="0"/>
                <a:ea typeface="Inter" pitchFamily="34" charset="-122"/>
                <a:cs typeface="Inter" pitchFamily="34" charset="-120"/>
              </a:rPr>
              <a:t>Confidential:</a:t>
            </a:r>
            <a:r>
              <a:rPr lang="en-US" sz="1400">
                <a:solidFill>
                  <a:srgbClr val="3B4652"/>
                </a:solidFill>
                <a:latin typeface="Inter" pitchFamily="34" charset="0"/>
                <a:ea typeface="Inter" pitchFamily="34" charset="-122"/>
                <a:cs typeface="Inter" pitchFamily="34" charset="-120"/>
              </a:rPr>
              <a:t> approved tools with named exceptions.</a:t>
            </a:r>
            <a:endParaRPr lang="en-US" sz="1400"/>
          </a:p>
          <a:p>
            <a:pPr marL="0" indent="0" algn="l">
              <a:lnSpc>
                <a:spcPts val="1960"/>
              </a:lnSpc>
              <a:buNone/>
            </a:pPr>
            <a:r>
              <a:rPr lang="en-US" sz="1400" b="1">
                <a:solidFill>
                  <a:srgbClr val="3B4652"/>
                </a:solidFill>
                <a:latin typeface="Inter" pitchFamily="34" charset="0"/>
                <a:ea typeface="Inter" pitchFamily="34" charset="-122"/>
                <a:cs typeface="Inter" pitchFamily="34" charset="-120"/>
              </a:rPr>
              <a:t>Regulated:</a:t>
            </a:r>
            <a:r>
              <a:rPr lang="en-US" sz="1400">
                <a:solidFill>
                  <a:srgbClr val="3B4652"/>
                </a:solidFill>
                <a:latin typeface="Inter" pitchFamily="34" charset="0"/>
                <a:ea typeface="Inter" pitchFamily="34" charset="-122"/>
                <a:cs typeface="Inter" pitchFamily="34" charset="-120"/>
              </a:rPr>
              <a:t> only where legal has signed off.</a:t>
            </a:r>
            <a:endParaRPr lang="en-US" sz="1400"/>
          </a:p>
        </p:txBody>
      </p:sp>
      <p:sp>
        <p:nvSpPr>
          <p:cNvPr id="9" name="Text 7"/>
          <p:cNvSpPr/>
          <p:nvPr/>
        </p:nvSpPr>
        <p:spPr>
          <a:xfrm>
            <a:off x="812800" y="3688854"/>
            <a:ext cx="10883392" cy="274241"/>
          </a:xfrm>
          <a:prstGeom prst="rect">
            <a:avLst/>
          </a:prstGeom>
          <a:noFill/>
          <a:ln/>
        </p:spPr>
        <p:txBody>
          <a:bodyPr wrap="square" lIns="0" tIns="0" rIns="0" bIns="0" rtlCol="0" anchor="t">
            <a:normAutofit/>
          </a:bodyPr>
          <a:lstStyle/>
          <a:p>
            <a:pPr marL="0" indent="0" algn="l">
              <a:lnSpc>
                <a:spcPts val="1960"/>
              </a:lnSpc>
              <a:buNone/>
            </a:pPr>
            <a:endParaRPr lang="en-US" sz="1400">
              <a:solidFill>
                <a:srgbClr val="3B4652"/>
              </a:solidFill>
            </a:endParaRPr>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11" name="Text 9"/>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Evals: a small test suite for the agent itself</a:t>
            </a:r>
            <a:endParaRPr lang="en-US" sz="2800"/>
          </a:p>
        </p:txBody>
      </p:sp>
      <p:sp>
        <p:nvSpPr>
          <p:cNvPr id="3" name="Shape 1"/>
          <p:cNvSpPr/>
          <p:nvPr/>
        </p:nvSpPr>
        <p:spPr>
          <a:xfrm>
            <a:off x="812800" y="1807766"/>
            <a:ext cx="10566400" cy="0"/>
          </a:xfrm>
          <a:prstGeom prst="line">
            <a:avLst/>
          </a:prstGeom>
          <a:noFill/>
          <a:ln w="19050">
            <a:solidFill>
              <a:srgbClr val="16202A"/>
            </a:solidFill>
            <a:prstDash val="solid"/>
          </a:ln>
        </p:spPr>
        <p:txBody>
          <a:bodyPr/>
          <a:lstStyle/>
          <a:p>
            <a:endParaRPr lang="en-US"/>
          </a:p>
        </p:txBody>
      </p:sp>
      <p:sp>
        <p:nvSpPr>
          <p:cNvPr id="4" name="Text 2"/>
          <p:cNvSpPr/>
          <p:nvPr/>
        </p:nvSpPr>
        <p:spPr>
          <a:xfrm>
            <a:off x="812800" y="1483320"/>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PART</a:t>
            </a:r>
            <a:endParaRPr lang="en-US" sz="1200"/>
          </a:p>
        </p:txBody>
      </p:sp>
      <p:sp>
        <p:nvSpPr>
          <p:cNvPr id="5" name="Text 3"/>
          <p:cNvSpPr/>
          <p:nvPr/>
        </p:nvSpPr>
        <p:spPr>
          <a:xfrm>
            <a:off x="3911600" y="1483320"/>
            <a:ext cx="732536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4F5B67"/>
                </a:solidFill>
                <a:latin typeface="Inter" pitchFamily="34" charset="0"/>
                <a:ea typeface="Inter" pitchFamily="34" charset="-122"/>
                <a:cs typeface="Inter" pitchFamily="34" charset="-120"/>
              </a:rPr>
              <a:t>WHAT IT MEANS</a:t>
            </a:r>
            <a:endParaRPr lang="en-US" sz="1200"/>
          </a:p>
        </p:txBody>
      </p:sp>
      <p:sp>
        <p:nvSpPr>
          <p:cNvPr id="6" name="Shape 4"/>
          <p:cNvSpPr/>
          <p:nvPr/>
        </p:nvSpPr>
        <p:spPr>
          <a:xfrm>
            <a:off x="812800" y="2339876"/>
            <a:ext cx="10566400" cy="0"/>
          </a:xfrm>
          <a:prstGeom prst="line">
            <a:avLst/>
          </a:prstGeom>
          <a:noFill/>
          <a:ln w="6350">
            <a:solidFill>
              <a:srgbClr val="D5CFC2"/>
            </a:solidFill>
            <a:prstDash val="solid"/>
          </a:ln>
        </p:spPr>
        <p:txBody>
          <a:bodyPr/>
          <a:lstStyle/>
          <a:p>
            <a:endParaRPr lang="en-US"/>
          </a:p>
        </p:txBody>
      </p:sp>
      <p:sp>
        <p:nvSpPr>
          <p:cNvPr id="7" name="Text 5"/>
          <p:cNvSpPr/>
          <p:nvPr/>
        </p:nvSpPr>
        <p:spPr>
          <a:xfrm>
            <a:off x="812800" y="1956991"/>
            <a:ext cx="300863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Fixed cases</a:t>
            </a:r>
            <a:endParaRPr lang="en-US" sz="1400"/>
          </a:p>
        </p:txBody>
      </p:sp>
      <p:sp>
        <p:nvSpPr>
          <p:cNvPr id="8" name="Text 6"/>
          <p:cNvSpPr/>
          <p:nvPr/>
        </p:nvSpPr>
        <p:spPr>
          <a:xfrm>
            <a:off x="3911600" y="1956991"/>
            <a:ext cx="732536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Real past changes with a known right answer, kept in the repo.</a:t>
            </a:r>
            <a:endParaRPr lang="en-US" sz="1400"/>
          </a:p>
        </p:txBody>
      </p:sp>
      <p:sp>
        <p:nvSpPr>
          <p:cNvPr id="9" name="Shape 7"/>
          <p:cNvSpPr/>
          <p:nvPr/>
        </p:nvSpPr>
        <p:spPr>
          <a:xfrm>
            <a:off x="812800" y="2865636"/>
            <a:ext cx="10566400" cy="0"/>
          </a:xfrm>
          <a:prstGeom prst="line">
            <a:avLst/>
          </a:prstGeom>
          <a:noFill/>
          <a:ln w="6350">
            <a:solidFill>
              <a:srgbClr val="D5CFC2"/>
            </a:solidFill>
            <a:prstDash val="solid"/>
          </a:ln>
        </p:spPr>
        <p:txBody>
          <a:bodyPr/>
          <a:lstStyle/>
          <a:p>
            <a:endParaRPr lang="en-US"/>
          </a:p>
        </p:txBody>
      </p:sp>
      <p:sp>
        <p:nvSpPr>
          <p:cNvPr id="10" name="Text 8"/>
          <p:cNvSpPr/>
          <p:nvPr/>
        </p:nvSpPr>
        <p:spPr>
          <a:xfrm>
            <a:off x="812800" y="2482751"/>
            <a:ext cx="300863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Clean cases</a:t>
            </a:r>
            <a:endParaRPr lang="en-US" sz="1400"/>
          </a:p>
        </p:txBody>
      </p:sp>
      <p:sp>
        <p:nvSpPr>
          <p:cNvPr id="11" name="Text 9"/>
          <p:cNvSpPr/>
          <p:nvPr/>
        </p:nvSpPr>
        <p:spPr>
          <a:xfrm>
            <a:off x="3911600" y="2482751"/>
            <a:ext cx="732536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Changes with no problem, to measure false alarms.</a:t>
            </a:r>
            <a:endParaRPr lang="en-US" sz="1400"/>
          </a:p>
        </p:txBody>
      </p:sp>
      <p:sp>
        <p:nvSpPr>
          <p:cNvPr id="12" name="Shape 10"/>
          <p:cNvSpPr/>
          <p:nvPr/>
        </p:nvSpPr>
        <p:spPr>
          <a:xfrm>
            <a:off x="812800" y="3391396"/>
            <a:ext cx="10566400" cy="0"/>
          </a:xfrm>
          <a:prstGeom prst="line">
            <a:avLst/>
          </a:prstGeom>
          <a:noFill/>
          <a:ln w="6350">
            <a:solidFill>
              <a:srgbClr val="D5CFC2"/>
            </a:solidFill>
            <a:prstDash val="solid"/>
          </a:ln>
        </p:spPr>
        <p:txBody>
          <a:bodyPr/>
          <a:lstStyle/>
          <a:p>
            <a:endParaRPr lang="en-US"/>
          </a:p>
        </p:txBody>
      </p:sp>
      <p:sp>
        <p:nvSpPr>
          <p:cNvPr id="13" name="Text 11"/>
          <p:cNvSpPr/>
          <p:nvPr/>
        </p:nvSpPr>
        <p:spPr>
          <a:xfrm>
            <a:off x="812800" y="3008511"/>
            <a:ext cx="300863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Repeated runs</a:t>
            </a:r>
            <a:endParaRPr lang="en-US" sz="1400"/>
          </a:p>
        </p:txBody>
      </p:sp>
      <p:sp>
        <p:nvSpPr>
          <p:cNvPr id="14" name="Text 12"/>
          <p:cNvSpPr/>
          <p:nvPr/>
        </p:nvSpPr>
        <p:spPr>
          <a:xfrm>
            <a:off x="3911600" y="3008511"/>
            <a:ext cx="732536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Output varies, so run several times and track rates.</a:t>
            </a:r>
            <a:endParaRPr lang="en-US" sz="1400"/>
          </a:p>
        </p:txBody>
      </p:sp>
      <p:sp>
        <p:nvSpPr>
          <p:cNvPr id="15" name="Shape 13"/>
          <p:cNvSpPr/>
          <p:nvPr/>
        </p:nvSpPr>
        <p:spPr>
          <a:xfrm>
            <a:off x="812800" y="3917156"/>
            <a:ext cx="10566400" cy="0"/>
          </a:xfrm>
          <a:prstGeom prst="line">
            <a:avLst/>
          </a:prstGeom>
          <a:noFill/>
          <a:ln w="6350">
            <a:solidFill>
              <a:srgbClr val="D5CFC2"/>
            </a:solidFill>
            <a:prstDash val="solid"/>
          </a:ln>
        </p:spPr>
        <p:txBody>
          <a:bodyPr/>
          <a:lstStyle/>
          <a:p>
            <a:endParaRPr lang="en-US"/>
          </a:p>
        </p:txBody>
      </p:sp>
      <p:sp>
        <p:nvSpPr>
          <p:cNvPr id="16" name="Text 14"/>
          <p:cNvSpPr/>
          <p:nvPr/>
        </p:nvSpPr>
        <p:spPr>
          <a:xfrm>
            <a:off x="812800" y="3534271"/>
            <a:ext cx="300863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Scoring</a:t>
            </a:r>
            <a:endParaRPr lang="en-US" sz="1400"/>
          </a:p>
        </p:txBody>
      </p:sp>
      <p:sp>
        <p:nvSpPr>
          <p:cNvPr id="17" name="Text 15"/>
          <p:cNvSpPr/>
          <p:nvPr/>
        </p:nvSpPr>
        <p:spPr>
          <a:xfrm>
            <a:off x="3911600" y="3534271"/>
            <a:ext cx="732536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Caught, missed, false alarm. Keep it simple enough to do by hand.</a:t>
            </a:r>
            <a:endParaRPr lang="en-US" sz="1400"/>
          </a:p>
        </p:txBody>
      </p:sp>
      <p:sp>
        <p:nvSpPr>
          <p:cNvPr id="18" name="Text 16"/>
          <p:cNvSpPr/>
          <p:nvPr/>
        </p:nvSpPr>
        <p:spPr>
          <a:xfrm>
            <a:off x="812800" y="4060031"/>
            <a:ext cx="3008630" cy="265410"/>
          </a:xfrm>
          <a:prstGeom prst="rect">
            <a:avLst/>
          </a:prstGeom>
          <a:noFill/>
          <a:ln/>
        </p:spPr>
        <p:txBody>
          <a:bodyPr wrap="square" lIns="0" tIns="0" rIns="0" bIns="0" rtlCol="0" anchor="t">
            <a:normAutofit/>
          </a:bodyPr>
          <a:lstStyle/>
          <a:p>
            <a:pPr marL="0" indent="0" algn="l">
              <a:lnSpc>
                <a:spcPts val="1890"/>
              </a:lnSpc>
              <a:buNone/>
            </a:pPr>
            <a:r>
              <a:rPr lang="en-US" sz="1400" b="1">
                <a:solidFill>
                  <a:srgbClr val="16202A"/>
                </a:solidFill>
                <a:latin typeface="Inter" pitchFamily="34" charset="0"/>
                <a:ea typeface="Inter" pitchFamily="34" charset="-122"/>
                <a:cs typeface="Inter" pitchFamily="34" charset="-120"/>
              </a:rPr>
              <a:t>Re-run on change</a:t>
            </a:r>
            <a:endParaRPr lang="en-US" sz="1400"/>
          </a:p>
        </p:txBody>
      </p:sp>
      <p:sp>
        <p:nvSpPr>
          <p:cNvPr id="19" name="Text 17"/>
          <p:cNvSpPr/>
          <p:nvPr/>
        </p:nvSpPr>
        <p:spPr>
          <a:xfrm>
            <a:off x="3911600" y="4060031"/>
            <a:ext cx="7325360" cy="265410"/>
          </a:xfrm>
          <a:prstGeom prst="rect">
            <a:avLst/>
          </a:prstGeom>
          <a:noFill/>
          <a:ln/>
        </p:spPr>
        <p:txBody>
          <a:bodyPr wrap="square" lIns="0" tIns="0" rIns="0" bIns="0" rtlCol="0" anchor="t">
            <a:normAutofit/>
          </a:bodyPr>
          <a:lstStyle/>
          <a:p>
            <a:pPr marL="0" indent="0" algn="l">
              <a:lnSpc>
                <a:spcPts val="1890"/>
              </a:lnSpc>
              <a:buNone/>
            </a:pPr>
            <a:r>
              <a:rPr lang="en-US" sz="1400">
                <a:solidFill>
                  <a:srgbClr val="16202A"/>
                </a:solidFill>
                <a:latin typeface="Inter" pitchFamily="34" charset="0"/>
                <a:ea typeface="Inter" pitchFamily="34" charset="-122"/>
                <a:cs typeface="Inter" pitchFamily="34" charset="-120"/>
              </a:rPr>
              <a:t>Whenever the model, prompt or tool configuration changes.</a:t>
            </a:r>
            <a:endParaRPr lang="en-US" sz="140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711200"/>
            <a:ext cx="2243038" cy="314920"/>
          </a:xfrm>
          <a:prstGeom prst="roundRect">
            <a:avLst>
              <a:gd name="adj" fmla="val 50000"/>
            </a:avLst>
          </a:prstGeom>
          <a:solidFill>
            <a:srgbClr val="F5A524"/>
          </a:solidFill>
          <a:ln/>
        </p:spPr>
        <p:txBody>
          <a:bodyPr wrap="none" lIns="0" tIns="0" rIns="0" bIns="0" rtlCol="0" anchor="ctr">
            <a:normAutofit/>
          </a:bodyPr>
          <a:lstStyle/>
          <a:p>
            <a:pPr marL="0" indent="0" algn="ctr">
              <a:lnSpc>
                <a:spcPts val="1680"/>
              </a:lnSpc>
              <a:buNone/>
            </a:pPr>
            <a:r>
              <a:rPr lang="en-US" sz="1200" b="1" kern="0" spc="100">
                <a:solidFill>
                  <a:srgbClr val="16202A"/>
                </a:solidFill>
                <a:latin typeface="Inter"/>
              </a:rPr>
              <a:t>DEMO</a:t>
            </a:r>
            <a:endParaRPr lang="en-US" sz="1200">
              <a:latin typeface="Inter"/>
            </a:endParaRPr>
          </a:p>
        </p:txBody>
      </p:sp>
      <p:sp>
        <p:nvSpPr>
          <p:cNvPr id="3" name="Text 1"/>
          <p:cNvSpPr>
            <a:spLocks noGrp="1"/>
          </p:cNvSpPr>
          <p:nvPr>
            <p:ph type="title"/>
          </p:nvPr>
        </p:nvSpPr>
        <p:spPr>
          <a:xfrm>
            <a:off x="812800" y="1203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F4F1EA"/>
                </a:solidFill>
                <a:latin typeface="Space Grotesk" pitchFamily="34" charset="0"/>
                <a:ea typeface="Space Grotesk" pitchFamily="34" charset="-122"/>
                <a:cs typeface="Space Grotesk" pitchFamily="34" charset="-120"/>
              </a:rPr>
              <a:t>A quality gate and a tiny eval</a:t>
            </a:r>
            <a:endParaRPr lang="en-US" sz="2800"/>
          </a:p>
        </p:txBody>
      </p:sp>
      <p:sp>
        <p:nvSpPr>
          <p:cNvPr id="4" name="Shape 2"/>
          <p:cNvSpPr/>
          <p:nvPr/>
        </p:nvSpPr>
        <p:spPr>
          <a:xfrm>
            <a:off x="812800" y="1772841"/>
            <a:ext cx="10566400" cy="1135360"/>
          </a:xfrm>
          <a:prstGeom prst="roundRect">
            <a:avLst>
              <a:gd name="adj" fmla="val 8949"/>
            </a:avLst>
          </a:prstGeom>
          <a:solidFill>
            <a:srgbClr val="1B2733"/>
          </a:solidFill>
          <a:ln/>
        </p:spPr>
        <p:txBody>
          <a:bodyPr/>
          <a:lstStyle/>
          <a:p>
            <a:endParaRPr lang="en-US"/>
          </a:p>
        </p:txBody>
      </p:sp>
      <p:sp>
        <p:nvSpPr>
          <p:cNvPr id="5" name="Text 3"/>
          <p:cNvSpPr/>
          <p:nvPr/>
        </p:nvSpPr>
        <p:spPr>
          <a:xfrm>
            <a:off x="1016000" y="197604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PROMPT</a:t>
            </a:r>
            <a:endParaRPr lang="en-US" sz="1100"/>
          </a:p>
        </p:txBody>
      </p:sp>
      <p:sp>
        <p:nvSpPr>
          <p:cNvPr id="6" name="Text 4"/>
          <p:cNvSpPr/>
          <p:nvPr/>
        </p:nvSpPr>
        <p:spPr>
          <a:xfrm>
            <a:off x="1016000" y="2247801"/>
            <a:ext cx="10464800" cy="482600"/>
          </a:xfrm>
          <a:prstGeom prst="rect">
            <a:avLst/>
          </a:prstGeom>
          <a:noFill/>
          <a:ln/>
        </p:spPr>
        <p:txBody>
          <a:bodyPr wrap="square" lIns="0" tIns="0" rIns="0" bIns="0" rtlCol="0" anchor="t">
            <a:normAutofit/>
          </a:bodyPr>
          <a:lstStyle/>
          <a:p>
            <a:pPr marL="0" indent="0" algn="l">
              <a:lnSpc>
                <a:spcPts val="1800"/>
              </a:lnSpc>
              <a:buNone/>
            </a:pPr>
            <a:r>
              <a:rPr lang="en-US" sz="1200">
                <a:solidFill>
                  <a:srgbClr val="F4F1EA"/>
                </a:solidFill>
                <a:latin typeface="JetBrains Mono"/>
                <a:ea typeface="JetBrains Mono"/>
                <a:cs typeface="JetBrains Mono" pitchFamily="49" charset="-120"/>
              </a:rPr>
              <a:t>Run the review prompt against five fixed cases. For each case, report what you found and how confident you are. Then rerun the whole set three times.</a:t>
            </a:r>
            <a:endParaRPr lang="en-US" sz="1200">
              <a:latin typeface="JetBrains Mono"/>
              <a:ea typeface="JetBrains Mono"/>
            </a:endParaRPr>
          </a:p>
        </p:txBody>
      </p:sp>
      <p:sp>
        <p:nvSpPr>
          <p:cNvPr id="7" name="Shape 5"/>
          <p:cNvSpPr/>
          <p:nvPr/>
        </p:nvSpPr>
        <p:spPr>
          <a:xfrm>
            <a:off x="812800" y="3086001"/>
            <a:ext cx="10566400" cy="1112341"/>
          </a:xfrm>
          <a:prstGeom prst="roundRect">
            <a:avLst>
              <a:gd name="adj" fmla="val 6850"/>
            </a:avLst>
          </a:prstGeom>
          <a:solidFill>
            <a:srgbClr val="1B2733"/>
          </a:solidFill>
          <a:ln/>
        </p:spPr>
        <p:txBody>
          <a:bodyPr/>
          <a:lstStyle/>
          <a:p>
            <a:endParaRPr lang="en-US"/>
          </a:p>
        </p:txBody>
      </p:sp>
      <p:sp>
        <p:nvSpPr>
          <p:cNvPr id="8" name="Shape 6"/>
          <p:cNvSpPr/>
          <p:nvPr/>
        </p:nvSpPr>
        <p:spPr>
          <a:xfrm>
            <a:off x="812800" y="3086001"/>
            <a:ext cx="10566400" cy="1112341"/>
          </a:xfrm>
          <a:custGeom>
            <a:avLst/>
            <a:gdLst/>
            <a:ahLst/>
            <a:cxnLst/>
            <a:rect l="l" t="t" r="r" b="b"/>
            <a:pathLst>
              <a:path w="10566400" h="1112341">
                <a:moveTo>
                  <a:pt x="76200" y="1112341"/>
                </a:moveTo>
                <a:lnTo>
                  <a:pt x="76200" y="1112341"/>
                </a:lnTo>
                <a:arcTo wR="76200" hR="76200" stAng="5400000" swAng="5400000"/>
                <a:lnTo>
                  <a:pt x="0" y="76200"/>
                </a:lnTo>
                <a:arcTo wR="76200" hR="76200" stAng="10800000" swAng="5400000"/>
                <a:lnTo>
                  <a:pt x="76200" y="0"/>
                </a:lnTo>
                <a:arcTo wR="25400" hR="76200" stAng="16200000" swAng="-5400000"/>
                <a:lnTo>
                  <a:pt x="50800" y="1036141"/>
                </a:lnTo>
                <a:arcTo wR="25400" hR="76200" stAng="10800000" swAng="-5400000"/>
                <a:close/>
              </a:path>
            </a:pathLst>
          </a:custGeom>
          <a:solidFill>
            <a:srgbClr val="35C7B4"/>
          </a:solidFill>
          <a:ln/>
        </p:spPr>
        <p:txBody>
          <a:bodyPr/>
          <a:lstStyle/>
          <a:p>
            <a:endParaRPr lang="en-US"/>
          </a:p>
        </p:txBody>
      </p:sp>
      <p:sp>
        <p:nvSpPr>
          <p:cNvPr id="9" name="Text 7"/>
          <p:cNvSpPr/>
          <p:nvPr/>
        </p:nvSpPr>
        <p:spPr>
          <a:xfrm>
            <a:off x="1041400" y="3263801"/>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35C7B4"/>
                </a:solidFill>
                <a:latin typeface="Inter" pitchFamily="34" charset="0"/>
                <a:ea typeface="Inter" pitchFamily="34" charset="-122"/>
                <a:cs typeface="Inter" pitchFamily="34" charset="-120"/>
              </a:rPr>
              <a:t>WATCH FOR</a:t>
            </a:r>
            <a:endParaRPr lang="en-US" sz="1100"/>
          </a:p>
        </p:txBody>
      </p:sp>
      <p:sp>
        <p:nvSpPr>
          <p:cNvPr id="10" name="Text 8"/>
          <p:cNvSpPr/>
          <p:nvPr/>
        </p:nvSpPr>
        <p:spPr>
          <a:xfrm>
            <a:off x="1041400" y="3522861"/>
            <a:ext cx="10464800" cy="523081"/>
          </a:xfrm>
          <a:prstGeom prst="rect">
            <a:avLst/>
          </a:prstGeom>
          <a:noFill/>
          <a:ln/>
        </p:spPr>
        <p:txBody>
          <a:bodyPr wrap="square" lIns="0" tIns="0" rIns="0" bIns="0" rtlCol="0" anchor="t">
            <a:normAutofit/>
          </a:bodyPr>
          <a:lstStyle/>
          <a:p>
            <a:pPr marL="0" indent="0" algn="l">
              <a:lnSpc>
                <a:spcPts val="1960"/>
              </a:lnSpc>
              <a:buNone/>
            </a:pPr>
            <a:r>
              <a:rPr lang="en-US" sz="1400">
                <a:solidFill>
                  <a:srgbClr val="D9E1E8"/>
                </a:solidFill>
                <a:latin typeface="Inter" pitchFamily="34" charset="0"/>
                <a:ea typeface="Inter" pitchFamily="34" charset="-122"/>
                <a:cs typeface="Inter" pitchFamily="34" charset="-120"/>
              </a:rPr>
              <a:t>Does the same case give the same answer every time? Does the clean change draw a false alarm? Track rates, not single runs.</a:t>
            </a:r>
            <a:endParaRPr lang="en-US" sz="140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F1720"/>
        </a:solidFill>
        <a:effectLst/>
      </p:bgPr>
    </p:bg>
    <p:spTree>
      <p:nvGrpSpPr>
        <p:cNvPr id="1" name=""/>
        <p:cNvGrpSpPr/>
        <p:nvPr/>
      </p:nvGrpSpPr>
      <p:grpSpPr>
        <a:xfrm>
          <a:off x="0" y="0"/>
          <a:ext cx="0" cy="0"/>
          <a:chOff x="0" y="0"/>
          <a:chExt cx="0" cy="0"/>
        </a:xfrm>
      </p:grpSpPr>
      <p:sp>
        <p:nvSpPr>
          <p:cNvPr id="2" name="Text 0"/>
          <p:cNvSpPr/>
          <p:nvPr/>
        </p:nvSpPr>
        <p:spPr>
          <a:xfrm>
            <a:off x="812800" y="185916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a:solidFill>
                  <a:srgbClr val="35C7B4"/>
                </a:solidFill>
                <a:latin typeface="Inter" pitchFamily="34" charset="0"/>
                <a:ea typeface="Inter" pitchFamily="34" charset="-122"/>
                <a:cs typeface="Inter" pitchFamily="34" charset="-120"/>
              </a:rPr>
              <a:t>MEASURING ROI</a:t>
            </a:r>
            <a:endParaRPr lang="en-US" sz="1400"/>
          </a:p>
        </p:txBody>
      </p:sp>
      <p:sp>
        <p:nvSpPr>
          <p:cNvPr id="3" name="Text 1"/>
          <p:cNvSpPr>
            <a:spLocks noGrp="1"/>
          </p:cNvSpPr>
          <p:nvPr>
            <p:ph type="title"/>
          </p:nvPr>
        </p:nvSpPr>
        <p:spPr>
          <a:xfrm>
            <a:off x="812800" y="2336602"/>
            <a:ext cx="10883392" cy="1198761"/>
          </a:xfrm>
          <a:prstGeom prst="rect">
            <a:avLst/>
          </a:prstGeom>
          <a:noFill/>
          <a:ln/>
        </p:spPr>
        <p:txBody>
          <a:bodyPr wrap="square" lIns="0" tIns="0" rIns="0" bIns="0" rtlCol="0" anchor="t">
            <a:normAutofit/>
          </a:bodyPr>
          <a:lstStyle/>
          <a:p>
            <a:pPr marL="0" indent="0" algn="l">
              <a:lnSpc>
                <a:spcPts val="4620"/>
              </a:lnSpc>
              <a:buNone/>
            </a:pPr>
            <a:r>
              <a:rPr lang="en-US" sz="4200" b="1" i="0">
                <a:solidFill>
                  <a:srgbClr val="F4F1EA"/>
                </a:solidFill>
                <a:latin typeface="Space Grotesk" pitchFamily="34" charset="0"/>
                <a:ea typeface="Space Grotesk" pitchFamily="34" charset="-122"/>
                <a:cs typeface="Space Grotesk" pitchFamily="34" charset="-120"/>
              </a:rPr>
              <a:t>Developers felt about 20% faster. They measured 19% slower.</a:t>
            </a:r>
            <a:endParaRPr lang="en-US" sz="4200"/>
          </a:p>
        </p:txBody>
      </p:sp>
      <p:sp>
        <p:nvSpPr>
          <p:cNvPr id="4" name="Text 2"/>
          <p:cNvSpPr/>
          <p:nvPr/>
        </p:nvSpPr>
        <p:spPr>
          <a:xfrm>
            <a:off x="812800" y="3738563"/>
            <a:ext cx="10883392" cy="614561"/>
          </a:xfrm>
          <a:prstGeom prst="rect">
            <a:avLst/>
          </a:prstGeom>
          <a:noFill/>
          <a:ln/>
        </p:spPr>
        <p:txBody>
          <a:bodyPr wrap="square" lIns="0" tIns="0" rIns="0" bIns="0" rtlCol="0" anchor="t">
            <a:normAutofit/>
          </a:bodyPr>
          <a:lstStyle/>
          <a:p>
            <a:pPr marL="0" indent="0" algn="l">
              <a:lnSpc>
                <a:spcPts val="2320"/>
              </a:lnSpc>
              <a:buNone/>
            </a:pPr>
            <a:r>
              <a:rPr lang="en-US" sz="1600">
                <a:solidFill>
                  <a:srgbClr val="B4C2CE"/>
                </a:solidFill>
                <a:latin typeface="Inter" pitchFamily="34" charset="0"/>
                <a:ea typeface="Inter" pitchFamily="34" charset="-122"/>
                <a:cs typeface="Inter" pitchFamily="34" charset="-120"/>
              </a:rPr>
              <a:t>A randomized trial by METR: 16 experienced open-source developers, 246 tasks. Self-reports and stopwatch disagreed.</a:t>
            </a:r>
            <a:endParaRPr lang="en-US" sz="1600"/>
          </a:p>
        </p:txBody>
      </p:sp>
      <p:sp>
        <p:nvSpPr>
          <p:cNvPr id="5" name="Text 3"/>
          <p:cNvSpPr/>
          <p:nvPr/>
        </p:nvSpPr>
        <p:spPr>
          <a:xfrm>
            <a:off x="812800" y="4556323"/>
            <a:ext cx="10883392" cy="264716"/>
          </a:xfrm>
          <a:prstGeom prst="rect">
            <a:avLst/>
          </a:prstGeom>
          <a:noFill/>
          <a:ln/>
        </p:spPr>
        <p:txBody>
          <a:bodyPr wrap="square" lIns="0" tIns="0" rIns="0" bIns="0" rtlCol="0" anchor="t">
            <a:normAutofit/>
          </a:bodyPr>
          <a:lstStyle/>
          <a:p>
            <a:pPr marL="0" indent="0" algn="l">
              <a:lnSpc>
                <a:spcPts val="1885"/>
              </a:lnSpc>
              <a:buNone/>
            </a:pPr>
            <a:endParaRPr lang="en-US" sz="1300">
              <a:solidFill>
                <a:srgbClr val="8A99A8"/>
              </a:solidFill>
            </a:endParaRPr>
          </a:p>
        </p:txBody>
      </p:sp>
      <p:sp>
        <p:nvSpPr>
          <p:cNvPr id="6"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7" name="Text 5"/>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DORA 2025: AI amplifies what is already there</a:t>
            </a:r>
            <a:endParaRPr lang="en-US" sz="2800"/>
          </a:p>
        </p:txBody>
      </p:sp>
      <p:sp>
        <p:nvSpPr>
          <p:cNvPr id="3" name="Shape 1"/>
          <p:cNvSpPr/>
          <p:nvPr/>
        </p:nvSpPr>
        <p:spPr>
          <a:xfrm>
            <a:off x="815975" y="1410295"/>
            <a:ext cx="3414117" cy="1895872"/>
          </a:xfrm>
          <a:prstGeom prst="roundRect">
            <a:avLst>
              <a:gd name="adj" fmla="val 5192"/>
            </a:avLst>
          </a:prstGeom>
          <a:solidFill>
            <a:srgbClr val="FBFAF6"/>
          </a:solidFill>
          <a:ln w="6350">
            <a:solidFill>
              <a:srgbClr val="D5CFC2"/>
            </a:solidFill>
            <a:prstDash val="solid"/>
          </a:ln>
        </p:spPr>
        <p:txBody>
          <a:bodyPr/>
          <a:lstStyle/>
          <a:p>
            <a:endParaRPr lang="en-US"/>
          </a:p>
        </p:txBody>
      </p:sp>
      <p:sp>
        <p:nvSpPr>
          <p:cNvPr id="4" name="Text 2"/>
          <p:cNvSpPr/>
          <p:nvPr/>
        </p:nvSpPr>
        <p:spPr>
          <a:xfrm>
            <a:off x="1047750" y="1642070"/>
            <a:ext cx="3039084" cy="472380"/>
          </a:xfrm>
          <a:prstGeom prst="rect">
            <a:avLst/>
          </a:prstGeom>
          <a:noFill/>
          <a:ln/>
        </p:spPr>
        <p:txBody>
          <a:bodyPr wrap="square" lIns="0" tIns="0" rIns="0" bIns="0" rtlCol="0" anchor="t">
            <a:normAutofit/>
          </a:bodyPr>
          <a:lstStyle/>
          <a:p>
            <a:pPr marL="0" indent="0" algn="l">
              <a:lnSpc>
                <a:spcPts val="3520"/>
              </a:lnSpc>
              <a:buNone/>
            </a:pPr>
            <a:r>
              <a:rPr lang="en-US" sz="3200" b="1">
                <a:solidFill>
                  <a:srgbClr val="16202A"/>
                </a:solidFill>
                <a:latin typeface="Space Grotesk" pitchFamily="34" charset="0"/>
                <a:ea typeface="Space Grotesk" pitchFamily="34" charset="-122"/>
                <a:cs typeface="Space Grotesk" pitchFamily="34" charset="-120"/>
              </a:rPr>
              <a:t>~90%</a:t>
            </a:r>
            <a:endParaRPr lang="en-US" sz="3200"/>
          </a:p>
        </p:txBody>
      </p:sp>
      <p:sp>
        <p:nvSpPr>
          <p:cNvPr id="5" name="Text 3"/>
          <p:cNvSpPr/>
          <p:nvPr/>
        </p:nvSpPr>
        <p:spPr>
          <a:xfrm>
            <a:off x="1047750" y="2190651"/>
            <a:ext cx="3039084" cy="523081"/>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of nearly 5,000 respondents use AI in their work.</a:t>
            </a:r>
            <a:endParaRPr lang="en-US" sz="1400"/>
          </a:p>
        </p:txBody>
      </p:sp>
      <p:sp>
        <p:nvSpPr>
          <p:cNvPr id="6" name="Shape 4"/>
          <p:cNvSpPr/>
          <p:nvPr/>
        </p:nvSpPr>
        <p:spPr>
          <a:xfrm>
            <a:off x="4388842" y="1410295"/>
            <a:ext cx="3414216" cy="1895872"/>
          </a:xfrm>
          <a:prstGeom prst="roundRect">
            <a:avLst>
              <a:gd name="adj" fmla="val 5192"/>
            </a:avLst>
          </a:prstGeom>
          <a:solidFill>
            <a:srgbClr val="FBFAF6"/>
          </a:solidFill>
          <a:ln w="6350">
            <a:solidFill>
              <a:srgbClr val="D5CFC2"/>
            </a:solidFill>
            <a:prstDash val="solid"/>
          </a:ln>
        </p:spPr>
        <p:txBody>
          <a:bodyPr/>
          <a:lstStyle/>
          <a:p>
            <a:endParaRPr lang="en-US"/>
          </a:p>
        </p:txBody>
      </p:sp>
      <p:sp>
        <p:nvSpPr>
          <p:cNvPr id="7" name="Text 5"/>
          <p:cNvSpPr/>
          <p:nvPr/>
        </p:nvSpPr>
        <p:spPr>
          <a:xfrm>
            <a:off x="4620617" y="1642070"/>
            <a:ext cx="3039186" cy="6096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16202A"/>
                </a:solidFill>
                <a:latin typeface="Space Grotesk" pitchFamily="34" charset="0"/>
                <a:ea typeface="Space Grotesk" pitchFamily="34" charset="-122"/>
                <a:cs typeface="Space Grotesk" pitchFamily="34" charset="-120"/>
              </a:rPr>
              <a:t>Throughput up, instability up</a:t>
            </a:r>
            <a:endParaRPr lang="en-US" sz="2000"/>
          </a:p>
        </p:txBody>
      </p:sp>
      <p:sp>
        <p:nvSpPr>
          <p:cNvPr id="8" name="Text 6"/>
          <p:cNvSpPr/>
          <p:nvPr/>
        </p:nvSpPr>
        <p:spPr>
          <a:xfrm>
            <a:off x="4620617" y="2327870"/>
            <a:ext cx="3039186"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Delivery throughput improves, but delivery instability continues to rise.</a:t>
            </a:r>
            <a:endParaRPr lang="en-US" sz="1400"/>
          </a:p>
        </p:txBody>
      </p:sp>
      <p:sp>
        <p:nvSpPr>
          <p:cNvPr id="9" name="Shape 7"/>
          <p:cNvSpPr/>
          <p:nvPr/>
        </p:nvSpPr>
        <p:spPr>
          <a:xfrm>
            <a:off x="7961809" y="1410295"/>
            <a:ext cx="3414216" cy="1895872"/>
          </a:xfrm>
          <a:prstGeom prst="roundRect">
            <a:avLst>
              <a:gd name="adj" fmla="val 5192"/>
            </a:avLst>
          </a:prstGeom>
          <a:solidFill>
            <a:srgbClr val="FBFAF6"/>
          </a:solidFill>
          <a:ln w="6350">
            <a:solidFill>
              <a:srgbClr val="D5CFC2"/>
            </a:solidFill>
            <a:prstDash val="solid"/>
          </a:ln>
        </p:spPr>
        <p:txBody>
          <a:bodyPr/>
          <a:lstStyle/>
          <a:p>
            <a:endParaRPr lang="en-US"/>
          </a:p>
        </p:txBody>
      </p:sp>
      <p:sp>
        <p:nvSpPr>
          <p:cNvPr id="10" name="Text 8"/>
          <p:cNvSpPr/>
          <p:nvPr/>
        </p:nvSpPr>
        <p:spPr>
          <a:xfrm>
            <a:off x="8193584" y="1642070"/>
            <a:ext cx="3039186" cy="3175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16202A"/>
                </a:solidFill>
                <a:latin typeface="Space Grotesk" pitchFamily="34" charset="0"/>
                <a:ea typeface="Space Grotesk" pitchFamily="34" charset="-122"/>
                <a:cs typeface="Space Grotesk" pitchFamily="34" charset="-120"/>
              </a:rPr>
              <a:t>An amplifier</a:t>
            </a:r>
            <a:endParaRPr lang="en-US" sz="2000"/>
          </a:p>
        </p:txBody>
      </p:sp>
      <p:sp>
        <p:nvSpPr>
          <p:cNvPr id="11" name="Text 9"/>
          <p:cNvSpPr/>
          <p:nvPr/>
        </p:nvSpPr>
        <p:spPr>
          <a:xfrm>
            <a:off x="8193584" y="2035770"/>
            <a:ext cx="3039186" cy="523081"/>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Strong teams get stronger. Weak practices get exposed faster.</a:t>
            </a:r>
            <a:endParaRPr lang="en-US" sz="1400"/>
          </a:p>
        </p:txBody>
      </p:sp>
      <p:sp>
        <p:nvSpPr>
          <p:cNvPr id="12" name="Text 10"/>
          <p:cNvSpPr/>
          <p:nvPr/>
        </p:nvSpPr>
        <p:spPr>
          <a:xfrm>
            <a:off x="812800" y="351254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a:solidFill>
                  <a:srgbClr val="16202A"/>
                </a:solidFill>
                <a:latin typeface="Inter" pitchFamily="34" charset="0"/>
                <a:ea typeface="Inter" pitchFamily="34" charset="-122"/>
                <a:cs typeface="Inter" pitchFamily="34" charset="-120"/>
              </a:rPr>
              <a:t>The lever is the system around the model: tests, small batches, platform, review. Invest there first.</a:t>
            </a:r>
            <a:endParaRPr lang="en-US" sz="150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What to measure, and what to ignore</a:t>
            </a:r>
            <a:endParaRPr lang="en-US" sz="2800"/>
          </a:p>
        </p:txBody>
      </p:sp>
      <p:sp>
        <p:nvSpPr>
          <p:cNvPr id="3" name="Shape 1"/>
          <p:cNvSpPr/>
          <p:nvPr/>
        </p:nvSpPr>
        <p:spPr>
          <a:xfrm>
            <a:off x="815975" y="1384895"/>
            <a:ext cx="5175250" cy="2428180"/>
          </a:xfrm>
          <a:prstGeom prst="roundRect">
            <a:avLst>
              <a:gd name="adj" fmla="val 4053"/>
            </a:avLst>
          </a:prstGeom>
          <a:solidFill>
            <a:srgbClr val="FBFAF6"/>
          </a:solidFill>
          <a:ln w="6350">
            <a:solidFill>
              <a:srgbClr val="D5CFC2"/>
            </a:solidFill>
            <a:prstDash val="solid"/>
          </a:ln>
        </p:spPr>
        <p:txBody>
          <a:bodyPr/>
          <a:lstStyle/>
          <a:p>
            <a:endParaRPr lang="en-US"/>
          </a:p>
        </p:txBody>
      </p:sp>
      <p:sp>
        <p:nvSpPr>
          <p:cNvPr id="4" name="Text 2"/>
          <p:cNvSpPr/>
          <p:nvPr/>
        </p:nvSpPr>
        <p:spPr>
          <a:xfrm>
            <a:off x="1047750" y="1616670"/>
            <a:ext cx="4853051"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Measure these</a:t>
            </a:r>
            <a:endParaRPr lang="en-US" sz="1800"/>
          </a:p>
        </p:txBody>
      </p:sp>
      <p:sp>
        <p:nvSpPr>
          <p:cNvPr id="5" name="Text 3"/>
          <p:cNvSpPr/>
          <p:nvPr/>
        </p:nvSpPr>
        <p:spPr>
          <a:xfrm>
            <a:off x="1047750" y="1981101"/>
            <a:ext cx="4853051" cy="1625600"/>
          </a:xfrm>
          <a:prstGeom prst="rect">
            <a:avLst/>
          </a:prstGeom>
          <a:noFill/>
          <a:ln/>
        </p:spPr>
        <p:txBody>
          <a:bodyPr wrap="square" lIns="0" tIns="0" rIns="0" bIns="0" rtlCol="0" anchor="t">
            <a:normAutofit/>
          </a:bodyPr>
          <a:lstStyle/>
          <a:p>
            <a:pPr marL="0" indent="0" algn="l">
              <a:lnSpc>
                <a:spcPts val="2100"/>
              </a:lnSpc>
              <a:buNone/>
            </a:pPr>
            <a:r>
              <a:rPr lang="en-US" sz="1400">
                <a:solidFill>
                  <a:srgbClr val="3B4652"/>
                </a:solidFill>
                <a:latin typeface="Inter" pitchFamily="34" charset="0"/>
                <a:ea typeface="Inter" pitchFamily="34" charset="-122"/>
                <a:cs typeface="Inter" pitchFamily="34" charset="-120"/>
              </a:rPr>
              <a:t>Lead time for changes</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Change failure rate</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Rework and reverts</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Review time and queue length</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Developer experience, by survey</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Cost per merged change</a:t>
            </a:r>
            <a:endParaRPr lang="en-US" sz="1400"/>
          </a:p>
        </p:txBody>
      </p:sp>
      <p:sp>
        <p:nvSpPr>
          <p:cNvPr id="6" name="Shape 4"/>
          <p:cNvSpPr/>
          <p:nvPr/>
        </p:nvSpPr>
        <p:spPr>
          <a:xfrm>
            <a:off x="6200775" y="1384895"/>
            <a:ext cx="5175250" cy="2428180"/>
          </a:xfrm>
          <a:prstGeom prst="roundRect">
            <a:avLst>
              <a:gd name="adj" fmla="val 4053"/>
            </a:avLst>
          </a:prstGeom>
          <a:solidFill>
            <a:srgbClr val="FBFAF6"/>
          </a:solidFill>
          <a:ln w="6350">
            <a:solidFill>
              <a:srgbClr val="D5CFC2"/>
            </a:solidFill>
            <a:prstDash val="solid"/>
          </a:ln>
        </p:spPr>
        <p:txBody>
          <a:bodyPr/>
          <a:lstStyle/>
          <a:p>
            <a:endParaRPr lang="en-US"/>
          </a:p>
        </p:txBody>
      </p:sp>
      <p:sp>
        <p:nvSpPr>
          <p:cNvPr id="7" name="Text 5"/>
          <p:cNvSpPr/>
          <p:nvPr/>
        </p:nvSpPr>
        <p:spPr>
          <a:xfrm>
            <a:off x="6432550" y="1616670"/>
            <a:ext cx="4853051"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Be careful with these</a:t>
            </a:r>
            <a:endParaRPr lang="en-US" sz="1800"/>
          </a:p>
        </p:txBody>
      </p:sp>
      <p:sp>
        <p:nvSpPr>
          <p:cNvPr id="8" name="Text 6"/>
          <p:cNvSpPr/>
          <p:nvPr/>
        </p:nvSpPr>
        <p:spPr>
          <a:xfrm>
            <a:off x="6432550" y="1981101"/>
            <a:ext cx="4853051" cy="1092200"/>
          </a:xfrm>
          <a:prstGeom prst="rect">
            <a:avLst/>
          </a:prstGeom>
          <a:noFill/>
          <a:ln/>
        </p:spPr>
        <p:txBody>
          <a:bodyPr wrap="square" lIns="0" tIns="0" rIns="0" bIns="0" rtlCol="0" anchor="t">
            <a:normAutofit/>
          </a:bodyPr>
          <a:lstStyle/>
          <a:p>
            <a:pPr marL="0" indent="0" algn="l">
              <a:lnSpc>
                <a:spcPts val="2100"/>
              </a:lnSpc>
              <a:buNone/>
            </a:pPr>
            <a:r>
              <a:rPr lang="en-US" sz="1400">
                <a:solidFill>
                  <a:srgbClr val="3B4652"/>
                </a:solidFill>
                <a:latin typeface="Inter" pitchFamily="34" charset="0"/>
                <a:ea typeface="Inter" pitchFamily="34" charset="-122"/>
                <a:cs typeface="Inter" pitchFamily="34" charset="-120"/>
              </a:rPr>
              <a:t>Lines of code generated</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Suggestion acceptance rate on its own</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Number of prompts per developer</a:t>
            </a:r>
            <a:endParaRPr lang="en-US" sz="1400"/>
          </a:p>
          <a:p>
            <a:pPr marL="0" indent="0" algn="l">
              <a:lnSpc>
                <a:spcPts val="2100"/>
              </a:lnSpc>
              <a:buNone/>
            </a:pPr>
            <a:r>
              <a:rPr lang="en-US" sz="1400">
                <a:solidFill>
                  <a:srgbClr val="3B4652"/>
                </a:solidFill>
                <a:latin typeface="Inter" pitchFamily="34" charset="0"/>
                <a:ea typeface="Inter" pitchFamily="34" charset="-122"/>
                <a:cs typeface="Inter" pitchFamily="34" charset="-120"/>
              </a:rPr>
              <a:t>Self-reported time saved, with no baseline</a:t>
            </a:r>
            <a:endParaRPr lang="en-US" sz="1400"/>
          </a:p>
        </p:txBody>
      </p:sp>
      <p:sp>
        <p:nvSpPr>
          <p:cNvPr id="9" name="Text 7"/>
          <p:cNvSpPr/>
          <p:nvPr/>
        </p:nvSpPr>
        <p:spPr>
          <a:xfrm>
            <a:off x="812800" y="3994051"/>
            <a:ext cx="10883392" cy="274241"/>
          </a:xfrm>
          <a:prstGeom prst="rect">
            <a:avLst/>
          </a:prstGeom>
          <a:noFill/>
          <a:ln/>
        </p:spPr>
        <p:txBody>
          <a:bodyPr wrap="square" lIns="0" tIns="0" rIns="0" bIns="0" rtlCol="0" anchor="t">
            <a:normAutofit/>
          </a:bodyPr>
          <a:lstStyle/>
          <a:p>
            <a:pPr marL="0" indent="0" algn="l">
              <a:lnSpc>
                <a:spcPts val="1960"/>
              </a:lnSpc>
              <a:buNone/>
            </a:pPr>
            <a:endParaRPr lang="en-US" sz="1400">
              <a:solidFill>
                <a:srgbClr val="3B4652"/>
              </a:solidFill>
            </a:endParaRPr>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pitchFamily="34" charset="0"/>
                <a:ea typeface="Space Grotesk" pitchFamily="34" charset="-122"/>
                <a:cs typeface="Space Grotesk" pitchFamily="34" charset="-120"/>
              </a:rPr>
              <a:t>Scaling adoption: five steps, each with exit evidence</a:t>
            </a:r>
            <a:endParaRPr lang="en-US" sz="2800"/>
          </a:p>
        </p:txBody>
      </p:sp>
      <p:sp>
        <p:nvSpPr>
          <p:cNvPr id="3" name="Shape 1"/>
          <p:cNvSpPr/>
          <p:nvPr/>
        </p:nvSpPr>
        <p:spPr>
          <a:xfrm>
            <a:off x="815975" y="1410295"/>
            <a:ext cx="2005310" cy="1552377"/>
          </a:xfrm>
          <a:prstGeom prst="roundRect">
            <a:avLst>
              <a:gd name="adj" fmla="val 6340"/>
            </a:avLst>
          </a:prstGeom>
          <a:solidFill>
            <a:srgbClr val="FBFAF6"/>
          </a:solidFill>
          <a:ln w="6350">
            <a:solidFill>
              <a:srgbClr val="D5CFC2"/>
            </a:solidFill>
            <a:prstDash val="solid"/>
          </a:ln>
        </p:spPr>
        <p:txBody>
          <a:bodyPr/>
          <a:lstStyle/>
          <a:p>
            <a:endParaRPr lang="en-US"/>
          </a:p>
        </p:txBody>
      </p:sp>
      <p:sp>
        <p:nvSpPr>
          <p:cNvPr id="4" name="Text 2"/>
          <p:cNvSpPr/>
          <p:nvPr/>
        </p:nvSpPr>
        <p:spPr>
          <a:xfrm>
            <a:off x="996950" y="1591270"/>
            <a:ext cx="1694160" cy="273645"/>
          </a:xfrm>
          <a:prstGeom prst="rect">
            <a:avLst/>
          </a:prstGeom>
          <a:noFill/>
          <a:ln/>
        </p:spPr>
        <p:txBody>
          <a:bodyPr wrap="square" lIns="0" tIns="0" rIns="0" bIns="0" rtlCol="0" anchor="t">
            <a:normAutofit/>
          </a:bodyPr>
          <a:lstStyle/>
          <a:p>
            <a:pPr marL="0" indent="0" algn="l">
              <a:lnSpc>
                <a:spcPts val="1955"/>
              </a:lnSpc>
              <a:buNone/>
            </a:pPr>
            <a:r>
              <a:rPr lang="en-US" sz="1700" b="1">
                <a:solidFill>
                  <a:srgbClr val="16202A"/>
                </a:solidFill>
                <a:latin typeface="Space Grotesk" pitchFamily="34" charset="0"/>
                <a:ea typeface="Space Grotesk" pitchFamily="34" charset="-122"/>
                <a:cs typeface="Space Grotesk" pitchFamily="34" charset="-120"/>
              </a:rPr>
              <a:t>1. Baseline</a:t>
            </a:r>
            <a:endParaRPr lang="en-US" sz="1700"/>
          </a:p>
        </p:txBody>
      </p:sp>
      <p:sp>
        <p:nvSpPr>
          <p:cNvPr id="5" name="Text 3"/>
          <p:cNvSpPr/>
          <p:nvPr/>
        </p:nvSpPr>
        <p:spPr>
          <a:xfrm>
            <a:off x="996950" y="1928416"/>
            <a:ext cx="1694160" cy="665361"/>
          </a:xfrm>
          <a:prstGeom prst="rect">
            <a:avLst/>
          </a:prstGeom>
          <a:noFill/>
          <a:ln/>
        </p:spPr>
        <p:txBody>
          <a:bodyPr wrap="square" lIns="0" tIns="0" rIns="0" bIns="0" rtlCol="0" anchor="t">
            <a:normAutofit/>
          </a:bodyPr>
          <a:lstStyle/>
          <a:p>
            <a:pPr marL="0" indent="0" algn="l">
              <a:lnSpc>
                <a:spcPts val="1680"/>
              </a:lnSpc>
              <a:buNone/>
            </a:pPr>
            <a:r>
              <a:rPr lang="en-US" sz="1200">
                <a:solidFill>
                  <a:srgbClr val="3B4652"/>
                </a:solidFill>
                <a:latin typeface="Inter" pitchFamily="34" charset="0"/>
                <a:ea typeface="Inter" pitchFamily="34" charset="-122"/>
                <a:cs typeface="Inter" pitchFamily="34" charset="-120"/>
              </a:rPr>
              <a:t>Capture today's lead time, failure rate and rework.</a:t>
            </a:r>
            <a:endParaRPr lang="en-US" sz="1200"/>
          </a:p>
        </p:txBody>
      </p:sp>
      <p:sp>
        <p:nvSpPr>
          <p:cNvPr id="6" name="Shape 4"/>
          <p:cNvSpPr/>
          <p:nvPr/>
        </p:nvSpPr>
        <p:spPr>
          <a:xfrm>
            <a:off x="2954635" y="1410295"/>
            <a:ext cx="2005409" cy="1552377"/>
          </a:xfrm>
          <a:prstGeom prst="roundRect">
            <a:avLst>
              <a:gd name="adj" fmla="val 6340"/>
            </a:avLst>
          </a:prstGeom>
          <a:solidFill>
            <a:srgbClr val="FBFAF6"/>
          </a:solidFill>
          <a:ln w="6350">
            <a:solidFill>
              <a:srgbClr val="D5CFC2"/>
            </a:solidFill>
            <a:prstDash val="solid"/>
          </a:ln>
        </p:spPr>
        <p:txBody>
          <a:bodyPr/>
          <a:lstStyle/>
          <a:p>
            <a:endParaRPr lang="en-US"/>
          </a:p>
        </p:txBody>
      </p:sp>
      <p:sp>
        <p:nvSpPr>
          <p:cNvPr id="7" name="Text 5"/>
          <p:cNvSpPr/>
          <p:nvPr/>
        </p:nvSpPr>
        <p:spPr>
          <a:xfrm>
            <a:off x="3135610" y="1591270"/>
            <a:ext cx="1694259" cy="273645"/>
          </a:xfrm>
          <a:prstGeom prst="rect">
            <a:avLst/>
          </a:prstGeom>
          <a:noFill/>
          <a:ln/>
        </p:spPr>
        <p:txBody>
          <a:bodyPr wrap="square" lIns="0" tIns="0" rIns="0" bIns="0" rtlCol="0" anchor="t">
            <a:normAutofit/>
          </a:bodyPr>
          <a:lstStyle/>
          <a:p>
            <a:pPr marL="0" indent="0" algn="l">
              <a:lnSpc>
                <a:spcPts val="1955"/>
              </a:lnSpc>
              <a:buNone/>
            </a:pPr>
            <a:r>
              <a:rPr lang="en-US" sz="1700" b="1">
                <a:solidFill>
                  <a:srgbClr val="16202A"/>
                </a:solidFill>
                <a:latin typeface="Space Grotesk" pitchFamily="34" charset="0"/>
                <a:ea typeface="Space Grotesk" pitchFamily="34" charset="-122"/>
                <a:cs typeface="Space Grotesk" pitchFamily="34" charset="-120"/>
              </a:rPr>
              <a:t>2. Pilot</a:t>
            </a:r>
            <a:endParaRPr lang="en-US" sz="1700"/>
          </a:p>
        </p:txBody>
      </p:sp>
      <p:sp>
        <p:nvSpPr>
          <p:cNvPr id="8" name="Text 6"/>
          <p:cNvSpPr/>
          <p:nvPr/>
        </p:nvSpPr>
        <p:spPr>
          <a:xfrm>
            <a:off x="3135610" y="1928416"/>
            <a:ext cx="1694259" cy="665361"/>
          </a:xfrm>
          <a:prstGeom prst="rect">
            <a:avLst/>
          </a:prstGeom>
          <a:noFill/>
          <a:ln/>
        </p:spPr>
        <p:txBody>
          <a:bodyPr wrap="square" lIns="0" tIns="0" rIns="0" bIns="0" rtlCol="0" anchor="t">
            <a:normAutofit/>
          </a:bodyPr>
          <a:lstStyle/>
          <a:p>
            <a:pPr marL="0" indent="0" algn="l">
              <a:lnSpc>
                <a:spcPts val="1680"/>
              </a:lnSpc>
              <a:buNone/>
            </a:pPr>
            <a:r>
              <a:rPr lang="en-US" sz="1200">
                <a:solidFill>
                  <a:srgbClr val="3B4652"/>
                </a:solidFill>
                <a:latin typeface="Inter" pitchFamily="34" charset="0"/>
                <a:ea typeface="Inter" pitchFamily="34" charset="-122"/>
                <a:cs typeface="Inter" pitchFamily="34" charset="-120"/>
              </a:rPr>
              <a:t>One or two teams, one workflow, a fixed period.</a:t>
            </a:r>
            <a:endParaRPr lang="en-US" sz="1200"/>
          </a:p>
        </p:txBody>
      </p:sp>
      <p:sp>
        <p:nvSpPr>
          <p:cNvPr id="9" name="Shape 7"/>
          <p:cNvSpPr/>
          <p:nvPr/>
        </p:nvSpPr>
        <p:spPr>
          <a:xfrm>
            <a:off x="5093395" y="1410295"/>
            <a:ext cx="2005310" cy="1552377"/>
          </a:xfrm>
          <a:prstGeom prst="roundRect">
            <a:avLst>
              <a:gd name="adj" fmla="val 6340"/>
            </a:avLst>
          </a:prstGeom>
          <a:solidFill>
            <a:srgbClr val="FBFAF6"/>
          </a:solidFill>
          <a:ln w="6350">
            <a:solidFill>
              <a:srgbClr val="D5CFC2"/>
            </a:solidFill>
            <a:prstDash val="solid"/>
          </a:ln>
        </p:spPr>
        <p:txBody>
          <a:bodyPr/>
          <a:lstStyle/>
          <a:p>
            <a:endParaRPr lang="en-US"/>
          </a:p>
        </p:txBody>
      </p:sp>
      <p:sp>
        <p:nvSpPr>
          <p:cNvPr id="10" name="Text 8"/>
          <p:cNvSpPr/>
          <p:nvPr/>
        </p:nvSpPr>
        <p:spPr>
          <a:xfrm>
            <a:off x="5274370" y="1591270"/>
            <a:ext cx="1694160" cy="273645"/>
          </a:xfrm>
          <a:prstGeom prst="rect">
            <a:avLst/>
          </a:prstGeom>
          <a:noFill/>
          <a:ln/>
        </p:spPr>
        <p:txBody>
          <a:bodyPr wrap="square" lIns="0" tIns="0" rIns="0" bIns="0" rtlCol="0" anchor="t">
            <a:normAutofit/>
          </a:bodyPr>
          <a:lstStyle/>
          <a:p>
            <a:pPr marL="0" indent="0" algn="l">
              <a:lnSpc>
                <a:spcPts val="1955"/>
              </a:lnSpc>
              <a:buNone/>
            </a:pPr>
            <a:r>
              <a:rPr lang="en-US" sz="1700" b="1">
                <a:solidFill>
                  <a:srgbClr val="16202A"/>
                </a:solidFill>
                <a:latin typeface="Space Grotesk" pitchFamily="34" charset="0"/>
                <a:ea typeface="Space Grotesk" pitchFamily="34" charset="-122"/>
                <a:cs typeface="Space Grotesk" pitchFamily="34" charset="-120"/>
              </a:rPr>
              <a:t>3. Guardrails</a:t>
            </a:r>
            <a:endParaRPr lang="en-US" sz="1700"/>
          </a:p>
        </p:txBody>
      </p:sp>
      <p:sp>
        <p:nvSpPr>
          <p:cNvPr id="11" name="Text 9"/>
          <p:cNvSpPr/>
          <p:nvPr/>
        </p:nvSpPr>
        <p:spPr>
          <a:xfrm>
            <a:off x="5274370" y="1928416"/>
            <a:ext cx="1694160" cy="665361"/>
          </a:xfrm>
          <a:prstGeom prst="rect">
            <a:avLst/>
          </a:prstGeom>
          <a:noFill/>
          <a:ln/>
        </p:spPr>
        <p:txBody>
          <a:bodyPr wrap="square" lIns="0" tIns="0" rIns="0" bIns="0" rtlCol="0" anchor="t">
            <a:normAutofit/>
          </a:bodyPr>
          <a:lstStyle/>
          <a:p>
            <a:pPr marL="0" indent="0" algn="l">
              <a:lnSpc>
                <a:spcPts val="1680"/>
              </a:lnSpc>
              <a:buNone/>
            </a:pPr>
            <a:r>
              <a:rPr lang="en-US" sz="1200">
                <a:solidFill>
                  <a:srgbClr val="3B4652"/>
                </a:solidFill>
                <a:latin typeface="Inter" pitchFamily="34" charset="0"/>
                <a:ea typeface="Inter" pitchFamily="34" charset="-122"/>
                <a:cs typeface="Inter" pitchFamily="34" charset="-120"/>
              </a:rPr>
              <a:t>Autonomy policy, data rules, gates and a small eval.</a:t>
            </a:r>
            <a:endParaRPr lang="en-US" sz="1200"/>
          </a:p>
        </p:txBody>
      </p:sp>
      <p:sp>
        <p:nvSpPr>
          <p:cNvPr id="12" name="Shape 10"/>
          <p:cNvSpPr/>
          <p:nvPr/>
        </p:nvSpPr>
        <p:spPr>
          <a:xfrm>
            <a:off x="7232055" y="1410295"/>
            <a:ext cx="2005310" cy="1552377"/>
          </a:xfrm>
          <a:prstGeom prst="roundRect">
            <a:avLst>
              <a:gd name="adj" fmla="val 6340"/>
            </a:avLst>
          </a:prstGeom>
          <a:solidFill>
            <a:srgbClr val="FBFAF6"/>
          </a:solidFill>
          <a:ln w="6350">
            <a:solidFill>
              <a:srgbClr val="D5CFC2"/>
            </a:solidFill>
            <a:prstDash val="solid"/>
          </a:ln>
        </p:spPr>
        <p:txBody>
          <a:bodyPr/>
          <a:lstStyle/>
          <a:p>
            <a:endParaRPr lang="en-US"/>
          </a:p>
        </p:txBody>
      </p:sp>
      <p:sp>
        <p:nvSpPr>
          <p:cNvPr id="13" name="Text 11"/>
          <p:cNvSpPr/>
          <p:nvPr/>
        </p:nvSpPr>
        <p:spPr>
          <a:xfrm>
            <a:off x="7413030" y="1591270"/>
            <a:ext cx="1694160" cy="273645"/>
          </a:xfrm>
          <a:prstGeom prst="rect">
            <a:avLst/>
          </a:prstGeom>
          <a:noFill/>
          <a:ln/>
        </p:spPr>
        <p:txBody>
          <a:bodyPr wrap="square" lIns="0" tIns="0" rIns="0" bIns="0" rtlCol="0" anchor="t">
            <a:normAutofit/>
          </a:bodyPr>
          <a:lstStyle/>
          <a:p>
            <a:pPr marL="0" indent="0" algn="l">
              <a:lnSpc>
                <a:spcPts val="1955"/>
              </a:lnSpc>
              <a:buNone/>
            </a:pPr>
            <a:r>
              <a:rPr lang="en-US" sz="1700" b="1">
                <a:solidFill>
                  <a:srgbClr val="16202A"/>
                </a:solidFill>
                <a:latin typeface="Space Grotesk" pitchFamily="34" charset="0"/>
                <a:ea typeface="Space Grotesk" pitchFamily="34" charset="-122"/>
                <a:cs typeface="Space Grotesk" pitchFamily="34" charset="-120"/>
              </a:rPr>
              <a:t>4. Scale</a:t>
            </a:r>
            <a:endParaRPr lang="en-US" sz="1700"/>
          </a:p>
        </p:txBody>
      </p:sp>
      <p:sp>
        <p:nvSpPr>
          <p:cNvPr id="14" name="Text 12"/>
          <p:cNvSpPr/>
          <p:nvPr/>
        </p:nvSpPr>
        <p:spPr>
          <a:xfrm>
            <a:off x="7413030" y="1928416"/>
            <a:ext cx="1694160" cy="665361"/>
          </a:xfrm>
          <a:prstGeom prst="rect">
            <a:avLst/>
          </a:prstGeom>
          <a:noFill/>
          <a:ln/>
        </p:spPr>
        <p:txBody>
          <a:bodyPr wrap="square" lIns="0" tIns="0" rIns="0" bIns="0" rtlCol="0" anchor="t">
            <a:normAutofit/>
          </a:bodyPr>
          <a:lstStyle/>
          <a:p>
            <a:pPr marL="0" indent="0" algn="l">
              <a:lnSpc>
                <a:spcPts val="1680"/>
              </a:lnSpc>
              <a:buNone/>
            </a:pPr>
            <a:r>
              <a:rPr lang="en-US" sz="1200">
                <a:solidFill>
                  <a:srgbClr val="3B4652"/>
                </a:solidFill>
                <a:latin typeface="Inter" pitchFamily="34" charset="0"/>
                <a:ea typeface="Inter" pitchFamily="34" charset="-122"/>
                <a:cs typeface="Inter" pitchFamily="34" charset="-120"/>
              </a:rPr>
              <a:t>Shared AGENTS.md, skills and MCP config. Training by example.</a:t>
            </a:r>
            <a:endParaRPr lang="en-US" sz="1200"/>
          </a:p>
        </p:txBody>
      </p:sp>
      <p:sp>
        <p:nvSpPr>
          <p:cNvPr id="15" name="Shape 13"/>
          <p:cNvSpPr/>
          <p:nvPr/>
        </p:nvSpPr>
        <p:spPr>
          <a:xfrm>
            <a:off x="9370715" y="1410295"/>
            <a:ext cx="2005310" cy="1552377"/>
          </a:xfrm>
          <a:prstGeom prst="roundRect">
            <a:avLst>
              <a:gd name="adj" fmla="val 6340"/>
            </a:avLst>
          </a:prstGeom>
          <a:solidFill>
            <a:srgbClr val="FBFAF6"/>
          </a:solidFill>
          <a:ln w="6350">
            <a:solidFill>
              <a:srgbClr val="D5CFC2"/>
            </a:solidFill>
            <a:prstDash val="solid"/>
          </a:ln>
        </p:spPr>
        <p:txBody>
          <a:bodyPr/>
          <a:lstStyle/>
          <a:p>
            <a:endParaRPr lang="en-US"/>
          </a:p>
        </p:txBody>
      </p:sp>
      <p:sp>
        <p:nvSpPr>
          <p:cNvPr id="16" name="Text 14"/>
          <p:cNvSpPr/>
          <p:nvPr/>
        </p:nvSpPr>
        <p:spPr>
          <a:xfrm>
            <a:off x="9551690" y="1591270"/>
            <a:ext cx="1694160" cy="273645"/>
          </a:xfrm>
          <a:prstGeom prst="rect">
            <a:avLst/>
          </a:prstGeom>
          <a:noFill/>
          <a:ln/>
        </p:spPr>
        <p:txBody>
          <a:bodyPr wrap="square" lIns="0" tIns="0" rIns="0" bIns="0" rtlCol="0" anchor="t">
            <a:normAutofit/>
          </a:bodyPr>
          <a:lstStyle/>
          <a:p>
            <a:pPr marL="0" indent="0" algn="l">
              <a:lnSpc>
                <a:spcPts val="1955"/>
              </a:lnSpc>
              <a:buNone/>
            </a:pPr>
            <a:r>
              <a:rPr lang="en-US" sz="1700" b="1">
                <a:solidFill>
                  <a:srgbClr val="16202A"/>
                </a:solidFill>
                <a:latin typeface="Space Grotesk" pitchFamily="34" charset="0"/>
                <a:ea typeface="Space Grotesk" pitchFamily="34" charset="-122"/>
                <a:cs typeface="Space Grotesk" pitchFamily="34" charset="-120"/>
              </a:rPr>
              <a:t>5. Review</a:t>
            </a:r>
            <a:endParaRPr lang="en-US" sz="1700"/>
          </a:p>
        </p:txBody>
      </p:sp>
      <p:sp>
        <p:nvSpPr>
          <p:cNvPr id="17" name="Text 15"/>
          <p:cNvSpPr/>
          <p:nvPr/>
        </p:nvSpPr>
        <p:spPr>
          <a:xfrm>
            <a:off x="9551690" y="1928416"/>
            <a:ext cx="1694160" cy="878681"/>
          </a:xfrm>
          <a:prstGeom prst="rect">
            <a:avLst/>
          </a:prstGeom>
          <a:noFill/>
          <a:ln/>
        </p:spPr>
        <p:txBody>
          <a:bodyPr wrap="square" lIns="0" tIns="0" rIns="0" bIns="0" rtlCol="0" anchor="t">
            <a:normAutofit/>
          </a:bodyPr>
          <a:lstStyle/>
          <a:p>
            <a:pPr marL="0" indent="0" algn="l">
              <a:lnSpc>
                <a:spcPts val="1680"/>
              </a:lnSpc>
              <a:buNone/>
            </a:pPr>
            <a:r>
              <a:rPr lang="en-US" sz="1200">
                <a:solidFill>
                  <a:srgbClr val="3B4652"/>
                </a:solidFill>
                <a:latin typeface="Inter" pitchFamily="34" charset="0"/>
                <a:ea typeface="Inter" pitchFamily="34" charset="-122"/>
                <a:cs typeface="Inter" pitchFamily="34" charset="-120"/>
              </a:rPr>
              <a:t>Compare with baseline each quarter. Retire what did not help.</a:t>
            </a:r>
            <a:endParaRPr lang="en-US" sz="1200"/>
          </a:p>
        </p:txBody>
      </p:sp>
      <p:sp>
        <p:nvSpPr>
          <p:cNvPr id="18" name="Text 16"/>
          <p:cNvSpPr/>
          <p:nvPr/>
        </p:nvSpPr>
        <p:spPr>
          <a:xfrm>
            <a:off x="812800" y="3169047"/>
            <a:ext cx="10883392" cy="274241"/>
          </a:xfrm>
          <a:prstGeom prst="rect">
            <a:avLst/>
          </a:prstGeom>
          <a:noFill/>
          <a:ln/>
        </p:spPr>
        <p:txBody>
          <a:bodyPr wrap="square" lIns="0" tIns="0" rIns="0" bIns="0" rtlCol="0" anchor="t">
            <a:normAutofit/>
          </a:bodyPr>
          <a:lstStyle/>
          <a:p>
            <a:pPr marL="0" indent="0" algn="l">
              <a:lnSpc>
                <a:spcPts val="1960"/>
              </a:lnSpc>
              <a:buNone/>
            </a:pPr>
            <a:endParaRPr lang="en-US" sz="1400">
              <a:solidFill>
                <a:srgbClr val="3B4652"/>
              </a:solidFill>
            </a:endParaRPr>
          </a:p>
        </p:txBody>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
        <p:nvSpPr>
          <p:cNvPr id="20" name="Text 18"/>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4F5B67"/>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6202A"/>
                </a:solidFill>
                <a:latin typeface="Space Grotesk"/>
              </a:rPr>
              <a:t>Four things </a:t>
            </a:r>
            <a:r>
              <a:rPr lang="en-US" b="1">
                <a:latin typeface="Space Grotesk"/>
              </a:rPr>
              <a:t>an</a:t>
            </a:r>
            <a:r>
              <a:rPr lang="en-US" sz="2800" b="1" i="0">
                <a:solidFill>
                  <a:srgbClr val="16202A"/>
                </a:solidFill>
                <a:latin typeface="Space Grotesk"/>
              </a:rPr>
              <a:t> engineer should own</a:t>
            </a:r>
            <a:endParaRPr lang="en-US" sz="2800">
              <a:latin typeface="Space Grotesk"/>
            </a:endParaRPr>
          </a:p>
        </p:txBody>
      </p:sp>
      <p:sp>
        <p:nvSpPr>
          <p:cNvPr id="3" name="Shape 1"/>
          <p:cNvSpPr/>
          <p:nvPr/>
        </p:nvSpPr>
        <p:spPr>
          <a:xfrm>
            <a:off x="815975" y="1410295"/>
            <a:ext cx="2520950" cy="2072184"/>
          </a:xfrm>
          <a:prstGeom prst="roundRect">
            <a:avLst>
              <a:gd name="adj" fmla="val 4750"/>
            </a:avLst>
          </a:prstGeom>
          <a:solidFill>
            <a:srgbClr val="FBFAF6"/>
          </a:solidFill>
          <a:ln w="6350">
            <a:solidFill>
              <a:srgbClr val="D5CFC2"/>
            </a:solidFill>
            <a:prstDash val="solid"/>
          </a:ln>
        </p:spPr>
        <p:txBody>
          <a:bodyPr/>
          <a:lstStyle/>
          <a:p>
            <a:endParaRPr lang="en-US"/>
          </a:p>
        </p:txBody>
      </p:sp>
      <p:sp>
        <p:nvSpPr>
          <p:cNvPr id="4" name="Text 2"/>
          <p:cNvSpPr/>
          <p:nvPr/>
        </p:nvSpPr>
        <p:spPr>
          <a:xfrm>
            <a:off x="1047750" y="1642070"/>
            <a:ext cx="2119122" cy="551061"/>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An autonomy policy</a:t>
            </a:r>
            <a:endParaRPr lang="en-US" sz="1800"/>
          </a:p>
        </p:txBody>
      </p:sp>
      <p:sp>
        <p:nvSpPr>
          <p:cNvPr id="5" name="Text 3"/>
          <p:cNvSpPr/>
          <p:nvPr/>
        </p:nvSpPr>
        <p:spPr>
          <a:xfrm>
            <a:off x="1047750" y="2269331"/>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Which tasks sit at which level, and who approves moving up.</a:t>
            </a:r>
            <a:endParaRPr lang="en-US" sz="1400"/>
          </a:p>
        </p:txBody>
      </p:sp>
      <p:sp>
        <p:nvSpPr>
          <p:cNvPr id="6" name="Shape 4"/>
          <p:cNvSpPr/>
          <p:nvPr/>
        </p:nvSpPr>
        <p:spPr>
          <a:xfrm>
            <a:off x="3495675" y="1410295"/>
            <a:ext cx="2520950" cy="2072184"/>
          </a:xfrm>
          <a:prstGeom prst="roundRect">
            <a:avLst>
              <a:gd name="adj" fmla="val 4750"/>
            </a:avLst>
          </a:prstGeom>
          <a:solidFill>
            <a:srgbClr val="FBFAF6"/>
          </a:solidFill>
          <a:ln w="6350">
            <a:solidFill>
              <a:srgbClr val="D5CFC2"/>
            </a:solidFill>
            <a:prstDash val="solid"/>
          </a:ln>
        </p:spPr>
        <p:txBody>
          <a:bodyPr/>
          <a:lstStyle/>
          <a:p>
            <a:endParaRPr lang="en-US"/>
          </a:p>
        </p:txBody>
      </p:sp>
      <p:sp>
        <p:nvSpPr>
          <p:cNvPr id="7" name="Text 5"/>
          <p:cNvSpPr/>
          <p:nvPr/>
        </p:nvSpPr>
        <p:spPr>
          <a:xfrm>
            <a:off x="3727450" y="1642070"/>
            <a:ext cx="2119122"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The gates</a:t>
            </a:r>
            <a:endParaRPr lang="en-US" sz="1800"/>
          </a:p>
        </p:txBody>
      </p:sp>
      <p:sp>
        <p:nvSpPr>
          <p:cNvPr id="8" name="Text 6"/>
          <p:cNvSpPr/>
          <p:nvPr/>
        </p:nvSpPr>
        <p:spPr>
          <a:xfrm>
            <a:off x="3727450" y="2006501"/>
            <a:ext cx="2119122" cy="1269603"/>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Tests, scans, architecture rules and review, applied the same to AI-assisted changes.</a:t>
            </a:r>
            <a:endParaRPr lang="en-US" sz="1400"/>
          </a:p>
        </p:txBody>
      </p:sp>
      <p:sp>
        <p:nvSpPr>
          <p:cNvPr id="9" name="Shape 7"/>
          <p:cNvSpPr/>
          <p:nvPr/>
        </p:nvSpPr>
        <p:spPr>
          <a:xfrm>
            <a:off x="6175375" y="1410295"/>
            <a:ext cx="2520950" cy="2072184"/>
          </a:xfrm>
          <a:prstGeom prst="roundRect">
            <a:avLst>
              <a:gd name="adj" fmla="val 4750"/>
            </a:avLst>
          </a:prstGeom>
          <a:solidFill>
            <a:srgbClr val="FBFAF6"/>
          </a:solidFill>
          <a:ln w="6350">
            <a:solidFill>
              <a:srgbClr val="D5CFC2"/>
            </a:solidFill>
            <a:prstDash val="solid"/>
          </a:ln>
        </p:spPr>
        <p:txBody>
          <a:bodyPr/>
          <a:lstStyle/>
          <a:p>
            <a:endParaRPr lang="en-US"/>
          </a:p>
        </p:txBody>
      </p:sp>
      <p:sp>
        <p:nvSpPr>
          <p:cNvPr id="10" name="Text 8"/>
          <p:cNvSpPr/>
          <p:nvPr/>
        </p:nvSpPr>
        <p:spPr>
          <a:xfrm>
            <a:off x="6407150" y="1642070"/>
            <a:ext cx="2119122"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A small eval</a:t>
            </a:r>
            <a:endParaRPr lang="en-US" sz="1800"/>
          </a:p>
        </p:txBody>
      </p:sp>
      <p:sp>
        <p:nvSpPr>
          <p:cNvPr id="11" name="Text 9"/>
          <p:cNvSpPr/>
          <p:nvPr/>
        </p:nvSpPr>
        <p:spPr>
          <a:xfrm>
            <a:off x="6407150" y="2006501"/>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Five to ten fixed cases you rerun when anything changes.</a:t>
            </a:r>
            <a:endParaRPr lang="en-US" sz="1400"/>
          </a:p>
        </p:txBody>
      </p:sp>
      <p:sp>
        <p:nvSpPr>
          <p:cNvPr id="12" name="Shape 10"/>
          <p:cNvSpPr/>
          <p:nvPr/>
        </p:nvSpPr>
        <p:spPr>
          <a:xfrm>
            <a:off x="8855075" y="1410295"/>
            <a:ext cx="2520950" cy="2072184"/>
          </a:xfrm>
          <a:prstGeom prst="roundRect">
            <a:avLst>
              <a:gd name="adj" fmla="val 4750"/>
            </a:avLst>
          </a:prstGeom>
          <a:solidFill>
            <a:srgbClr val="FBFAF6"/>
          </a:solidFill>
          <a:ln w="6350">
            <a:solidFill>
              <a:srgbClr val="D5CFC2"/>
            </a:solidFill>
            <a:prstDash val="solid"/>
          </a:ln>
        </p:spPr>
        <p:txBody>
          <a:bodyPr/>
          <a:lstStyle/>
          <a:p>
            <a:endParaRPr lang="en-US"/>
          </a:p>
        </p:txBody>
      </p:sp>
      <p:sp>
        <p:nvSpPr>
          <p:cNvPr id="13" name="Text 11"/>
          <p:cNvSpPr/>
          <p:nvPr/>
        </p:nvSpPr>
        <p:spPr>
          <a:xfrm>
            <a:off x="9086850" y="1642070"/>
            <a:ext cx="2119122" cy="288230"/>
          </a:xfrm>
          <a:prstGeom prst="rect">
            <a:avLst/>
          </a:prstGeom>
          <a:noFill/>
          <a:ln/>
        </p:spPr>
        <p:txBody>
          <a:bodyPr wrap="square" lIns="0" tIns="0" rIns="0" bIns="0" rtlCol="0" anchor="t">
            <a:normAutofit/>
          </a:bodyPr>
          <a:lstStyle/>
          <a:p>
            <a:pPr marL="0" indent="0" algn="l">
              <a:lnSpc>
                <a:spcPts val="2070"/>
              </a:lnSpc>
              <a:buNone/>
            </a:pPr>
            <a:r>
              <a:rPr lang="en-US" sz="1800" b="1">
                <a:solidFill>
                  <a:srgbClr val="16202A"/>
                </a:solidFill>
                <a:latin typeface="Space Grotesk" pitchFamily="34" charset="0"/>
                <a:ea typeface="Space Grotesk" pitchFamily="34" charset="-122"/>
                <a:cs typeface="Space Grotesk" pitchFamily="34" charset="-120"/>
              </a:rPr>
              <a:t>A baseline</a:t>
            </a:r>
            <a:endParaRPr lang="en-US" sz="1800"/>
          </a:p>
        </p:txBody>
      </p:sp>
      <p:sp>
        <p:nvSpPr>
          <p:cNvPr id="14" name="Text 12"/>
          <p:cNvSpPr/>
          <p:nvPr/>
        </p:nvSpPr>
        <p:spPr>
          <a:xfrm>
            <a:off x="9086850" y="2006501"/>
            <a:ext cx="2119122" cy="771922"/>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652"/>
                </a:solidFill>
                <a:latin typeface="Inter" pitchFamily="34" charset="0"/>
                <a:ea typeface="Inter" pitchFamily="34" charset="-122"/>
                <a:cs typeface="Inter" pitchFamily="34" charset="-120"/>
              </a:rPr>
              <a:t>Today's numbers, so any improvement can be shown.</a:t>
            </a:r>
            <a:endParaRPr lang="en-US" sz="1400"/>
          </a:p>
        </p:txBody>
      </p:sp>
      <p:sp>
        <p:nvSpPr>
          <p:cNvPr id="15" name="Text 13"/>
          <p:cNvSpPr/>
          <p:nvPr/>
        </p:nvSpPr>
        <p:spPr>
          <a:xfrm>
            <a:off x="812800" y="3688854"/>
            <a:ext cx="10883392" cy="292100"/>
          </a:xfrm>
          <a:prstGeom prst="rect">
            <a:avLst/>
          </a:prstGeom>
          <a:noFill/>
          <a:ln/>
        </p:spPr>
        <p:txBody>
          <a:bodyPr wrap="square" lIns="0" tIns="0" rIns="0" bIns="0" rtlCol="0" anchor="t">
            <a:normAutofit/>
          </a:bodyPr>
          <a:lstStyle/>
          <a:p>
            <a:pPr marL="0" indent="0" algn="l">
              <a:lnSpc>
                <a:spcPts val="2100"/>
              </a:lnSpc>
              <a:buNone/>
            </a:pPr>
            <a:endParaRPr lang="en-US" sz="1500" b="1"/>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5B67"/>
                </a:solidFill>
                <a:latin typeface="Inter" pitchFamily="34" charset="0"/>
                <a:ea typeface="Inter" pitchFamily="34" charset="-122"/>
                <a:cs typeface="Inter" pitchFamily="34" charset="-120"/>
              </a:rPr>
              <a:t>AI in SDLC · Session 3</a:t>
            </a:r>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0F1720"/>
        </a:solidFill>
        <a:effectLst/>
      </p:bgPr>
    </p:bg>
    <p:spTree>
      <p:nvGrpSpPr>
        <p:cNvPr id="1" name=""/>
        <p:cNvGrpSpPr/>
        <p:nvPr/>
      </p:nvGrpSpPr>
      <p:grpSpPr>
        <a:xfrm>
          <a:off x="0" y="0"/>
          <a:ext cx="0" cy="0"/>
          <a:chOff x="0" y="0"/>
          <a:chExt cx="0" cy="0"/>
        </a:xfrm>
      </p:grpSpPr>
      <p:sp>
        <p:nvSpPr>
          <p:cNvPr id="2" name="Shape 0"/>
          <p:cNvSpPr/>
          <p:nvPr/>
        </p:nvSpPr>
        <p:spPr>
          <a:xfrm>
            <a:off x="812800" y="2569270"/>
            <a:ext cx="889000" cy="88900"/>
          </a:xfrm>
          <a:prstGeom prst="rect">
            <a:avLst/>
          </a:prstGeom>
          <a:solidFill>
            <a:srgbClr val="F5A524"/>
          </a:solidFill>
          <a:ln/>
        </p:spPr>
        <p:txBody>
          <a:bodyPr/>
          <a:lstStyle/>
          <a:p>
            <a:endParaRPr lang="en-US"/>
          </a:p>
        </p:txBody>
      </p:sp>
      <p:sp>
        <p:nvSpPr>
          <p:cNvPr id="3" name="Text 1"/>
          <p:cNvSpPr>
            <a:spLocks noGrp="1"/>
          </p:cNvSpPr>
          <p:nvPr>
            <p:ph type="title"/>
          </p:nvPr>
        </p:nvSpPr>
        <p:spPr>
          <a:xfrm>
            <a:off x="812800" y="2886770"/>
            <a:ext cx="10883392" cy="878780"/>
          </a:xfrm>
          <a:prstGeom prst="rect">
            <a:avLst/>
          </a:prstGeom>
          <a:noFill/>
          <a:ln/>
        </p:spPr>
        <p:txBody>
          <a:bodyPr wrap="square" lIns="0" tIns="0" rIns="0" bIns="0" rtlCol="0" anchor="t">
            <a:normAutofit/>
          </a:bodyPr>
          <a:lstStyle/>
          <a:p>
            <a:pPr marL="0" indent="0" algn="l">
              <a:lnSpc>
                <a:spcPts val="6720"/>
              </a:lnSpc>
              <a:buNone/>
            </a:pPr>
            <a:r>
              <a:rPr lang="en-US" sz="6400" b="1">
                <a:solidFill>
                  <a:srgbClr val="F4F1EA"/>
                </a:solidFill>
                <a:ea typeface="Space Grotesk"/>
              </a:rPr>
              <a:t>Thanks!</a:t>
            </a:r>
            <a:endParaRPr lang="en-US"/>
          </a:p>
        </p:txBody>
      </p:sp>
      <p:sp>
        <p:nvSpPr>
          <p:cNvPr id="4" name="Text 2"/>
          <p:cNvSpPr/>
          <p:nvPr/>
        </p:nvSpPr>
        <p:spPr>
          <a:xfrm>
            <a:off x="812800" y="3968750"/>
            <a:ext cx="10883392" cy="345380"/>
          </a:xfrm>
          <a:prstGeom prst="rect">
            <a:avLst/>
          </a:prstGeom>
          <a:noFill/>
          <a:ln/>
        </p:spPr>
        <p:txBody>
          <a:bodyPr wrap="square" lIns="0" tIns="0" rIns="0" bIns="0" rtlCol="0" anchor="t">
            <a:normAutofit/>
          </a:bodyPr>
          <a:lstStyle/>
          <a:p>
            <a:pPr marL="0" indent="0" algn="l">
              <a:lnSpc>
                <a:spcPts val="2520"/>
              </a:lnSpc>
              <a:buNone/>
            </a:pPr>
            <a:endParaRPr lang="en-US" sz="1800">
              <a:solidFill>
                <a:srgbClr val="B4C2CE"/>
              </a:solidFill>
            </a:endParaRPr>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8A99A8"/>
                </a:solidFill>
                <a:latin typeface="Inter" pitchFamily="34" charset="0"/>
                <a:ea typeface="Inter" pitchFamily="34" charset="-122"/>
                <a:cs typeface="Inter" pitchFamily="34" charset="-120"/>
              </a:rPr>
              <a:t>AI in SDLC · Session 3</a:t>
            </a:r>
            <a:endParaRPr lang="en-US" sz="1200"/>
          </a:p>
        </p:txBody>
      </p:sp>
      <p:sp>
        <p:nvSpPr>
          <p:cNvPr id="6" name="Text 4"/>
          <p:cNvSpPr/>
          <p:nvPr/>
        </p:nvSpPr>
        <p:spPr>
          <a:xfrm>
            <a:off x="10871200" y="6238280"/>
            <a:ext cx="558800" cy="238720"/>
          </a:xfrm>
          <a:prstGeom prst="rect">
            <a:avLst/>
          </a:prstGeom>
          <a:noFill/>
          <a:ln/>
        </p:spPr>
        <p:txBody>
          <a:bodyPr wrap="square" lIns="0" tIns="0" rIns="0" bIns="0" rtlCol="0" anchor="t">
            <a:normAutofit/>
          </a:bodyPr>
          <a:lstStyle/>
          <a:p>
            <a:pPr marL="0" indent="0" algn="l">
              <a:lnSpc>
                <a:spcPts val="1680"/>
              </a:lnSpc>
              <a:buNone/>
            </a:pPr>
            <a:endParaRPr lang="en-US" sz="1200">
              <a:solidFill>
                <a:srgbClr val="8A99A8"/>
              </a:solidFill>
            </a:endParaRPr>
          </a:p>
        </p:txBody>
      </p:sp>
    </p:spTree>
  </p:cSld>
  <p:clrMapOvr>
    <a:masterClrMapping/>
  </p:clrMapOvr>
</p:sld>
</file>

<file path=ppt/theme/theme1.xml><?xml version="1.0" encoding="utf-8"?>
<a:theme xmlns:a="http://schemas.openxmlformats.org/drawingml/2006/main" name="AI in SDLC — Session 3: Design, operate, govern">
  <a:themeElements>
    <a:clrScheme name="AI in SDLC — Session 3: Design, operate, govern">
      <a:dk1>
        <a:srgbClr val="16202A"/>
      </a:dk1>
      <a:lt1>
        <a:srgbClr val="F4F1EA"/>
      </a:lt1>
      <a:dk2>
        <a:srgbClr val="4E545A"/>
      </a:dk2>
      <a:lt2>
        <a:srgbClr val="DEDCD7"/>
      </a:lt2>
      <a:accent1>
        <a:srgbClr val="35C7B4"/>
      </a:accent1>
      <a:accent2>
        <a:srgbClr val="F5A524"/>
      </a:accent2>
      <a:accent3>
        <a:srgbClr val="4F5B67"/>
      </a:accent3>
      <a:accent4>
        <a:srgbClr val="3B4652"/>
      </a:accent4>
      <a:accent5>
        <a:srgbClr val="8A99A8"/>
      </a:accent5>
      <a:accent6>
        <a:srgbClr val="D9E1E8"/>
      </a:accent6>
      <a:hlink>
        <a:srgbClr val="0563C1"/>
      </a:hlink>
      <a:folHlink>
        <a:srgbClr val="954F72"/>
      </a:folHlink>
    </a:clrScheme>
    <a:fontScheme name="AI in SDLC — Session 3: Design, operate, gover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26</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AI in SDLC — Session 3: Design, operate, govern</vt:lpstr>
      <vt:lpstr>AI in the SDLC: design, operate, govern</vt:lpstr>
      <vt:lpstr>Recap: four ideas from Sessions 1 and 2</vt:lpstr>
      <vt:lpstr>Design and architecture</vt:lpstr>
      <vt:lpstr>Where agents help in design, and where they mislead</vt:lpstr>
      <vt:lpstr>Mermaid MCP: diagrams as code the agent can render</vt:lpstr>
      <vt:lpstr>As-built diagrams from the code, then a change</vt:lpstr>
      <vt:lpstr>Keeping diagrams honest</vt:lpstr>
      <vt:lpstr>A design decision record, then try to break it</vt:lpstr>
      <vt:lpstr>Stress-test a recommendation before you trust it</vt:lpstr>
      <vt:lpstr>AI in DevSecOps</vt:lpstr>
      <vt:lpstr>Agent autonomy is a policy decision</vt:lpstr>
      <vt:lpstr>Root cause analysis from logs, no fix yet</vt:lpstr>
      <vt:lpstr>Pipeline optimization that keeps every security gate</vt:lpstr>
      <vt:lpstr>Incident response: read-only until a human approves</vt:lpstr>
      <vt:lpstr>Risks, governance and measurement</vt:lpstr>
      <vt:lpstr>The lethal trifecta: the risk to design around</vt:lpstr>
      <vt:lpstr>Five risks and the control that answers each</vt:lpstr>
      <vt:lpstr>Data privacy: decide what may go where</vt:lpstr>
      <vt:lpstr>Evals: a small test suite for the agent itself</vt:lpstr>
      <vt:lpstr>A quality gate and a tiny eval</vt:lpstr>
      <vt:lpstr>Developers felt about 20% faster. They measured 19% slower.</vt:lpstr>
      <vt:lpstr>DORA 2025: AI amplifies what is already there</vt:lpstr>
      <vt:lpstr>What to measure, and what to ignore</vt:lpstr>
      <vt:lpstr>Scaling adoption: five steps, each with exit evidence</vt:lpstr>
      <vt:lpstr>Four things an engineer should own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SDLC — Session 3: Design, operate, govern</dc:title>
  <dc:subject/>
  <dc:creator/>
  <cp:revision>4</cp:revision>
  <dcterms:created xsi:type="dcterms:W3CDTF">2026-10-06T13:38:13Z</dcterms:created>
  <dcterms:modified xsi:type="dcterms:W3CDTF">2026-10-14T06:52:23Z</dcterms:modified>
</cp:coreProperties>
</file>