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  <p:sldId id="305" r:id="rId9"/>
    <p:sldId id="265" r:id="rId10"/>
    <p:sldId id="266" r:id="rId11"/>
    <p:sldId id="267" r:id="rId12"/>
    <p:sldId id="306" r:id="rId13"/>
    <p:sldId id="307" r:id="rId14"/>
    <p:sldId id="308" r:id="rId15"/>
    <p:sldId id="309" r:id="rId16"/>
    <p:sldId id="310" r:id="rId17"/>
    <p:sldId id="269" r:id="rId18"/>
    <p:sldId id="268" r:id="rId19"/>
    <p:sldId id="270" r:id="rId20"/>
    <p:sldId id="271" r:id="rId21"/>
    <p:sldId id="272" r:id="rId22"/>
    <p:sldId id="273" r:id="rId23"/>
    <p:sldId id="312" r:id="rId24"/>
    <p:sldId id="274" r:id="rId25"/>
    <p:sldId id="31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62895" autoAdjust="0"/>
  </p:normalViewPr>
  <p:slideViewPr>
    <p:cSldViewPr snapToGrid="0">
      <p:cViewPr varScale="1">
        <p:scale>
          <a:sx n="46" d="100"/>
          <a:sy n="46" d="100"/>
        </p:scale>
        <p:origin x="1252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sav Verma" userId="7116b95e-c595-4ba9-be9e-6e48211d8705" providerId="ADAL" clId="{54C6BDDD-76DB-4326-9870-99B83D018763}"/>
    <pc:docChg chg="undo redo custSel modSld">
      <pc:chgData name="Utsav Verma" userId="7116b95e-c595-4ba9-be9e-6e48211d8705" providerId="ADAL" clId="{54C6BDDD-76DB-4326-9870-99B83D018763}" dt="2026-10-04T14:55:12.240" v="1657" actId="478"/>
      <pc:docMkLst>
        <pc:docMk/>
      </pc:docMkLst>
      <pc:sldChg chg="modNotesTx">
        <pc:chgData name="Utsav Verma" userId="7116b95e-c595-4ba9-be9e-6e48211d8705" providerId="ADAL" clId="{54C6BDDD-76DB-4326-9870-99B83D018763}" dt="2026-10-04T14:53:09.899" v="1631" actId="20577"/>
        <pc:sldMkLst>
          <pc:docMk/>
          <pc:sldMk cId="548911704" sldId="257"/>
        </pc:sldMkLst>
      </pc:sldChg>
      <pc:sldChg chg="modNotesTx">
        <pc:chgData name="Utsav Verma" userId="7116b95e-c595-4ba9-be9e-6e48211d8705" providerId="ADAL" clId="{54C6BDDD-76DB-4326-9870-99B83D018763}" dt="2026-10-04T14:53:10.373" v="1632" actId="20577"/>
        <pc:sldMkLst>
          <pc:docMk/>
          <pc:sldMk cId="3864294670" sldId="258"/>
        </pc:sldMkLst>
      </pc:sldChg>
      <pc:sldChg chg="modNotesTx">
        <pc:chgData name="Utsav Verma" userId="7116b95e-c595-4ba9-be9e-6e48211d8705" providerId="ADAL" clId="{54C6BDDD-76DB-4326-9870-99B83D018763}" dt="2026-10-04T14:53:10.728" v="1633" actId="20577"/>
        <pc:sldMkLst>
          <pc:docMk/>
          <pc:sldMk cId="0" sldId="259"/>
        </pc:sldMkLst>
      </pc:sldChg>
      <pc:sldChg chg="modNotesTx">
        <pc:chgData name="Utsav Verma" userId="7116b95e-c595-4ba9-be9e-6e48211d8705" providerId="ADAL" clId="{54C6BDDD-76DB-4326-9870-99B83D018763}" dt="2026-10-04T14:53:10.903" v="1634" actId="20577"/>
        <pc:sldMkLst>
          <pc:docMk/>
          <pc:sldMk cId="0" sldId="261"/>
        </pc:sldMkLst>
      </pc:sldChg>
      <pc:sldChg chg="modNotesTx">
        <pc:chgData name="Utsav Verma" userId="7116b95e-c595-4ba9-be9e-6e48211d8705" providerId="ADAL" clId="{54C6BDDD-76DB-4326-9870-99B83D018763}" dt="2026-10-04T14:53:11.061" v="1635" actId="20577"/>
        <pc:sldMkLst>
          <pc:docMk/>
          <pc:sldMk cId="0" sldId="262"/>
        </pc:sldMkLst>
      </pc:sldChg>
      <pc:sldChg chg="modNotesTx">
        <pc:chgData name="Utsav Verma" userId="7116b95e-c595-4ba9-be9e-6e48211d8705" providerId="ADAL" clId="{54C6BDDD-76DB-4326-9870-99B83D018763}" dt="2026-10-04T14:53:11.221" v="1636" actId="20577"/>
        <pc:sldMkLst>
          <pc:docMk/>
          <pc:sldMk cId="0" sldId="263"/>
        </pc:sldMkLst>
      </pc:sldChg>
      <pc:sldChg chg="modNotesTx">
        <pc:chgData name="Utsav Verma" userId="7116b95e-c595-4ba9-be9e-6e48211d8705" providerId="ADAL" clId="{54C6BDDD-76DB-4326-9870-99B83D018763}" dt="2026-10-04T14:53:11.355" v="1637" actId="20577"/>
        <pc:sldMkLst>
          <pc:docMk/>
          <pc:sldMk cId="0" sldId="264"/>
        </pc:sldMkLst>
      </pc:sldChg>
      <pc:sldChg chg="modNotesTx">
        <pc:chgData name="Utsav Verma" userId="7116b95e-c595-4ba9-be9e-6e48211d8705" providerId="ADAL" clId="{54C6BDDD-76DB-4326-9870-99B83D018763}" dt="2026-10-04T14:53:11.672" v="1639" actId="20577"/>
        <pc:sldMkLst>
          <pc:docMk/>
          <pc:sldMk cId="0" sldId="265"/>
        </pc:sldMkLst>
      </pc:sldChg>
      <pc:sldChg chg="modNotesTx">
        <pc:chgData name="Utsav Verma" userId="7116b95e-c595-4ba9-be9e-6e48211d8705" providerId="ADAL" clId="{54C6BDDD-76DB-4326-9870-99B83D018763}" dt="2026-10-04T14:53:11.795" v="1640" actId="20577"/>
        <pc:sldMkLst>
          <pc:docMk/>
          <pc:sldMk cId="0" sldId="266"/>
        </pc:sldMkLst>
      </pc:sldChg>
      <pc:sldChg chg="modNotesTx">
        <pc:chgData name="Utsav Verma" userId="7116b95e-c595-4ba9-be9e-6e48211d8705" providerId="ADAL" clId="{54C6BDDD-76DB-4326-9870-99B83D018763}" dt="2026-10-04T14:53:11.942" v="1641" actId="20577"/>
        <pc:sldMkLst>
          <pc:docMk/>
          <pc:sldMk cId="0" sldId="267"/>
        </pc:sldMkLst>
      </pc:sldChg>
      <pc:sldChg chg="modNotesTx">
        <pc:chgData name="Utsav Verma" userId="7116b95e-c595-4ba9-be9e-6e48211d8705" providerId="ADAL" clId="{54C6BDDD-76DB-4326-9870-99B83D018763}" dt="2026-10-04T14:53:36.813" v="1648" actId="20577"/>
        <pc:sldMkLst>
          <pc:docMk/>
          <pc:sldMk cId="0" sldId="268"/>
        </pc:sldMkLst>
      </pc:sldChg>
      <pc:sldChg chg="modNotesTx">
        <pc:chgData name="Utsav Verma" userId="7116b95e-c595-4ba9-be9e-6e48211d8705" providerId="ADAL" clId="{54C6BDDD-76DB-4326-9870-99B83D018763}" dt="2026-10-04T14:53:33.944" v="1647" actId="20577"/>
        <pc:sldMkLst>
          <pc:docMk/>
          <pc:sldMk cId="0" sldId="269"/>
        </pc:sldMkLst>
      </pc:sldChg>
      <pc:sldChg chg="modNotesTx">
        <pc:chgData name="Utsav Verma" userId="7116b95e-c595-4ba9-be9e-6e48211d8705" providerId="ADAL" clId="{54C6BDDD-76DB-4326-9870-99B83D018763}" dt="2026-10-04T14:53:39.350" v="1649" actId="20577"/>
        <pc:sldMkLst>
          <pc:docMk/>
          <pc:sldMk cId="0" sldId="270"/>
        </pc:sldMkLst>
      </pc:sldChg>
      <pc:sldChg chg="modNotesTx">
        <pc:chgData name="Utsav Verma" userId="7116b95e-c595-4ba9-be9e-6e48211d8705" providerId="ADAL" clId="{54C6BDDD-76DB-4326-9870-99B83D018763}" dt="2026-10-04T14:53:42.237" v="1650" actId="20577"/>
        <pc:sldMkLst>
          <pc:docMk/>
          <pc:sldMk cId="0" sldId="271"/>
        </pc:sldMkLst>
      </pc:sldChg>
      <pc:sldChg chg="modNotesTx">
        <pc:chgData name="Utsav Verma" userId="7116b95e-c595-4ba9-be9e-6e48211d8705" providerId="ADAL" clId="{54C6BDDD-76DB-4326-9870-99B83D018763}" dt="2026-10-04T14:53:44.847" v="1651" actId="20577"/>
        <pc:sldMkLst>
          <pc:docMk/>
          <pc:sldMk cId="0" sldId="272"/>
        </pc:sldMkLst>
      </pc:sldChg>
      <pc:sldChg chg="addSp delSp modSp mod modNotesTx">
        <pc:chgData name="Utsav Verma" userId="7116b95e-c595-4ba9-be9e-6e48211d8705" providerId="ADAL" clId="{54C6BDDD-76DB-4326-9870-99B83D018763}" dt="2026-10-04T14:55:12.240" v="1657" actId="478"/>
        <pc:sldMkLst>
          <pc:docMk/>
          <pc:sldMk cId="0" sldId="273"/>
        </pc:sldMkLst>
        <pc:spChg chg="add mod">
          <ac:chgData name="Utsav Verma" userId="7116b95e-c595-4ba9-be9e-6e48211d8705" providerId="ADAL" clId="{54C6BDDD-76DB-4326-9870-99B83D018763}" dt="2026-09-30T06:44:40.585" v="1425"/>
          <ac:spMkLst>
            <pc:docMk/>
            <pc:sldMk cId="0" sldId="273"/>
            <ac:spMk id="4" creationId="{904FC15E-8B6F-764F-08F5-1E00960A4C7E}"/>
          </ac:spMkLst>
        </pc:spChg>
        <pc:spChg chg="add del mod">
          <ac:chgData name="Utsav Verma" userId="7116b95e-c595-4ba9-be9e-6e48211d8705" providerId="ADAL" clId="{54C6BDDD-76DB-4326-9870-99B83D018763}" dt="2026-10-04T14:55:12.240" v="1657" actId="478"/>
          <ac:spMkLst>
            <pc:docMk/>
            <pc:sldMk cId="0" sldId="273"/>
            <ac:spMk id="8" creationId="{E738E91B-455E-1FE2-E6CB-8F86BD9EE6A9}"/>
          </ac:spMkLst>
        </pc:spChg>
        <pc:spChg chg="add del mod">
          <ac:chgData name="Utsav Verma" userId="7116b95e-c595-4ba9-be9e-6e48211d8705" providerId="ADAL" clId="{54C6BDDD-76DB-4326-9870-99B83D018763}" dt="2026-10-04T14:55:10.154" v="1655" actId="478"/>
          <ac:spMkLst>
            <pc:docMk/>
            <pc:sldMk cId="0" sldId="273"/>
            <ac:spMk id="10" creationId="{09662B97-CC50-A1AB-4FB8-907FE8ECBBC6}"/>
          </ac:spMkLst>
        </pc:spChg>
      </pc:sldChg>
      <pc:sldChg chg="modNotesTx">
        <pc:chgData name="Utsav Verma" userId="7116b95e-c595-4ba9-be9e-6e48211d8705" providerId="ADAL" clId="{54C6BDDD-76DB-4326-9870-99B83D018763}" dt="2026-09-30T06:51:13.672" v="1537" actId="20577"/>
        <pc:sldMkLst>
          <pc:docMk/>
          <pc:sldMk cId="0" sldId="274"/>
        </pc:sldMkLst>
      </pc:sldChg>
      <pc:sldChg chg="modNotesTx">
        <pc:chgData name="Utsav Verma" userId="7116b95e-c595-4ba9-be9e-6e48211d8705" providerId="ADAL" clId="{54C6BDDD-76DB-4326-9870-99B83D018763}" dt="2026-10-04T14:53:11.505" v="1638" actId="20577"/>
        <pc:sldMkLst>
          <pc:docMk/>
          <pc:sldMk cId="2763962450" sldId="305"/>
        </pc:sldMkLst>
      </pc:sldChg>
      <pc:sldChg chg="modNotesTx">
        <pc:chgData name="Utsav Verma" userId="7116b95e-c595-4ba9-be9e-6e48211d8705" providerId="ADAL" clId="{54C6BDDD-76DB-4326-9870-99B83D018763}" dt="2026-10-04T14:53:12.103" v="1642" actId="20577"/>
        <pc:sldMkLst>
          <pc:docMk/>
          <pc:sldMk cId="4057819445" sldId="306"/>
        </pc:sldMkLst>
      </pc:sldChg>
      <pc:sldChg chg="modNotesTx">
        <pc:chgData name="Utsav Verma" userId="7116b95e-c595-4ba9-be9e-6e48211d8705" providerId="ADAL" clId="{54C6BDDD-76DB-4326-9870-99B83D018763}" dt="2026-10-04T14:53:23.787" v="1643" actId="20577"/>
        <pc:sldMkLst>
          <pc:docMk/>
          <pc:sldMk cId="4069920790" sldId="307"/>
        </pc:sldMkLst>
      </pc:sldChg>
      <pc:sldChg chg="modNotesTx">
        <pc:chgData name="Utsav Verma" userId="7116b95e-c595-4ba9-be9e-6e48211d8705" providerId="ADAL" clId="{54C6BDDD-76DB-4326-9870-99B83D018763}" dt="2026-10-04T14:53:25.966" v="1644" actId="20577"/>
        <pc:sldMkLst>
          <pc:docMk/>
          <pc:sldMk cId="662430306" sldId="308"/>
        </pc:sldMkLst>
      </pc:sldChg>
      <pc:sldChg chg="modNotesTx">
        <pc:chgData name="Utsav Verma" userId="7116b95e-c595-4ba9-be9e-6e48211d8705" providerId="ADAL" clId="{54C6BDDD-76DB-4326-9870-99B83D018763}" dt="2026-10-04T14:53:28.694" v="1645" actId="20577"/>
        <pc:sldMkLst>
          <pc:docMk/>
          <pc:sldMk cId="236769731" sldId="309"/>
        </pc:sldMkLst>
      </pc:sldChg>
      <pc:sldChg chg="modNotesTx">
        <pc:chgData name="Utsav Verma" userId="7116b95e-c595-4ba9-be9e-6e48211d8705" providerId="ADAL" clId="{54C6BDDD-76DB-4326-9870-99B83D018763}" dt="2026-10-04T14:53:31.483" v="1646" actId="20577"/>
        <pc:sldMkLst>
          <pc:docMk/>
          <pc:sldMk cId="4046497189" sldId="310"/>
        </pc:sldMkLst>
      </pc:sldChg>
      <pc:sldChg chg="modSp mod modNotesTx">
        <pc:chgData name="Utsav Verma" userId="7116b95e-c595-4ba9-be9e-6e48211d8705" providerId="ADAL" clId="{54C6BDDD-76DB-4326-9870-99B83D018763}" dt="2026-10-04T14:53:56.241" v="1654" actId="20577"/>
        <pc:sldMkLst>
          <pc:docMk/>
          <pc:sldMk cId="585881193" sldId="311"/>
        </pc:sldMkLst>
        <pc:spChg chg="mod">
          <ac:chgData name="Utsav Verma" userId="7116b95e-c595-4ba9-be9e-6e48211d8705" providerId="ADAL" clId="{54C6BDDD-76DB-4326-9870-99B83D018763}" dt="2026-09-30T06:43:26.198" v="1413" actId="27636"/>
          <ac:spMkLst>
            <pc:docMk/>
            <pc:sldMk cId="585881193" sldId="311"/>
            <ac:spMk id="3" creationId="{00000000-0000-0000-0000-000000000000}"/>
          </ac:spMkLst>
        </pc:spChg>
      </pc:sldChg>
      <pc:sldChg chg="modNotesTx">
        <pc:chgData name="Utsav Verma" userId="7116b95e-c595-4ba9-be9e-6e48211d8705" providerId="ADAL" clId="{54C6BDDD-76DB-4326-9870-99B83D018763}" dt="2026-10-04T14:53:50.835" v="1653" actId="20577"/>
        <pc:sldMkLst>
          <pc:docMk/>
          <pc:sldMk cId="3616400513" sldId="31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2B8439-0703-452E-AC35-D6E973BAECC2}" type="datetimeFigureOut"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4D0053-064C-4310-BEBD-E97F9D0CE47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944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2025"/>
              </a:lnSpc>
            </a:pPr>
            <a:endParaRPr lang="en-US" dirty="0">
              <a:ea typeface="Calibri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85C3-8EB4-EF4E-048C-7F8E9D953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122342-8B64-7F4E-3C4E-F813C9A38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0F064-9AC8-5660-BE21-3E937873F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CCAFA-4676-91D6-C0E9-8C3B1E3E78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1591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9B053-1A2A-285B-D44B-2B65ED3DE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F08E8C-8C07-2339-2961-73CF4E4A5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E2B373-EC46-DB3C-A869-E064581C4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00E4A-58FC-F12F-0AD9-18E294CE05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8229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574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2030115"/>
            <a:ext cx="889000" cy="88900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12800" y="2398415"/>
            <a:ext cx="10883392" cy="1598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95"/>
              </a:lnSpc>
              <a:buNone/>
            </a:pPr>
            <a:r>
              <a:rPr lang="en-US" sz="59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in the Software Development Lifecycle</a:t>
            </a:r>
            <a:endParaRPr lang="en-US" sz="5900" dirty="0"/>
          </a:p>
        </p:txBody>
      </p:sp>
      <p:sp>
        <p:nvSpPr>
          <p:cNvPr id="4" name="Text 2"/>
          <p:cNvSpPr/>
          <p:nvPr/>
        </p:nvSpPr>
        <p:spPr>
          <a:xfrm>
            <a:off x="812800" y="4251226"/>
            <a:ext cx="10883392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endParaRPr lang="en-US" sz="2100" dirty="0">
              <a:solidFill>
                <a:srgbClr val="35C7B4"/>
              </a:solidFill>
              <a:latin typeface="Inter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5999559"/>
            <a:ext cx="1046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endParaRPr lang="en-US" sz="1400" dirty="0">
              <a:solidFill>
                <a:srgbClr val="B4C2CE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548911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sessions, one journey through the SDLC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815975" y="2523884"/>
            <a:ext cx="3414117" cy="1657350"/>
          </a:xfrm>
          <a:prstGeom prst="roundRect">
            <a:avLst>
              <a:gd name="adj" fmla="val 5939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7750" y="2755659"/>
            <a:ext cx="303908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6202A"/>
                </a:solidFill>
                <a:latin typeface="Space Grotesk"/>
                <a:ea typeface="Space Grotesk"/>
                <a:cs typeface="Space Grotesk" pitchFamily="34" charset="-120"/>
              </a:rPr>
              <a:t>Session 1</a:t>
            </a:r>
            <a:endParaRPr lang="en-US" sz="2000" dirty="0">
              <a:latin typeface="Space Grotesk"/>
              <a:ea typeface="Space Grotesk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47750" y="3149359"/>
            <a:ext cx="303908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3B46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adoption landscape, requirements and planning, agentic coding (part 1).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4388842" y="2523884"/>
            <a:ext cx="3414216" cy="1657350"/>
          </a:xfrm>
          <a:prstGeom prst="roundRect">
            <a:avLst>
              <a:gd name="adj" fmla="val 5939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20617" y="2755659"/>
            <a:ext cx="3039186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6202A"/>
                </a:solidFill>
                <a:latin typeface="Space Grotesk"/>
                <a:ea typeface="Space Grotesk"/>
                <a:cs typeface="Space Grotesk" pitchFamily="34" charset="-120"/>
              </a:rPr>
              <a:t>Session 2</a:t>
            </a:r>
            <a:endParaRPr lang="en-US" sz="2000" dirty="0">
              <a:latin typeface="Space Grotesk"/>
              <a:ea typeface="Space Grotesk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20617" y="3149359"/>
            <a:ext cx="303918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3B46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Spec-driven development, AI code review, testing and QA with Playwright.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7961809" y="2523884"/>
            <a:ext cx="3414216" cy="1657350"/>
          </a:xfrm>
          <a:prstGeom prst="roundRect">
            <a:avLst>
              <a:gd name="adj" fmla="val 5939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93584" y="2755659"/>
            <a:ext cx="3039186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6202A"/>
                </a:solidFill>
                <a:latin typeface="Space Grotesk"/>
                <a:ea typeface="Space Grotesk"/>
                <a:cs typeface="Space Grotesk" pitchFamily="34" charset="-120"/>
              </a:rPr>
              <a:t>Session 3 </a:t>
            </a:r>
            <a:endParaRPr lang="en-US" sz="2000" dirty="0">
              <a:latin typeface="Space Grotesk"/>
              <a:ea typeface="Space Grotesk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193584" y="3149359"/>
            <a:ext cx="303918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3B46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design, DevSecOps, risks and governance, scaling and ROI.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Workshop overview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>
              <a:solidFill>
                <a:srgbClr val="4F5B67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864294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A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83854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150">
                <a:solidFill>
                  <a:srgbClr val="0F17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WORKSHOP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812800" y="2177554"/>
            <a:ext cx="10883392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00"/>
              </a:lnSpc>
              <a:buNone/>
            </a:pPr>
            <a:r>
              <a:rPr lang="en-US" sz="8500" b="1">
                <a:solidFill>
                  <a:srgbClr val="0F17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Session 1</a:t>
            </a:r>
            <a:endParaRPr lang="en-US" sz="8500"/>
          </a:p>
        </p:txBody>
      </p:sp>
      <p:sp>
        <p:nvSpPr>
          <p:cNvPr id="4" name="Text 2"/>
          <p:cNvSpPr/>
          <p:nvPr/>
        </p:nvSpPr>
        <p:spPr>
          <a:xfrm>
            <a:off x="812800" y="3384054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endParaRPr lang="en-US" sz="2200" b="1" dirty="0">
              <a:solidFill>
                <a:srgbClr val="0F1720"/>
              </a:solidFill>
              <a:latin typeface="Inter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4054574"/>
            <a:ext cx="10883392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>
                <a:solidFill>
                  <a:srgbClr val="0F17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adoption and the tool landscape</a:t>
            </a:r>
            <a:endParaRPr lang="en-US" sz="1700"/>
          </a:p>
        </p:txBody>
      </p:sp>
      <p:sp>
        <p:nvSpPr>
          <p:cNvPr id="6" name="Text 4"/>
          <p:cNvSpPr/>
          <p:nvPr/>
        </p:nvSpPr>
        <p:spPr>
          <a:xfrm>
            <a:off x="812800" y="4424065"/>
            <a:ext cx="10883392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>
                <a:solidFill>
                  <a:srgbClr val="0F17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 gathering and planning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812800" y="4793555"/>
            <a:ext cx="10883392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>
                <a:solidFill>
                  <a:srgbClr val="0F17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coding, part 1: skills, hooks, subagents, MCP</a:t>
            </a:r>
            <a:endParaRPr lang="en-US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AI in coding has matured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779689" y="2460384"/>
            <a:ext cx="2520950" cy="1574502"/>
          </a:xfrm>
          <a:prstGeom prst="roundRect">
            <a:avLst>
              <a:gd name="adj" fmla="val 6251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11464" y="2692159"/>
            <a:ext cx="2119122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Autocomplete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1011464" y="3056590"/>
            <a:ext cx="211912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3B46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Suggests the next line. You stay in full control.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3459389" y="2460384"/>
            <a:ext cx="2520950" cy="1574502"/>
          </a:xfrm>
          <a:prstGeom prst="roundRect">
            <a:avLst>
              <a:gd name="adj" fmla="val 6251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91164" y="2692159"/>
            <a:ext cx="2119122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Chat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3691164" y="3056590"/>
            <a:ext cx="211912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3B46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questions and drafts snippets. You copy and paste.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6139089" y="2460384"/>
            <a:ext cx="2520950" cy="1574502"/>
          </a:xfrm>
          <a:prstGeom prst="roundRect">
            <a:avLst>
              <a:gd name="adj" fmla="val 6251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70864" y="2692159"/>
            <a:ext cx="2119122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Agents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6370864" y="3056590"/>
            <a:ext cx="211912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3B46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repo, edit files, run tests, fix their own errors.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8818789" y="2460384"/>
            <a:ext cx="2520950" cy="1574502"/>
          </a:xfrm>
          <a:prstGeom prst="roundRect">
            <a:avLst>
              <a:gd name="adj" fmla="val 6251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050564" y="2692159"/>
            <a:ext cx="2119122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teams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9050564" y="3056590"/>
            <a:ext cx="211912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3B46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specialists with review gates and human sign-off.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1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>
              <a:solidFill>
                <a:srgbClr val="4F5B67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tool landscape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812800" y="1838226"/>
            <a:ext cx="10566400" cy="0"/>
          </a:xfrm>
          <a:prstGeom prst="line">
            <a:avLst/>
          </a:prstGeom>
          <a:noFill/>
          <a:ln w="19050">
            <a:solidFill>
              <a:srgbClr val="162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3600" y="1513780"/>
            <a:ext cx="23022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3302000" y="1513780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 factor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6858000" y="1513780"/>
            <a:ext cx="46045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to know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812800" y="2559546"/>
            <a:ext cx="10566400" cy="0"/>
          </a:xfrm>
          <a:prstGeom prst="line">
            <a:avLst/>
          </a:prstGeom>
          <a:noFill/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3600" y="1987451"/>
            <a:ext cx="230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GitHub Copilot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3302000" y="1987451"/>
            <a:ext cx="3453384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 extension, agent mode, cloud coding agent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6858000" y="1987451"/>
            <a:ext cx="460451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Broadest IDE reach and GitHub integration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812800" y="3067546"/>
            <a:ext cx="10566400" cy="0"/>
          </a:xfrm>
          <a:prstGeom prst="line">
            <a:avLst/>
          </a:prstGeom>
          <a:noFill/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3600" y="2702421"/>
            <a:ext cx="230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Cursor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3302000" y="2702421"/>
            <a:ext cx="3453384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AI-native IDE built on a VS Code base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6858000" y="2702421"/>
            <a:ext cx="460451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Tight editing loop with multi-file changes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812800" y="3575546"/>
            <a:ext cx="10566400" cy="0"/>
          </a:xfrm>
          <a:prstGeom prst="line">
            <a:avLst/>
          </a:prstGeom>
          <a:noFill/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3600" y="3210421"/>
            <a:ext cx="230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Claude Code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3302000" y="3210421"/>
            <a:ext cx="3453384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Terminal-first agent, also IDE and desktop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6858000" y="3210421"/>
            <a:ext cx="460451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Skills, hooks, subagents and MCP built in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812800" y="4083546"/>
            <a:ext cx="10566400" cy="0"/>
          </a:xfrm>
          <a:prstGeom prst="line">
            <a:avLst/>
          </a:prstGeom>
          <a:noFill/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3600" y="3718421"/>
            <a:ext cx="230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OpenCode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3302000" y="3718421"/>
            <a:ext cx="3453384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 terminal agent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6858000" y="3718421"/>
            <a:ext cx="460451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many model providers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812800" y="4591546"/>
            <a:ext cx="10566400" cy="0"/>
          </a:xfrm>
          <a:prstGeom prst="line">
            <a:avLst/>
          </a:prstGeom>
          <a:noFill/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3600" y="4226421"/>
            <a:ext cx="230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Codex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3302000" y="4226421"/>
            <a:ext cx="3453384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coding agent: CLI, IDE, cloud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6858000" y="4226421"/>
            <a:ext cx="460451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Delegate tasks to run in the background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1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>
              <a:solidFill>
                <a:srgbClr val="4F5B67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 agents and terminal agents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815975" y="1516955"/>
            <a:ext cx="5181600" cy="2000250"/>
          </a:xfrm>
          <a:prstGeom prst="roundRect">
            <a:avLst>
              <a:gd name="adj" fmla="val 4921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73150" y="1774130"/>
            <a:ext cx="480726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IDE-based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1073150" y="2193230"/>
            <a:ext cx="480726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Inline diffs while you type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Great for small, visual edits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learning curve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stay close to the code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6203950" y="1513780"/>
            <a:ext cx="5175250" cy="2006600"/>
          </a:xfrm>
          <a:prstGeom prst="roundRect">
            <a:avLst>
              <a:gd name="adj" fmla="val 5063"/>
            </a:avLst>
          </a:prstGeom>
          <a:solidFill>
            <a:srgbClr val="0F17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57950" y="1767780"/>
            <a:ext cx="480726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>
                <a:solidFill>
                  <a:srgbClr val="F5A5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Terminal-based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6457950" y="2186880"/>
            <a:ext cx="480726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long tasks with less babysitting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to script, chain and run in CI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Editor-agnostic across the team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review the diff, not every keystroke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1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>
              <a:solidFill>
                <a:srgbClr val="4F5B67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an AI-native SDLC looks like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812800" y="1838226"/>
            <a:ext cx="10566400" cy="0"/>
          </a:xfrm>
          <a:prstGeom prst="line">
            <a:avLst/>
          </a:prstGeom>
          <a:noFill/>
          <a:ln w="19050">
            <a:solidFill>
              <a:srgbClr val="162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3600" y="1513780"/>
            <a:ext cx="2072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3078460" y="1513780"/>
            <a:ext cx="4144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does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7305080" y="1513780"/>
            <a:ext cx="41440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decides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812800" y="2352576"/>
            <a:ext cx="10566400" cy="0"/>
          </a:xfrm>
          <a:prstGeom prst="line">
            <a:avLst/>
          </a:prstGeom>
          <a:noFill/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3600" y="1987451"/>
            <a:ext cx="20720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Requirements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3078460" y="1987451"/>
            <a:ext cx="414412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Summarizes inputs, drafts stories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7305080" y="1987451"/>
            <a:ext cx="414402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Scope, priority, what is missing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812800" y="2860576"/>
            <a:ext cx="10566400" cy="0"/>
          </a:xfrm>
          <a:prstGeom prst="line">
            <a:avLst/>
          </a:prstGeom>
          <a:noFill/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3600" y="2495451"/>
            <a:ext cx="20720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 and build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3078460" y="2495451"/>
            <a:ext cx="414412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Explores code, implements to a plan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7305080" y="2495451"/>
            <a:ext cx="414402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Architecture, trade-offs, approvals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812800" y="3368576"/>
            <a:ext cx="10566400" cy="0"/>
          </a:xfrm>
          <a:prstGeom prst="line">
            <a:avLst/>
          </a:prstGeom>
          <a:noFill/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3600" y="3003451"/>
            <a:ext cx="20720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Review and test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3078460" y="3003451"/>
            <a:ext cx="414412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Reviews diffs, writes tests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7305080" y="3003451"/>
            <a:ext cx="414402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counts as correct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812800" y="3876576"/>
            <a:ext cx="10566400" cy="0"/>
          </a:xfrm>
          <a:prstGeom prst="line">
            <a:avLst/>
          </a:prstGeom>
          <a:noFill/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3600" y="3511451"/>
            <a:ext cx="20720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Release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3078460" y="3511451"/>
            <a:ext cx="414412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checks, drafts notes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7305080" y="3511451"/>
            <a:ext cx="414402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or no-go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812800" y="4384576"/>
            <a:ext cx="10566400" cy="0"/>
          </a:xfrm>
          <a:prstGeom prst="line">
            <a:avLst/>
          </a:prstGeom>
          <a:noFill/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3600" y="4019451"/>
            <a:ext cx="20720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Operate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3078460" y="4019451"/>
            <a:ext cx="414412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Triages alerts, suggests root cause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7305080" y="4019451"/>
            <a:ext cx="414402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 in production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1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>
              <a:solidFill>
                <a:srgbClr val="4F5B67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D0CC2C-1AAC-6628-F3C0-2B307293E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4BE093-A729-15EB-25B9-F179FF7D13DE}"/>
              </a:ext>
            </a:extLst>
          </p:cNvPr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520"/>
              </a:lnSpc>
            </a:pPr>
            <a:r>
              <a:rPr lang="en-US" sz="3200" b="1" dirty="0">
                <a:solidFill>
                  <a:srgbClr val="16202A"/>
                </a:solidFill>
                <a:latin typeface="Space Grotesk"/>
              </a:rPr>
              <a:t>GitHub </a:t>
            </a:r>
            <a:r>
              <a:rPr lang="en-US" sz="3200" b="1">
                <a:solidFill>
                  <a:srgbClr val="16202A"/>
                </a:solidFill>
                <a:latin typeface="Space Grotesk"/>
              </a:rPr>
              <a:t>Copilot Overview</a:t>
            </a:r>
          </a:p>
          <a:p>
            <a:pPr>
              <a:lnSpc>
                <a:spcPts val="3520"/>
              </a:lnSpc>
            </a:pPr>
            <a:endParaRPr lang="en-US" sz="3200" b="1">
              <a:solidFill>
                <a:srgbClr val="16202A"/>
              </a:solidFill>
              <a:latin typeface="Space Grotesk"/>
            </a:endParaRPr>
          </a:p>
          <a:p>
            <a:pPr>
              <a:lnSpc>
                <a:spcPts val="3520"/>
              </a:lnSpc>
            </a:pPr>
            <a:endParaRPr lang="en-US" sz="3200" b="1">
              <a:solidFill>
                <a:srgbClr val="16202A"/>
              </a:solidFill>
              <a:latin typeface="Space Grotesk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FF9E34A-F80E-722F-8CFA-7485332C8210}"/>
              </a:ext>
            </a:extLst>
          </p:cNvPr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1</a:t>
            </a:r>
            <a:endParaRPr lang="en-US" sz="12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5C0CAD9-0BD2-2FB7-A9C2-3C6A8C51F7B0}"/>
              </a:ext>
            </a:extLst>
          </p:cNvPr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>
              <a:solidFill>
                <a:srgbClr val="4F5B67"/>
              </a:solidFill>
              <a:latin typeface="Inter"/>
            </a:endParaRPr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24A4007A-CEDE-4E0D-597A-3E43564E28CE}"/>
              </a:ext>
            </a:extLst>
          </p:cNvPr>
          <p:cNvSpPr/>
          <p:nvPr/>
        </p:nvSpPr>
        <p:spPr>
          <a:xfrm>
            <a:off x="1133475" y="1671169"/>
            <a:ext cx="9732735" cy="1257003"/>
          </a:xfrm>
          <a:prstGeom prst="roundRect">
            <a:avLst>
              <a:gd name="adj" fmla="val 6251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0279F1A8-97B1-7126-7CBD-3B9C9766E7C0}"/>
              </a:ext>
            </a:extLst>
          </p:cNvPr>
          <p:cNvSpPr/>
          <p:nvPr/>
        </p:nvSpPr>
        <p:spPr>
          <a:xfrm>
            <a:off x="1873250" y="2147872"/>
            <a:ext cx="8441907" cy="288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070"/>
              </a:lnSpc>
            </a:pPr>
            <a:r>
              <a:rPr lang="en-US" sz="3200" b="1">
                <a:solidFill>
                  <a:srgbClr val="16202A"/>
                </a:solidFill>
                <a:latin typeface="Aptos"/>
                <a:ea typeface="Space Grotesk"/>
                <a:cs typeface="+mn-lt"/>
              </a:rPr>
              <a:t>Developer ↔ GitHub Copilot ↔ Codebase</a:t>
            </a:r>
            <a:endParaRPr lang="en-US" sz="3200" b="1">
              <a:latin typeface="Apto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87D77B-B09E-5003-C114-C0AACF3CC4D2}"/>
              </a:ext>
            </a:extLst>
          </p:cNvPr>
          <p:cNvSpPr txBox="1"/>
          <p:nvPr/>
        </p:nvSpPr>
        <p:spPr>
          <a:xfrm>
            <a:off x="2948214" y="31115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Ask → Understand → Generate → Modify → Validate</a:t>
            </a:r>
          </a:p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E20B90-0B26-FD7D-F79F-09248CFFC983}"/>
              </a:ext>
            </a:extLst>
          </p:cNvPr>
          <p:cNvSpPr txBox="1"/>
          <p:nvPr/>
        </p:nvSpPr>
        <p:spPr>
          <a:xfrm>
            <a:off x="1133929" y="3800928"/>
            <a:ext cx="873578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Getting Started</a:t>
            </a:r>
            <a:br>
              <a:rPr lang="en-US"/>
            </a:br>
            <a:r>
              <a:rPr lang="en-US"/>
              <a:t>GitHub Account → Copilot Access → Enable/Install → Sign In → Start Using</a:t>
            </a:r>
          </a:p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6A7165-7C78-8612-AEB4-026A6750E2BF}"/>
              </a:ext>
            </a:extLst>
          </p:cNvPr>
          <p:cNvSpPr txBox="1"/>
          <p:nvPr/>
        </p:nvSpPr>
        <p:spPr>
          <a:xfrm>
            <a:off x="1133929" y="4726214"/>
            <a:ext cx="8626928" cy="15184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Where can you use it?</a:t>
            </a:r>
          </a:p>
          <a:p>
            <a:pPr>
              <a:buFont typeface=""/>
              <a:buChar char="•"/>
            </a:pPr>
            <a:r>
              <a:rPr lang="en-US" b="1"/>
              <a:t>IDE </a:t>
            </a:r>
            <a:r>
              <a:rPr lang="en-US"/>
              <a:t>— VS Code, Visual Studio, JetBrains</a:t>
            </a:r>
          </a:p>
          <a:p>
            <a:pPr>
              <a:buFont typeface=""/>
              <a:buChar char="•"/>
            </a:pPr>
            <a:r>
              <a:rPr lang="en-US" b="1"/>
              <a:t>Terminal / CLI</a:t>
            </a:r>
            <a:r>
              <a:rPr lang="en-US"/>
              <a:t> — Commands, scripts, troubleshooting</a:t>
            </a:r>
          </a:p>
          <a:p>
            <a:pPr>
              <a:buFont typeface=""/>
              <a:buChar char="•"/>
            </a:pPr>
            <a:r>
              <a:rPr lang="en-US" b="1"/>
              <a:t>GitHub / Web</a:t>
            </a:r>
            <a:r>
              <a:rPr lang="en-US"/>
              <a:t> — Repositories, issues, pull requests, code understanding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62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1843286" cy="314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63600"/>
            <a:ext cx="16146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720"/>
                </a:solidFill>
                <a:latin typeface="Inter"/>
                <a:ea typeface="Inter" pitchFamily="34" charset="-122"/>
                <a:cs typeface="Inter" pitchFamily="34" charset="-120"/>
              </a:rPr>
              <a:t>LIVE DEMO 1</a:t>
            </a:r>
            <a:endParaRPr lang="en-US" sz="1200" dirty="0">
              <a:latin typeface="Aptos" panose="02110004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305520"/>
            <a:ext cx="52324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task, two agents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812800" y="1874441"/>
            <a:ext cx="523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the same failing test to an IDE agent and a terminal agent, side by side.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812800" y="2585641"/>
            <a:ext cx="5232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repo, same prompt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how each finds context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the diff and how you steer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where each fits your day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6299200" y="812800"/>
            <a:ext cx="5080000" cy="1762720"/>
          </a:xfrm>
          <a:prstGeom prst="roundRect">
            <a:avLst>
              <a:gd name="adj" fmla="val 4323"/>
            </a:avLst>
          </a:prstGeom>
          <a:solidFill>
            <a:srgbClr val="172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99200" y="812800"/>
            <a:ext cx="5080000" cy="1762720"/>
          </a:xfrm>
          <a:custGeom>
            <a:avLst/>
            <a:gdLst/>
            <a:ahLst/>
            <a:cxnLst/>
            <a:rect l="l" t="t" r="r" b="b"/>
            <a:pathLst>
              <a:path w="5080000" h="1762720">
                <a:moveTo>
                  <a:pt x="76200" y="1762720"/>
                </a:moveTo>
                <a:lnTo>
                  <a:pt x="76200" y="17627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686520"/>
                </a:lnTo>
                <a:arcTo wR="25400" hR="76200" stAng="10800000" swAng="-5400000"/>
                <a:close/>
              </a:path>
            </a:pathLst>
          </a:custGeom>
          <a:solidFill>
            <a:srgbClr val="F5A5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78600" y="104140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35C7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6578600" y="1356320"/>
            <a:ext cx="470916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8EE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test </a:t>
            </a:r>
            <a:r>
              <a:rPr lang="en-US" sz="1300" dirty="0" err="1">
                <a:solidFill>
                  <a:srgbClr val="E8EE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OrderTotalTests.AppliesDiscountOnce</a:t>
            </a:r>
            <a:r>
              <a:rPr lang="en-US" sz="1300" dirty="0">
                <a:solidFill>
                  <a:srgbClr val="E8EE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is failing. Find the root cause, fix it, and run the tests. Explain the change in two sentences.</a:t>
            </a:r>
            <a:br>
              <a:rPr lang="en-US" sz="1300" dirty="0">
                <a:solidFill>
                  <a:srgbClr val="E8EE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</a:br>
            <a:r>
              <a:rPr lang="en-US" sz="1300" dirty="0">
                <a:solidFill>
                  <a:srgbClr val="E8EE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Comment the breaking code lines instead of removing.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5550" y="2759670"/>
            <a:ext cx="5067300" cy="1206302"/>
          </a:xfrm>
          <a:prstGeom prst="roundRect">
            <a:avLst>
              <a:gd name="adj" fmla="val 5790"/>
            </a:avLst>
          </a:prstGeom>
          <a:noFill/>
          <a:ln w="12700">
            <a:solidFill>
              <a:srgbClr val="2C3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15100" y="2969220"/>
            <a:ext cx="47876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FOR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515100" y="3258741"/>
            <a:ext cx="478764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much context each agent gathers by itself, and how easy it is to stop or redirect it.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1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>
              <a:solidFill>
                <a:srgbClr val="B4C2CE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1873548" cy="314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63600"/>
            <a:ext cx="16449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720"/>
                </a:solidFill>
                <a:latin typeface="Inter"/>
                <a:ea typeface="Inter" pitchFamily="34" charset="-122"/>
                <a:cs typeface="Inter" pitchFamily="34" charset="-120"/>
              </a:rPr>
              <a:t>LIVE DEMO 2 </a:t>
            </a:r>
            <a:endParaRPr lang="en-US" sz="1200" dirty="0">
              <a:latin typeface="Inter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305520"/>
            <a:ext cx="5232400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messy inputs to a clear summary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812800" y="2265561"/>
            <a:ext cx="523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discovery-call transcript, an email thread and a chat export about a new bulk invoice approval feature.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812800" y="2976761"/>
            <a:ext cx="5232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 the three raw sources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needs, conflicts, open questions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a stakeholder-ready summary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Ask: what did nobody say?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6299200" y="812800"/>
            <a:ext cx="5080000" cy="2010370"/>
          </a:xfrm>
          <a:prstGeom prst="roundRect">
            <a:avLst>
              <a:gd name="adj" fmla="val 3790"/>
            </a:avLst>
          </a:prstGeom>
          <a:solidFill>
            <a:srgbClr val="172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99200" y="812800"/>
            <a:ext cx="5080000" cy="2010370"/>
          </a:xfrm>
          <a:custGeom>
            <a:avLst/>
            <a:gdLst/>
            <a:ahLst/>
            <a:cxnLst/>
            <a:rect l="l" t="t" r="r" b="b"/>
            <a:pathLst>
              <a:path w="5080000" h="2010370">
                <a:moveTo>
                  <a:pt x="76200" y="2010370"/>
                </a:moveTo>
                <a:lnTo>
                  <a:pt x="76200" y="201037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934170"/>
                </a:lnTo>
                <a:arcTo wR="25400" hR="76200" stAng="10800000" swAng="-5400000"/>
                <a:close/>
              </a:path>
            </a:pathLst>
          </a:custGeom>
          <a:solidFill>
            <a:srgbClr val="F5A5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78600" y="104140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35C7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6578600" y="1356320"/>
            <a:ext cx="4709160" cy="1263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8EE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Here are 3 sources about the feature. Produce: (1) agreed requirements, (2) conflicting asks with who said what, (3) open questions to clarify, (4) assumptions to validate. Cite the source for each line.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5550" y="3007320"/>
            <a:ext cx="5067300" cy="1206302"/>
          </a:xfrm>
          <a:prstGeom prst="roundRect">
            <a:avLst>
              <a:gd name="adj" fmla="val 5790"/>
            </a:avLst>
          </a:prstGeom>
          <a:noFill/>
          <a:ln w="12700">
            <a:solidFill>
              <a:srgbClr val="2C3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15100" y="3216870"/>
            <a:ext cx="47876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FOR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515100" y="3506391"/>
            <a:ext cx="478764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citations on every line, and conflicts a quick human skim would miss.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1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>
              <a:solidFill>
                <a:srgbClr val="B4C2CE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1875929" cy="314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63600"/>
            <a:ext cx="16473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720"/>
                </a:solidFill>
                <a:latin typeface="Inter"/>
                <a:ea typeface="Inter" pitchFamily="34" charset="-122"/>
                <a:cs typeface="Inter" pitchFamily="34" charset="-120"/>
              </a:rPr>
              <a:t>LIVE DEMO 3 </a:t>
            </a:r>
            <a:endParaRPr lang="en-US" sz="1200" dirty="0">
              <a:latin typeface="Inter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305520"/>
            <a:ext cx="52324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AI-drafted user stories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812800" y="1874441"/>
            <a:ext cx="523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the agreed requirements into stories the team can estimate.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812800" y="2585641"/>
            <a:ext cx="5232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stories in As a / I want / So that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Given/When/Then criteria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for edge cases and non-functional needs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stories that are too big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6299200" y="812800"/>
            <a:ext cx="5080000" cy="2010370"/>
          </a:xfrm>
          <a:prstGeom prst="roundRect">
            <a:avLst>
              <a:gd name="adj" fmla="val 3790"/>
            </a:avLst>
          </a:prstGeom>
          <a:solidFill>
            <a:srgbClr val="172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99200" y="812800"/>
            <a:ext cx="5080000" cy="2010370"/>
          </a:xfrm>
          <a:custGeom>
            <a:avLst/>
            <a:gdLst/>
            <a:ahLst/>
            <a:cxnLst/>
            <a:rect l="l" t="t" r="r" b="b"/>
            <a:pathLst>
              <a:path w="5080000" h="2010370">
                <a:moveTo>
                  <a:pt x="76200" y="2010370"/>
                </a:moveTo>
                <a:lnTo>
                  <a:pt x="76200" y="201037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934170"/>
                </a:lnTo>
                <a:arcTo wR="25400" hR="76200" stAng="10800000" swAng="-5400000"/>
                <a:close/>
              </a:path>
            </a:pathLst>
          </a:custGeom>
          <a:solidFill>
            <a:srgbClr val="F5A5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78600" y="104140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35C7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6578600" y="1356320"/>
            <a:ext cx="4709160" cy="1263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8EE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the agreed requirements, draft user stories with Given/When/Then acceptance criteria. Add edge cases and non-functional needs. Flag any story too big for one sprint and suggest how to split 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5550" y="3007320"/>
            <a:ext cx="5067300" cy="1206302"/>
          </a:xfrm>
          <a:prstGeom prst="roundRect">
            <a:avLst>
              <a:gd name="adj" fmla="val 5790"/>
            </a:avLst>
          </a:prstGeom>
          <a:noFill/>
          <a:ln w="12700">
            <a:solidFill>
              <a:srgbClr val="2C3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15100" y="3216870"/>
            <a:ext cx="47876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FOR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515100" y="3506391"/>
            <a:ext cx="478764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a human must edit: business rules, priorities, and anything the sources never mentioned.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1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>
              <a:solidFill>
                <a:srgbClr val="B4C2CE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52623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OF 5 · AGENTIC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91220"/>
            <a:ext cx="5262343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Context files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747441"/>
            <a:ext cx="526234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file the agent reads automatically at the start of every session, so you don't repeat your project's rules in every prompt.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712641"/>
            <a:ext cx="5262343" cy="1572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1694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Usually named AGENTS.md or CLAUDE.md, kept at the repo root</a:t>
            </a:r>
            <a:endParaRPr lang="en-US" sz="1400" dirty="0"/>
          </a:p>
          <a:p>
            <a:pPr marL="213360" indent="-1694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States stack, folder conventions, and things never to do</a:t>
            </a:r>
            <a:endParaRPr lang="en-US" sz="1400" dirty="0"/>
          </a:p>
          <a:p>
            <a:pPr marL="213360" indent="-1694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Checked into git, so the whole team's agents follow it</a:t>
            </a:r>
            <a:endParaRPr lang="en-US" sz="1400" dirty="0"/>
          </a:p>
          <a:p>
            <a:pPr marL="213360" indent="-1694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live in Session 1, Demos 5–7 via this repo's AGENTS.md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77471" y="812800"/>
            <a:ext cx="5101729" cy="3446463"/>
          </a:xfrm>
          <a:prstGeom prst="roundRect">
            <a:avLst>
              <a:gd name="adj" fmla="val 2948"/>
            </a:avLst>
          </a:prstGeom>
          <a:solidFill>
            <a:srgbClr val="0F17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06071" y="1041400"/>
            <a:ext cx="4783865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REPO'S AGENTS.md (excerpt)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06071" y="1338560"/>
            <a:ext cx="4783865" cy="1156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 dirty="0">
                <a:solidFill>
                  <a:srgbClr val="E8EE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Conventions - Controllers live under Controllers/, one per resource - Every new endpoint needs a test - Register new services in Program.cs ## What NOT to do - Never commit real credentials - Never wire demo12-security/ into Program.cs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>
              <a:solidFill>
                <a:srgbClr val="4F5B67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057819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52623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OF 5 · AGENTIC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91220"/>
            <a:ext cx="5262343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747441"/>
            <a:ext cx="526234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reusable playbook the agent loads only when the task calls for it, instead of stuffing every convention into context on every turn.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712641"/>
            <a:ext cx="5262343" cy="2087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1694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folder with a SKILL.md plus any scripts or templates it needs</a:t>
            </a:r>
            <a:endParaRPr lang="en-US" sz="1400" dirty="0"/>
          </a:p>
          <a:p>
            <a:pPr marL="213360" indent="-1694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Triggered by a plain-language request that matches its description</a:t>
            </a:r>
            <a:endParaRPr lang="en-US" sz="1400" dirty="0"/>
          </a:p>
          <a:p>
            <a:pPr marL="213360" indent="-1694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Keeps the main context window small until the skill is actually needed</a:t>
            </a:r>
            <a:endParaRPr lang="en-US" sz="1400" dirty="0"/>
          </a:p>
          <a:p>
            <a:pPr marL="213360" indent="-1694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1, Demo 6 creates an add-api-endpoint skill live from this repo's conventions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77471" y="812800"/>
            <a:ext cx="5101729" cy="3962003"/>
          </a:xfrm>
          <a:prstGeom prst="roundRect">
            <a:avLst>
              <a:gd name="adj" fmla="val 2564"/>
            </a:avLst>
          </a:prstGeom>
          <a:solidFill>
            <a:srgbClr val="0F17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06071" y="1041400"/>
            <a:ext cx="4783865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SKILL.md — add-api-endpoint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06071" y="1338560"/>
            <a:ext cx="4783865" cy="1156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 dirty="0">
                <a:solidFill>
                  <a:srgbClr val="E8EE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 name: add-api-endpoint description: Use when adding a new REST endpoint to InvoiceApp.Api --- 1. Add the route to the matching Controller 2. Add a request/response record 3. Write a test in InvoiceApp.Tests 4. Run dotnet test before done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>
              <a:solidFill>
                <a:srgbClr val="4F5B67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069920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52623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OF 5 · AGENTIC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91220"/>
            <a:ext cx="5262343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Hooks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747441"/>
            <a:ext cx="526234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script that runs automatically on an event — after an edit, before a commit — so a rule is enforced every time, not just when the model remembers to.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712641"/>
            <a:ext cx="5262343" cy="2087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1694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Deterministic: the same check runs whether the model thinks of it or not</a:t>
            </a:r>
            <a:endParaRPr lang="en-US" sz="1400" dirty="0"/>
          </a:p>
          <a:p>
            <a:pPr marL="213360" indent="-1694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triggers: after file edit, before commit, after task completion</a:t>
            </a:r>
            <a:endParaRPr lang="en-US" sz="1400" dirty="0"/>
          </a:p>
          <a:p>
            <a:pPr marL="213360" indent="-1694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fit for formatting, running tests, or blocking risky commands</a:t>
            </a:r>
            <a:endParaRPr lang="en-US" sz="1400" dirty="0"/>
          </a:p>
          <a:p>
            <a:pPr marL="213360" indent="-1694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1, Demo 6 adds a hook that runs dotnet format and unit tests after every edit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77471" y="812800"/>
            <a:ext cx="5101729" cy="3962003"/>
          </a:xfrm>
          <a:prstGeom prst="roundRect">
            <a:avLst>
              <a:gd name="adj" fmla="val 2564"/>
            </a:avLst>
          </a:prstGeom>
          <a:solidFill>
            <a:srgbClr val="0F17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06071" y="1041400"/>
            <a:ext cx="4783865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 — post-edit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06071" y="1338560"/>
            <a:ext cx="4783865" cy="930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 dirty="0">
                <a:solidFill>
                  <a:srgbClr val="E8EE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on: after_file_edit run: - dotnet format backend - dotnet test backend # If tests fail, the hook reports # the failure back to the agent # instead of silently continuing.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>
              <a:solidFill>
                <a:srgbClr val="4F5B67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662430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52623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OF 5 · AGENTIC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91220"/>
            <a:ext cx="5262343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Subagents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747441"/>
            <a:ext cx="526234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specialist agent with its own clean context window, dispatched by the main agent for one job, so exploration or review doesn't bloat the main conversation.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712641"/>
            <a:ext cx="5262343" cy="2087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1694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agent delegates a narrow task and gets back a summary</a:t>
            </a:r>
            <a:endParaRPr lang="en-US" sz="1400" dirty="0"/>
          </a:p>
          <a:p>
            <a:pPr marL="213360" indent="-1694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roles: explorer (maps code), reviewer (checks a diff)</a:t>
            </a:r>
            <a:endParaRPr lang="en-US" sz="1400" dirty="0"/>
          </a:p>
          <a:p>
            <a:pPr marL="213360" indent="-1694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reviewer subagent sees the change fresh, without the author's assumptions</a:t>
            </a:r>
            <a:endParaRPr lang="en-US" sz="1400" dirty="0"/>
          </a:p>
          <a:p>
            <a:pPr marL="213360" indent="-1694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1, Demo 7 uses an explorer subagent, then a separate reviewer subagent against ticket PROJ-142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77471" y="812800"/>
            <a:ext cx="5101729" cy="3962003"/>
          </a:xfrm>
          <a:prstGeom prst="roundRect">
            <a:avLst>
              <a:gd name="adj" fmla="val 2564"/>
            </a:avLst>
          </a:prstGeom>
          <a:solidFill>
            <a:srgbClr val="0F17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06071" y="1041400"/>
            <a:ext cx="4783865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DELEGATION — explorer → reviewer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06071" y="1338560"/>
            <a:ext cx="4783865" cy="1156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 dirty="0">
                <a:solidFill>
                  <a:srgbClr val="E8EE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Main agent: "Map every place invoice totals are calculated" -&gt; explorer subagent runs, returns a short list of file:line refs "Review my fix against PROJ-142" -&gt; reviewer subagent runs fresh, with no memory of writing it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>
              <a:solidFill>
                <a:srgbClr val="4F5B67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36769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52623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OF 5 · AGENTIC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91220"/>
            <a:ext cx="5262343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MCP (Model Context Protocol)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2138561"/>
            <a:ext cx="526234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4F5B67"/>
                </a:solidFill>
                <a:latin typeface="Inter"/>
                <a:ea typeface="Inter"/>
                <a:cs typeface="Inter" pitchFamily="34" charset="-120"/>
              </a:rPr>
              <a:t>A standard way for an agent to call out to a tool or data source (</a:t>
            </a:r>
            <a:r>
              <a:rPr lang="en-US" sz="1500" dirty="0" err="1">
                <a:solidFill>
                  <a:srgbClr val="4F5B67"/>
                </a:solidFill>
                <a:latin typeface="Inter"/>
                <a:ea typeface="Inter"/>
                <a:cs typeface="Inter" pitchFamily="34" charset="-120"/>
              </a:rPr>
              <a:t>Github</a:t>
            </a:r>
            <a:r>
              <a:rPr lang="en-US" sz="1500" dirty="0">
                <a:solidFill>
                  <a:srgbClr val="4F5B67"/>
                </a:solidFill>
                <a:latin typeface="Inter"/>
                <a:ea typeface="Inter"/>
                <a:cs typeface="Inter" pitchFamily="34" charset="-120"/>
              </a:rPr>
              <a:t>, Mermaid, Playwright) </a:t>
            </a:r>
            <a:r>
              <a:rPr lang="en-US" sz="1500" dirty="0">
                <a:solidFill>
                  <a:srgbClr val="4F5B67"/>
                </a:solidFill>
                <a:latin typeface="Inter"/>
                <a:ea typeface="Inter" pitchFamily="34" charset="-122"/>
                <a:cs typeface="Inter" pitchFamily="34" charset="-120"/>
              </a:rPr>
              <a:t>without a custom integration for each one.</a:t>
            </a:r>
            <a:endParaRPr lang="en-US" sz="1500" dirty="0">
              <a:latin typeface="Apto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3103761"/>
            <a:ext cx="5262343" cy="2087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168910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/>
                <a:ea typeface="Inter"/>
                <a:cs typeface="Inter" pitchFamily="34" charset="-120"/>
              </a:rPr>
              <a:t>One protocol, many servers: </a:t>
            </a:r>
            <a:r>
              <a:rPr lang="en-US" sz="1400" dirty="0" err="1">
                <a:solidFill>
                  <a:srgbClr val="2B3642"/>
                </a:solidFill>
                <a:latin typeface="Inter"/>
                <a:ea typeface="Inter"/>
                <a:cs typeface="Inter" pitchFamily="34" charset="-120"/>
              </a:rPr>
              <a:t>Github</a:t>
            </a:r>
            <a:r>
              <a:rPr lang="en-US" sz="1400" dirty="0">
                <a:solidFill>
                  <a:srgbClr val="2B3642"/>
                </a:solidFill>
                <a:latin typeface="Inter"/>
                <a:ea typeface="Inter" pitchFamily="34" charset="-122"/>
                <a:cs typeface="Inter" pitchFamily="34" charset="-120"/>
              </a:rPr>
              <a:t>, Google Drive, Playwright, Mermaid, and more</a:t>
            </a:r>
            <a:endParaRPr lang="en-US" sz="1400" dirty="0">
              <a:latin typeface="Inter"/>
            </a:endParaRPr>
          </a:p>
          <a:p>
            <a:pPr marL="213360" indent="-168910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/>
                <a:ea typeface="Inter" pitchFamily="34" charset="-122"/>
                <a:cs typeface="Inter" pitchFamily="34" charset="-120"/>
              </a:rPr>
              <a:t>The agent discovers what a server can do and calls it like any other tool</a:t>
            </a:r>
            <a:endParaRPr lang="en-US" sz="1400" dirty="0">
              <a:latin typeface="Inter"/>
            </a:endParaRPr>
          </a:p>
          <a:p>
            <a:pPr marL="213360" indent="-168910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/>
                <a:ea typeface="Inter" pitchFamily="34" charset="-122"/>
                <a:cs typeface="Inter" pitchFamily="34" charset="-120"/>
              </a:rPr>
              <a:t>Swapping tools means swapping the MCP server, not rewriting the agent</a:t>
            </a:r>
            <a:endParaRPr lang="en-US" sz="1400" dirty="0">
              <a:latin typeface="Inter"/>
            </a:endParaRPr>
          </a:p>
          <a:p>
            <a:pPr marL="213360" indent="-168910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/>
                <a:ea typeface="Inter"/>
                <a:cs typeface="Inter" pitchFamily="34" charset="-120"/>
              </a:rPr>
              <a:t>Used across the workshop: MCP</a:t>
            </a:r>
            <a:r>
              <a:rPr lang="en-US" sz="1400" dirty="0">
                <a:solidFill>
                  <a:srgbClr val="2B3642"/>
                </a:solidFill>
                <a:latin typeface="Inter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2B3642"/>
                </a:solidFill>
                <a:latin typeface="Inter"/>
                <a:ea typeface="Inter" pitchFamily="34" charset="-122"/>
                <a:cs typeface="Inter" pitchFamily="34" charset="-120"/>
              </a:rPr>
              <a:t>MCP</a:t>
            </a:r>
            <a:r>
              <a:rPr lang="en-US" sz="1400" dirty="0">
                <a:solidFill>
                  <a:srgbClr val="2B3642"/>
                </a:solidFill>
                <a:latin typeface="Inter"/>
                <a:ea typeface="Inter" pitchFamily="34" charset="-122"/>
                <a:cs typeface="Inter" pitchFamily="34" charset="-120"/>
              </a:rPr>
              <a:t> (Demos 4, 7), Mermaid MCP (Demo 15), Playwright MCP (Demo 14)</a:t>
            </a:r>
            <a:endParaRPr lang="en-US" sz="1400" dirty="0">
              <a:latin typeface="Inter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77471" y="812800"/>
            <a:ext cx="5101729" cy="4353123"/>
          </a:xfrm>
          <a:prstGeom prst="roundRect">
            <a:avLst>
              <a:gd name="adj" fmla="val 2334"/>
            </a:avLst>
          </a:prstGeom>
          <a:solidFill>
            <a:srgbClr val="0F17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06071" y="1041400"/>
            <a:ext cx="4783865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IN USE ACROSS THE WORKSHOP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06071" y="1338560"/>
            <a:ext cx="4783865" cy="930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783"/>
              </a:lnSpc>
            </a:pPr>
            <a:r>
              <a:rPr lang="en-US" sz="1150">
                <a:solidFill>
                  <a:srgbClr val="E8EEF3"/>
                </a:solidFill>
                <a:latin typeface="JetBrains Mono"/>
                <a:ea typeface="JetBrains Mono"/>
                <a:cs typeface="JetBrains Mono" pitchFamily="34" charset="-120"/>
              </a:rPr>
              <a:t>Session 1 </a:t>
            </a:r>
            <a:r>
              <a:rPr lang="en-US" sz="1150" err="1">
                <a:solidFill>
                  <a:srgbClr val="E8EEF3"/>
                </a:solidFill>
                <a:latin typeface="JetBrains Mono"/>
                <a:ea typeface="JetBrains Mono"/>
                <a:cs typeface="JetBrains Mono" pitchFamily="34" charset="-120"/>
              </a:rPr>
              <a:t>Github</a:t>
            </a:r>
            <a:r>
              <a:rPr lang="en-US" sz="1150">
                <a:solidFill>
                  <a:srgbClr val="E8EEF3"/>
                </a:solidFill>
                <a:latin typeface="JetBrains Mono"/>
                <a:ea typeface="JetBrains Mono"/>
                <a:cs typeface="JetBrains Mono" pitchFamily="34" charset="-120"/>
              </a:rPr>
              <a:t> MCP -&gt; read/write issues (Demo 4, 7) </a:t>
            </a:r>
            <a:br>
              <a:rPr lang="en-US" sz="1150">
                <a:latin typeface="JetBrains Mono"/>
                <a:ea typeface="JetBrains Mono"/>
                <a:cs typeface="JetBrains Mono" pitchFamily="34" charset="-120"/>
              </a:rPr>
            </a:br>
            <a:r>
              <a:rPr lang="en-US" sz="1150">
                <a:solidFill>
                  <a:srgbClr val="E8EEF3"/>
                </a:solidFill>
                <a:latin typeface="JetBrains Mono"/>
                <a:ea typeface="JetBrains Mono"/>
                <a:cs typeface="JetBrains Mono" pitchFamily="34" charset="-120"/>
              </a:rPr>
              <a:t>Session 2 Playwright MCP -&gt; drive a real browser (Demo 14)</a:t>
            </a:r>
            <a:br>
              <a:rPr lang="en-US" sz="1150">
                <a:solidFill>
                  <a:srgbClr val="E8EEF3"/>
                </a:solidFill>
                <a:latin typeface="JetBrains Mono"/>
                <a:ea typeface="JetBrains Mono"/>
                <a:cs typeface="JetBrains Mono" pitchFamily="34" charset="-120"/>
              </a:rPr>
            </a:br>
            <a:r>
              <a:rPr lang="en-US" sz="1150">
                <a:solidFill>
                  <a:srgbClr val="E8EEF3"/>
                </a:solidFill>
                <a:latin typeface="JetBrains Mono"/>
                <a:ea typeface="JetBrains Mono"/>
                <a:cs typeface="JetBrains Mono" pitchFamily="34" charset="-120"/>
              </a:rPr>
              <a:t> Session 3 Mermaid MCP -&gt; generate diagrams from code (Demo 15)</a:t>
            </a:r>
            <a:endParaRPr lang="en-US" sz="1150">
              <a:latin typeface="JetBrains Mono"/>
              <a:ea typeface="JetBrains Mono"/>
            </a:endParaRPr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>
              <a:solidFill>
                <a:srgbClr val="4F5B67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046497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Anatomy of an agentic coding setup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779689" y="2378741"/>
            <a:ext cx="1984970" cy="1954213"/>
          </a:xfrm>
          <a:prstGeom prst="roundRect">
            <a:avLst>
              <a:gd name="adj" fmla="val 5037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11464" y="2610516"/>
            <a:ext cx="1572220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Context files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1011464" y="2945777"/>
            <a:ext cx="1572220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3B46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AGENTS.md or CLAUDE.md: project rules loaded every session.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2923409" y="2378741"/>
            <a:ext cx="1985070" cy="1954213"/>
          </a:xfrm>
          <a:prstGeom prst="roundRect">
            <a:avLst>
              <a:gd name="adj" fmla="val 5037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55184" y="2610516"/>
            <a:ext cx="1572320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Skills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3155184" y="2945777"/>
            <a:ext cx="1572320" cy="94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3B46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Reusable playbooks the agent loads only when needed.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5067229" y="2378741"/>
            <a:ext cx="1984970" cy="1954213"/>
          </a:xfrm>
          <a:prstGeom prst="roundRect">
            <a:avLst>
              <a:gd name="adj" fmla="val 5037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99004" y="2610516"/>
            <a:ext cx="1572220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Hooks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5299004" y="2945777"/>
            <a:ext cx="1572220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3B46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Scripts that run on events, such as after every edit.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7210949" y="2378741"/>
            <a:ext cx="1985070" cy="1954213"/>
          </a:xfrm>
          <a:prstGeom prst="roundRect">
            <a:avLst>
              <a:gd name="adj" fmla="val 5037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42724" y="2610516"/>
            <a:ext cx="1572320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Subagents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7442724" y="2945777"/>
            <a:ext cx="1572320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3B46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Specialists with their own clean context window.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9354769" y="2378741"/>
            <a:ext cx="1984970" cy="1954213"/>
          </a:xfrm>
          <a:prstGeom prst="roundRect">
            <a:avLst>
              <a:gd name="adj" fmla="val 5037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586544" y="2610516"/>
            <a:ext cx="1572220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MCP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9586544" y="2945777"/>
            <a:ext cx="1572220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3B46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standard way to plug in tools and data sources.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1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>
              <a:solidFill>
                <a:srgbClr val="4F5B67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1872655" cy="314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63600"/>
            <a:ext cx="16440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720"/>
                </a:solidFill>
                <a:latin typeface="Inter"/>
                <a:ea typeface="Inter" pitchFamily="34" charset="-122"/>
                <a:cs typeface="Inter" pitchFamily="34" charset="-120"/>
              </a:rPr>
              <a:t>LIVE DEMO 4 </a:t>
            </a:r>
            <a:endParaRPr lang="en-US" sz="1200" dirty="0">
              <a:latin typeface="Inter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305520"/>
            <a:ext cx="5232400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err="1">
                <a:solidFill>
                  <a:srgbClr val="F4F1EA"/>
                </a:solidFill>
                <a:latin typeface="Space Grotesk"/>
                <a:ea typeface="Space Grotesk" pitchFamily="34" charset="-122"/>
                <a:cs typeface="Space Grotesk" pitchFamily="34" charset="-120"/>
              </a:rPr>
              <a:t>Github</a:t>
            </a:r>
            <a:r>
              <a:rPr lang="en-US" sz="2800" b="1">
                <a:solidFill>
                  <a:srgbClr val="F4F1EA"/>
                </a:solidFill>
                <a:latin typeface="Space Grotesk"/>
                <a:ea typeface="Space Grotesk" pitchFamily="34" charset="-122"/>
                <a:cs typeface="Space Grotesk" pitchFamily="34" charset="-120"/>
              </a:rPr>
              <a:t> MCP: stories straight into the backlog</a:t>
            </a:r>
            <a:endParaRPr lang="en-US" sz="2800">
              <a:latin typeface="Space Grotesk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2265561"/>
            <a:ext cx="523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00"/>
              </a:lnSpc>
            </a:pPr>
            <a:r>
              <a:rPr lang="en-US" sz="1500">
                <a:solidFill>
                  <a:srgbClr val="B4C2CE"/>
                </a:solidFill>
                <a:latin typeface="Inter"/>
                <a:ea typeface="Inter"/>
                <a:cs typeface="Inter" pitchFamily="34" charset="-120"/>
              </a:rPr>
              <a:t>Connect </a:t>
            </a:r>
            <a:r>
              <a:rPr lang="en-US" sz="1500" err="1">
                <a:solidFill>
                  <a:srgbClr val="B4C2CE"/>
                </a:solidFill>
                <a:latin typeface="Inter"/>
                <a:ea typeface="Inter"/>
                <a:cs typeface="Inter" pitchFamily="34" charset="-120"/>
              </a:rPr>
              <a:t>Github</a:t>
            </a:r>
            <a:r>
              <a:rPr lang="en-US" sz="1500">
                <a:solidFill>
                  <a:srgbClr val="B4C2CE"/>
                </a:solidFill>
                <a:latin typeface="Inter"/>
                <a:ea typeface="Inter"/>
                <a:cs typeface="Inter" pitchFamily="34" charset="-120"/>
              </a:rPr>
              <a:t> through</a:t>
            </a:r>
            <a:r>
              <a:rPr lang="en-US" sz="1500">
                <a:solidFill>
                  <a:srgbClr val="B4C2CE"/>
                </a:solidFill>
                <a:latin typeface="Inter"/>
                <a:ea typeface="Inter" pitchFamily="34" charset="-122"/>
                <a:cs typeface="Inter" pitchFamily="34" charset="-120"/>
              </a:rPr>
              <a:t> MCP to a sandbox project and let the agent read and write issues.</a:t>
            </a:r>
            <a:endParaRPr lang="en-US" sz="1500">
              <a:latin typeface="Inter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" y="2976761"/>
            <a:ext cx="5232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the one-time MCP setup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an epic and its comments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child stories, then review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them with an audit label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6299200" y="812800"/>
            <a:ext cx="5080000" cy="2010370"/>
          </a:xfrm>
          <a:prstGeom prst="roundRect">
            <a:avLst>
              <a:gd name="adj" fmla="val 3790"/>
            </a:avLst>
          </a:prstGeom>
          <a:solidFill>
            <a:srgbClr val="172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99200" y="812800"/>
            <a:ext cx="5080000" cy="2010370"/>
          </a:xfrm>
          <a:custGeom>
            <a:avLst/>
            <a:gdLst/>
            <a:ahLst/>
            <a:cxnLst/>
            <a:rect l="l" t="t" r="r" b="b"/>
            <a:pathLst>
              <a:path w="5080000" h="2010370">
                <a:moveTo>
                  <a:pt x="76200" y="2010370"/>
                </a:moveTo>
                <a:lnTo>
                  <a:pt x="76200" y="201037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934170"/>
                </a:lnTo>
                <a:arcTo wR="25400" hR="76200" stAng="10800000" swAng="-5400000"/>
                <a:close/>
              </a:path>
            </a:pathLst>
          </a:custGeom>
          <a:solidFill>
            <a:srgbClr val="F5A5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78600" y="104140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35C7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6578600" y="1356320"/>
            <a:ext cx="4709160" cy="1263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950"/>
              </a:lnSpc>
            </a:pPr>
            <a:r>
              <a:rPr lang="en-US" sz="1300" dirty="0">
                <a:solidFill>
                  <a:srgbClr val="E8EE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Draft the child stories we just wrote with acceptance criteria and a suggested estimate. Show me the list first. After I approve, create them with the label enhancement.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5550" y="3007320"/>
            <a:ext cx="5067300" cy="1206302"/>
          </a:xfrm>
          <a:prstGeom prst="roundRect">
            <a:avLst>
              <a:gd name="adj" fmla="val 5790"/>
            </a:avLst>
          </a:prstGeom>
          <a:noFill/>
          <a:ln w="12700">
            <a:solidFill>
              <a:srgbClr val="2C3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15100" y="3216870"/>
            <a:ext cx="47876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FOR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515100" y="3506391"/>
            <a:ext cx="478764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approval step before anything is written, and the label that keeps enhancement work traceable.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1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>
              <a:solidFill>
                <a:srgbClr val="B4C2CE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1902619" cy="314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63600"/>
            <a:ext cx="16740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720"/>
                </a:solidFill>
                <a:latin typeface="Inter"/>
                <a:ea typeface="Inter" pitchFamily="34" charset="-122"/>
                <a:cs typeface="Inter" pitchFamily="34" charset="-120"/>
              </a:rPr>
              <a:t>LIVE DEMO 5 </a:t>
            </a:r>
            <a:endParaRPr lang="en-US" sz="1200" dirty="0">
              <a:latin typeface="Inter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305520"/>
            <a:ext cx="5232400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Agentic feature build, end to end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812800" y="2265561"/>
            <a:ext cx="523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CSV download to the Invoices page of a sample .NET API with an Angular front end.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812800" y="2976761"/>
            <a:ext cx="5232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explores the repo first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approve its plan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Backend, UI and tests get built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runs the build and fixes failures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6299200" y="812800"/>
            <a:ext cx="5080000" cy="1762720"/>
          </a:xfrm>
          <a:prstGeom prst="roundRect">
            <a:avLst>
              <a:gd name="adj" fmla="val 4323"/>
            </a:avLst>
          </a:prstGeom>
          <a:solidFill>
            <a:srgbClr val="17222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99200" y="812800"/>
            <a:ext cx="5080000" cy="1762720"/>
          </a:xfrm>
          <a:custGeom>
            <a:avLst/>
            <a:gdLst/>
            <a:ahLst/>
            <a:cxnLst/>
            <a:rect l="l" t="t" r="r" b="b"/>
            <a:pathLst>
              <a:path w="5080000" h="1762720">
                <a:moveTo>
                  <a:pt x="76200" y="1762720"/>
                </a:moveTo>
                <a:lnTo>
                  <a:pt x="76200" y="17627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686520"/>
                </a:lnTo>
                <a:arcTo wR="25400" hR="76200" stAng="10800000" swAng="-5400000"/>
                <a:close/>
              </a:path>
            </a:pathLst>
          </a:custGeom>
          <a:solidFill>
            <a:srgbClr val="F5A5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78600" y="104140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35C7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6578600" y="1356320"/>
            <a:ext cx="470916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8EE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 a Download CSV button to the Invoices page. Explore the repo first and propose a plan. Wait for my approval, then implement the API and UI, add tests, and run the build.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5550" y="2759670"/>
            <a:ext cx="5067300" cy="1206302"/>
          </a:xfrm>
          <a:prstGeom prst="roundRect">
            <a:avLst>
              <a:gd name="adj" fmla="val 5790"/>
            </a:avLst>
          </a:prstGeom>
          <a:noFill/>
          <a:ln w="12700">
            <a:solidFill>
              <a:srgbClr val="2C3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15100" y="2969220"/>
            <a:ext cx="47876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FOR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515100" y="3258741"/>
            <a:ext cx="478764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before code, and how the agent recovers after a failing build without your help.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1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>
              <a:solidFill>
                <a:srgbClr val="B4C2CE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1868587" cy="314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63600"/>
            <a:ext cx="16399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720"/>
                </a:solidFill>
                <a:latin typeface="Inter"/>
                <a:ea typeface="Inter" pitchFamily="34" charset="-122"/>
                <a:cs typeface="Inter" pitchFamily="34" charset="-120"/>
              </a:rPr>
              <a:t>LIVE DEMO 6 </a:t>
            </a:r>
            <a:endParaRPr lang="en-US" sz="1200" dirty="0">
              <a:latin typeface="Inter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305520"/>
            <a:ext cx="52324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Skills and hooks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812800" y="1874441"/>
            <a:ext cx="523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 the agent your conventions once, then enforce them automatically.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812800" y="2585641"/>
            <a:ext cx="5232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 skill folder and its SKILL.md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 it with a plain request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hook: format and test after edits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the hook stop a bad change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6299200" y="812800"/>
            <a:ext cx="5080000" cy="1762720"/>
          </a:xfrm>
          <a:prstGeom prst="roundRect">
            <a:avLst>
              <a:gd name="adj" fmla="val 4323"/>
            </a:avLst>
          </a:prstGeom>
          <a:solidFill>
            <a:srgbClr val="172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99200" y="812800"/>
            <a:ext cx="5080000" cy="1762720"/>
          </a:xfrm>
          <a:custGeom>
            <a:avLst/>
            <a:gdLst/>
            <a:ahLst/>
            <a:cxnLst/>
            <a:rect l="l" t="t" r="r" b="b"/>
            <a:pathLst>
              <a:path w="5080000" h="1762720">
                <a:moveTo>
                  <a:pt x="76200" y="1762720"/>
                </a:moveTo>
                <a:lnTo>
                  <a:pt x="76200" y="17627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686520"/>
                </a:lnTo>
                <a:arcTo wR="25400" hR="76200" stAng="10800000" swAng="-5400000"/>
                <a:close/>
              </a:path>
            </a:pathLst>
          </a:custGeom>
          <a:solidFill>
            <a:srgbClr val="F5A5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78600" y="104140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35C7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6578600" y="1356320"/>
            <a:ext cx="470916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8EE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a skill called add-</a:t>
            </a:r>
            <a:r>
              <a:rPr lang="en-US" sz="1300" dirty="0" err="1">
                <a:solidFill>
                  <a:srgbClr val="E8EE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</a:t>
            </a:r>
            <a:r>
              <a:rPr lang="en-US" sz="1300" dirty="0">
                <a:solidFill>
                  <a:srgbClr val="E8EE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-endpoint that follows our controller, DTO and test conventions. Then add a hook that runs dotnet format and the unit tests after any file edit.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5550" y="2759670"/>
            <a:ext cx="5067300" cy="1206302"/>
          </a:xfrm>
          <a:prstGeom prst="roundRect">
            <a:avLst>
              <a:gd name="adj" fmla="val 5790"/>
            </a:avLst>
          </a:prstGeom>
          <a:noFill/>
          <a:ln w="12700">
            <a:solidFill>
              <a:srgbClr val="2C3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15100" y="2969220"/>
            <a:ext cx="47876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FOR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515100" y="3258741"/>
            <a:ext cx="478764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Hooks run without asking the model, so the result is the same every time.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1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>
              <a:solidFill>
                <a:srgbClr val="B4C2CE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1858169" cy="314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63600"/>
            <a:ext cx="16295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720"/>
                </a:solidFill>
                <a:latin typeface="Inter"/>
                <a:ea typeface="Inter" pitchFamily="34" charset="-122"/>
                <a:cs typeface="Inter" pitchFamily="34" charset="-120"/>
              </a:rPr>
              <a:t>LIVE DEMO 7 </a:t>
            </a:r>
            <a:endParaRPr lang="en-US" sz="1200" dirty="0">
              <a:latin typeface="Inter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305520"/>
            <a:ext cx="52324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Subagents and MCP together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812800" y="1874441"/>
            <a:ext cx="523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main conversation small by delegating exploration and review.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812800" y="2585641"/>
            <a:ext cx="5232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Explorer subagent maps a module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 subagent checks the change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pulls the ticket while you code</a:t>
            </a:r>
            <a:endParaRPr lang="en-US" sz="1500"/>
          </a:p>
          <a:p>
            <a:pPr marL="22860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context use in each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6299200" y="812800"/>
            <a:ext cx="5080000" cy="1762720"/>
          </a:xfrm>
          <a:prstGeom prst="roundRect">
            <a:avLst>
              <a:gd name="adj" fmla="val 4323"/>
            </a:avLst>
          </a:prstGeom>
          <a:solidFill>
            <a:srgbClr val="172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99200" y="812800"/>
            <a:ext cx="5080000" cy="1762720"/>
          </a:xfrm>
          <a:custGeom>
            <a:avLst/>
            <a:gdLst/>
            <a:ahLst/>
            <a:cxnLst/>
            <a:rect l="l" t="t" r="r" b="b"/>
            <a:pathLst>
              <a:path w="5080000" h="1762720">
                <a:moveTo>
                  <a:pt x="76200" y="1762720"/>
                </a:moveTo>
                <a:lnTo>
                  <a:pt x="76200" y="17627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686520"/>
                </a:lnTo>
                <a:arcTo wR="25400" hR="76200" stAng="10800000" swAng="-5400000"/>
                <a:close/>
              </a:path>
            </a:pathLst>
          </a:custGeom>
          <a:solidFill>
            <a:srgbClr val="F5A5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78600" y="104140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35C7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6578600" y="1356320"/>
            <a:ext cx="470916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8EE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 a subagent to map every place invoice totals are calculated.</a:t>
            </a:r>
            <a:br>
              <a:rPr lang="en-US" sz="1300" dirty="0">
                <a:solidFill>
                  <a:srgbClr val="E8EE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</a:br>
            <a:r>
              <a:rPr lang="en-US" sz="1300" dirty="0">
                <a:solidFill>
                  <a:srgbClr val="E8EE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Then use a separate reviewer subagent to check my change against ticket through the </a:t>
            </a:r>
            <a:r>
              <a:rPr lang="en-US" sz="1300" dirty="0" err="1">
                <a:solidFill>
                  <a:srgbClr val="E8EE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</a:t>
            </a:r>
            <a:r>
              <a:rPr lang="en-US" sz="1300" dirty="0">
                <a:solidFill>
                  <a:srgbClr val="E8EE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MCP.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5550" y="2759670"/>
            <a:ext cx="5067300" cy="1206302"/>
          </a:xfrm>
          <a:prstGeom prst="roundRect">
            <a:avLst>
              <a:gd name="adj" fmla="val 5790"/>
            </a:avLst>
          </a:prstGeom>
          <a:noFill/>
          <a:ln w="12700">
            <a:solidFill>
              <a:srgbClr val="2C3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15100" y="2969220"/>
            <a:ext cx="47876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FOR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515100" y="3258741"/>
            <a:ext cx="478764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main conversation stays focused, and a fresh reviewer catches what the author missed.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1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>
              <a:solidFill>
                <a:srgbClr val="B4C2CE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Prompt Engineering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1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>
              <a:solidFill>
                <a:srgbClr val="4F5B67"/>
              </a:solidFill>
              <a:latin typeface="Inte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FE2F9F-72F1-0A4C-1CA2-3A332A29338C}"/>
              </a:ext>
            </a:extLst>
          </p:cNvPr>
          <p:cNvSpPr txBox="1"/>
          <p:nvPr/>
        </p:nvSpPr>
        <p:spPr>
          <a:xfrm>
            <a:off x="812800" y="1704451"/>
            <a:ext cx="5971458" cy="1962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B4652"/>
                </a:solidFill>
                <a:latin typeface="Inter" pitchFamily="34" charset="0"/>
                <a:ea typeface="Inter" pitchFamily="34" charset="-122"/>
              </a:rPr>
              <a:t>Why to write good prompts? 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B4652"/>
                </a:solidFill>
                <a:latin typeface="Inter" pitchFamily="34" charset="0"/>
                <a:ea typeface="Inter" pitchFamily="34" charset="-122"/>
              </a:rPr>
              <a:t>How to write good prompts?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B4652"/>
                </a:solidFill>
                <a:latin typeface="Inter" pitchFamily="34" charset="0"/>
                <a:ea typeface="Inter" pitchFamily="34" charset="-122"/>
              </a:rPr>
              <a:t>How to structure the prompt output?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B4652"/>
                </a:solidFill>
                <a:latin typeface="Inter" pitchFamily="34" charset="0"/>
                <a:ea typeface="Inter" pitchFamily="34" charset="-122"/>
              </a:rPr>
              <a:t>How to optimize the token usage?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B4652"/>
                </a:solidFill>
                <a:latin typeface="Inter" pitchFamily="34" charset="0"/>
                <a:ea typeface="Inter" pitchFamily="34" charset="-122"/>
              </a:rPr>
              <a:t>How to share the prompts within </a:t>
            </a:r>
            <a:r>
              <a:rPr lang="en-US" sz="1500">
                <a:solidFill>
                  <a:srgbClr val="3B4652"/>
                </a:solidFill>
                <a:latin typeface="Inter" pitchFamily="34" charset="0"/>
                <a:ea typeface="Inter" pitchFamily="34" charset="-122"/>
              </a:rPr>
              <a:t>team?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500">
                <a:solidFill>
                  <a:srgbClr val="3B4652"/>
                </a:solidFill>
                <a:latin typeface="Inter" pitchFamily="34" charset="0"/>
                <a:ea typeface="Inter" pitchFamily="34" charset="-122"/>
              </a:rPr>
              <a:t>How </a:t>
            </a:r>
            <a:r>
              <a:rPr lang="en-US" sz="1500" dirty="0">
                <a:solidFill>
                  <a:srgbClr val="3B4652"/>
                </a:solidFill>
                <a:latin typeface="Inter" pitchFamily="34" charset="0"/>
                <a:ea typeface="Inter" pitchFamily="34" charset="-122"/>
              </a:rPr>
              <a:t>to use the skills, hooks effectively?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B4652"/>
                </a:solidFill>
                <a:latin typeface="Inter" pitchFamily="34" charset="0"/>
                <a:ea typeface="Inter" pitchFamily="34" charset="-122"/>
              </a:rPr>
              <a:t>How to create subagents and use them for fast paced delivery?</a:t>
            </a:r>
            <a:endParaRPr lang="en-US" sz="1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FC15E-8B6F-764F-08F5-1E00960A4C7E}"/>
              </a:ext>
            </a:extLst>
          </p:cNvPr>
          <p:cNvSpPr txBox="1"/>
          <p:nvPr/>
        </p:nvSpPr>
        <p:spPr>
          <a:xfrm>
            <a:off x="2772352" y="4583456"/>
            <a:ext cx="19673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8D855-CF0B-A2AF-49A5-19F17B483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0874227-D6C0-9B85-79B9-D8AABA004668}"/>
              </a:ext>
            </a:extLst>
          </p:cNvPr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agentic workflow to remember</a:t>
            </a:r>
            <a:endParaRPr lang="en-US" sz="32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0C3983-921B-C5A6-58C6-FF58B585A0AC}"/>
              </a:ext>
            </a:extLst>
          </p:cNvPr>
          <p:cNvSpPr/>
          <p:nvPr/>
        </p:nvSpPr>
        <p:spPr>
          <a:xfrm>
            <a:off x="815975" y="2551098"/>
            <a:ext cx="2520950" cy="1657350"/>
          </a:xfrm>
          <a:prstGeom prst="roundRect">
            <a:avLst>
              <a:gd name="adj" fmla="val 5939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92BD7A-1912-64A3-941B-20A7C7FCE305}"/>
              </a:ext>
            </a:extLst>
          </p:cNvPr>
          <p:cNvSpPr/>
          <p:nvPr/>
        </p:nvSpPr>
        <p:spPr>
          <a:xfrm>
            <a:off x="1047750" y="2782873"/>
            <a:ext cx="211912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Explore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711D5C-3EF0-179F-A689-0D7A8BCE1777}"/>
              </a:ext>
            </a:extLst>
          </p:cNvPr>
          <p:cNvSpPr/>
          <p:nvPr/>
        </p:nvSpPr>
        <p:spPr>
          <a:xfrm>
            <a:off x="1047750" y="3176573"/>
            <a:ext cx="211912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B46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 the agent read before it writes.</a:t>
            </a:r>
            <a:endParaRPr lang="en-US" sz="15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B3BAED9-CEF5-E128-FC33-F236C043F6CE}"/>
              </a:ext>
            </a:extLst>
          </p:cNvPr>
          <p:cNvSpPr/>
          <p:nvPr/>
        </p:nvSpPr>
        <p:spPr>
          <a:xfrm>
            <a:off x="3495675" y="2551098"/>
            <a:ext cx="2520950" cy="1657350"/>
          </a:xfrm>
          <a:prstGeom prst="roundRect">
            <a:avLst>
              <a:gd name="adj" fmla="val 5939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DCF4CD8-5928-F936-3C44-A4BFCB8895D3}"/>
              </a:ext>
            </a:extLst>
          </p:cNvPr>
          <p:cNvSpPr/>
          <p:nvPr/>
        </p:nvSpPr>
        <p:spPr>
          <a:xfrm>
            <a:off x="3727450" y="2782873"/>
            <a:ext cx="211912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 Plan</a:t>
            </a:r>
            <a:endParaRPr lang="en-US" sz="20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3045AF4-42EB-428A-5439-C7100138846E}"/>
              </a:ext>
            </a:extLst>
          </p:cNvPr>
          <p:cNvSpPr/>
          <p:nvPr/>
        </p:nvSpPr>
        <p:spPr>
          <a:xfrm>
            <a:off x="3727450" y="3176573"/>
            <a:ext cx="211912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3B46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a short plan and correct it early.</a:t>
            </a:r>
            <a:endParaRPr lang="en-US" sz="15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ACF659B-86A5-93EE-800C-3CD895C11CA5}"/>
              </a:ext>
            </a:extLst>
          </p:cNvPr>
          <p:cNvSpPr/>
          <p:nvPr/>
        </p:nvSpPr>
        <p:spPr>
          <a:xfrm>
            <a:off x="6175375" y="2551098"/>
            <a:ext cx="2520950" cy="1657350"/>
          </a:xfrm>
          <a:prstGeom prst="roundRect">
            <a:avLst>
              <a:gd name="adj" fmla="val 5939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4F46EF8-6C8D-5208-FD1C-9049AE32F678}"/>
              </a:ext>
            </a:extLst>
          </p:cNvPr>
          <p:cNvSpPr/>
          <p:nvPr/>
        </p:nvSpPr>
        <p:spPr>
          <a:xfrm>
            <a:off x="6407150" y="2782873"/>
            <a:ext cx="211912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 Implement</a:t>
            </a:r>
            <a:endParaRPr lang="en-US" sz="20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6C3B0DB-6257-5515-5FC7-CCAE3077D339}"/>
              </a:ext>
            </a:extLst>
          </p:cNvPr>
          <p:cNvSpPr/>
          <p:nvPr/>
        </p:nvSpPr>
        <p:spPr>
          <a:xfrm>
            <a:off x="6407150" y="3176573"/>
            <a:ext cx="211912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3B46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steps with tests as the safety net.</a:t>
            </a:r>
            <a:endParaRPr lang="en-US" sz="15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55B47B7-C8F5-4A91-4CCA-78863C0FBEE6}"/>
              </a:ext>
            </a:extLst>
          </p:cNvPr>
          <p:cNvSpPr/>
          <p:nvPr/>
        </p:nvSpPr>
        <p:spPr>
          <a:xfrm>
            <a:off x="8855075" y="2551098"/>
            <a:ext cx="2520950" cy="1657350"/>
          </a:xfrm>
          <a:prstGeom prst="roundRect">
            <a:avLst>
              <a:gd name="adj" fmla="val 5939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6EBB734-E484-FB5D-0E7B-1D2E6FB4316B}"/>
              </a:ext>
            </a:extLst>
          </p:cNvPr>
          <p:cNvSpPr/>
          <p:nvPr/>
        </p:nvSpPr>
        <p:spPr>
          <a:xfrm>
            <a:off x="9086850" y="2782873"/>
            <a:ext cx="211912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 Verify</a:t>
            </a:r>
            <a:endParaRPr lang="en-US" sz="2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49CCD10-4D3F-C1C1-A078-A10A2E2743DF}"/>
              </a:ext>
            </a:extLst>
          </p:cNvPr>
          <p:cNvSpPr/>
          <p:nvPr/>
        </p:nvSpPr>
        <p:spPr>
          <a:xfrm>
            <a:off x="9086850" y="3176573"/>
            <a:ext cx="211912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3B46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Build, test, review the diff. You own the merge.</a:t>
            </a:r>
            <a:endParaRPr lang="en-US" sz="15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48C9135-07ED-557B-60B7-51CB3E4F6332}"/>
              </a:ext>
            </a:extLst>
          </p:cNvPr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1</a:t>
            </a:r>
            <a:endParaRPr lang="en-US" sz="12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CC13367-3ADF-7D0D-D379-F5854482EA94}"/>
              </a:ext>
            </a:extLst>
          </p:cNvPr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>
              <a:solidFill>
                <a:srgbClr val="4F5B67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6164005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Before Session 2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815975" y="1516955"/>
            <a:ext cx="2520950" cy="1837333"/>
          </a:xfrm>
          <a:prstGeom prst="roundRect">
            <a:avLst>
              <a:gd name="adj" fmla="val 5357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7750" y="1748730"/>
            <a:ext cx="2119122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Install one agent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1047750" y="2113161"/>
            <a:ext cx="211912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3B46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any tool from the landscape and run it on a real repo.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3495675" y="1516955"/>
            <a:ext cx="2520950" cy="1837333"/>
          </a:xfrm>
          <a:prstGeom prst="roundRect">
            <a:avLst>
              <a:gd name="adj" fmla="val 5357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27450" y="1748730"/>
            <a:ext cx="2119122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a context file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3727450" y="2375991"/>
            <a:ext cx="211912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3B46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 lines of project rules in AGENTS.md or CLAUDE.md.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6175375" y="1516955"/>
            <a:ext cx="2520950" cy="1837333"/>
          </a:xfrm>
          <a:prstGeom prst="roundRect">
            <a:avLst>
              <a:gd name="adj" fmla="val 5357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7150" y="1748730"/>
            <a:ext cx="2119122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Draft stories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6407150" y="2113161"/>
            <a:ext cx="211912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3B46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one real ticket into stories with acceptance criteria.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8855075" y="1516955"/>
            <a:ext cx="2520950" cy="1837333"/>
          </a:xfrm>
          <a:prstGeom prst="roundRect">
            <a:avLst>
              <a:gd name="adj" fmla="val 5357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086850" y="1748730"/>
            <a:ext cx="2119122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Bring a pull request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9086850" y="2375991"/>
            <a:ext cx="211912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3B46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a recent PR we can review together in Session 2.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1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>
              <a:solidFill>
                <a:srgbClr val="4F5B67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A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83854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endParaRPr lang="en-US" sz="1500" b="1" kern="0" spc="150" dirty="0">
              <a:solidFill>
                <a:srgbClr val="0F1720"/>
              </a:solidFill>
              <a:latin typeface="Inter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2177554"/>
            <a:ext cx="10883392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8500"/>
              </a:lnSpc>
              <a:buNone/>
            </a:pPr>
            <a:r>
              <a:rPr lang="en-US" sz="8500" b="1" dirty="0">
                <a:solidFill>
                  <a:srgbClr val="0F1720"/>
                </a:solidFill>
                <a:latin typeface="Space Grotesk"/>
                <a:ea typeface="Space Grotesk"/>
              </a:rPr>
              <a:t>Thanks!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2800" y="3678694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endParaRPr lang="en-US" sz="2200" b="1" dirty="0">
              <a:solidFill>
                <a:srgbClr val="0F1720"/>
              </a:solidFill>
              <a:latin typeface="Inter"/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585881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1222</TotalTime>
  <Words>2285</Words>
  <Application>Microsoft Office PowerPoint</Application>
  <PresentationFormat>Widescreen</PresentationFormat>
  <Paragraphs>286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Inter</vt:lpstr>
      <vt:lpstr>JetBrains Mono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Utsav Verma</dc:creator>
  <cp:lastModifiedBy>Utsav Verma</cp:lastModifiedBy>
  <cp:revision>18</cp:revision>
  <dcterms:created xsi:type="dcterms:W3CDTF">2013-07-15T20:26:40Z</dcterms:created>
  <dcterms:modified xsi:type="dcterms:W3CDTF">2026-10-04T14:55:13Z</dcterms:modified>
</cp:coreProperties>
</file>