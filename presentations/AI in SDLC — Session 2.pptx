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6E97C9-0D5B-E27C-35B1-39B48D9C252F}" v="10" dt="2026-10-05T13:10:13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n Singh" userId="S::nitin.singh01@nagarro.com::3847472c-5997-4a89-8f25-b6531e475ec0" providerId="AD" clId="Web-{9B6E97C9-0D5B-E27C-35B1-39B48D9C252F}"/>
    <pc:docChg chg="modSld">
      <pc:chgData name="Nitin Singh" userId="S::nitin.singh01@nagarro.com::3847472c-5997-4a89-8f25-b6531e475ec0" providerId="AD" clId="Web-{9B6E97C9-0D5B-E27C-35B1-39B48D9C252F}" dt="2026-10-05T13:10:11.352" v="6" actId="20577"/>
      <pc:docMkLst>
        <pc:docMk/>
      </pc:docMkLst>
      <pc:sldChg chg="modSp">
        <pc:chgData name="Nitin Singh" userId="S::nitin.singh01@nagarro.com::3847472c-5997-4a89-8f25-b6531e475ec0" providerId="AD" clId="Web-{9B6E97C9-0D5B-E27C-35B1-39B48D9C252F}" dt="2026-10-05T13:09:02.132" v="0" actId="20577"/>
        <pc:sldMkLst>
          <pc:docMk/>
          <pc:sldMk cId="0" sldId="263"/>
        </pc:sldMkLst>
        <pc:spChg chg="mod">
          <ac:chgData name="Nitin Singh" userId="S::nitin.singh01@nagarro.com::3847472c-5997-4a89-8f25-b6531e475ec0" providerId="AD" clId="Web-{9B6E97C9-0D5B-E27C-35B1-39B48D9C252F}" dt="2026-10-05T13:09:02.132" v="0" actId="20577"/>
          <ac:spMkLst>
            <pc:docMk/>
            <pc:sldMk cId="0" sldId="263"/>
            <ac:spMk id="2" creationId="{00000000-0000-0000-0000-000000000000}"/>
          </ac:spMkLst>
        </pc:spChg>
      </pc:sldChg>
      <pc:sldChg chg="modSp">
        <pc:chgData name="Nitin Singh" userId="S::nitin.singh01@nagarro.com::3847472c-5997-4a89-8f25-b6531e475ec0" providerId="AD" clId="Web-{9B6E97C9-0D5B-E27C-35B1-39B48D9C252F}" dt="2026-10-05T13:10:11.352" v="6" actId="20577"/>
        <pc:sldMkLst>
          <pc:docMk/>
          <pc:sldMk cId="0" sldId="271"/>
        </pc:sldMkLst>
        <pc:spChg chg="mod">
          <ac:chgData name="Nitin Singh" userId="S::nitin.singh01@nagarro.com::3847472c-5997-4a89-8f25-b6531e475ec0" providerId="AD" clId="Web-{9B6E97C9-0D5B-E27C-35B1-39B48D9C252F}" dt="2026-10-05T13:10:07.336" v="3" actId="20577"/>
          <ac:spMkLst>
            <pc:docMk/>
            <pc:sldMk cId="0" sldId="271"/>
            <ac:spMk id="6" creationId="{00000000-0000-0000-0000-000000000000}"/>
          </ac:spMkLst>
        </pc:spChg>
        <pc:spChg chg="mod">
          <ac:chgData name="Nitin Singh" userId="S::nitin.singh01@nagarro.com::3847472c-5997-4a89-8f25-b6531e475ec0" providerId="AD" clId="Web-{9B6E97C9-0D5B-E27C-35B1-39B48D9C252F}" dt="2026-10-05T13:10:11.352" v="6" actId="20577"/>
          <ac:spMkLst>
            <pc:docMk/>
            <pc:sldMk cId="0" sldId="271"/>
            <ac:spMk id="9" creationId="{00000000-0000-0000-0000-000000000000}"/>
          </ac:spMkLst>
        </pc:spChg>
      </pc:sldChg>
    </pc:docChg>
  </pc:docChgLst>
  <pc:docChgLst>
    <pc:chgData name="Nitin Singh" userId="S::nitin.singh01@nagarro.com::3847472c-5997-4a89-8f25-b6531e475ec0" providerId="AD" clId="Web-{6E875700-38EF-5BDF-E963-5513221A6256}"/>
    <pc:docChg chg="modSld">
      <pc:chgData name="Nitin Singh" userId="S::nitin.singh01@nagarro.com::3847472c-5997-4a89-8f25-b6531e475ec0" providerId="AD" clId="Web-{6E875700-38EF-5BDF-E963-5513221A6256}" dt="2026-10-06T10:49:10.183" v="18"/>
      <pc:docMkLst>
        <pc:docMk/>
      </pc:docMkLst>
      <pc:sldChg chg="modNotes">
        <pc:chgData name="Nitin Singh" userId="S::nitin.singh01@nagarro.com::3847472c-5997-4a89-8f25-b6531e475ec0" providerId="AD" clId="Web-{6E875700-38EF-5BDF-E963-5513221A6256}" dt="2026-10-06T10:47:58.289" v="0"/>
        <pc:sldMkLst>
          <pc:docMk/>
          <pc:sldMk cId="0" sldId="256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02.320" v="1"/>
        <pc:sldMkLst>
          <pc:docMk/>
          <pc:sldMk cId="0" sldId="257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06.742" v="2"/>
        <pc:sldMkLst>
          <pc:docMk/>
          <pc:sldMk cId="0" sldId="258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09.508" v="3"/>
        <pc:sldMkLst>
          <pc:docMk/>
          <pc:sldMk cId="0" sldId="259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12.805" v="4"/>
        <pc:sldMkLst>
          <pc:docMk/>
          <pc:sldMk cId="0" sldId="260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20.071" v="5"/>
        <pc:sldMkLst>
          <pc:docMk/>
          <pc:sldMk cId="0" sldId="261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22.946" v="6"/>
        <pc:sldMkLst>
          <pc:docMk/>
          <pc:sldMk cId="0" sldId="262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25.618" v="7"/>
        <pc:sldMkLst>
          <pc:docMk/>
          <pc:sldMk cId="0" sldId="263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29.384" v="8"/>
        <pc:sldMkLst>
          <pc:docMk/>
          <pc:sldMk cId="0" sldId="264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33.540" v="9"/>
        <pc:sldMkLst>
          <pc:docMk/>
          <pc:sldMk cId="0" sldId="265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36.916" v="10"/>
        <pc:sldMkLst>
          <pc:docMk/>
          <pc:sldMk cId="0" sldId="266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40.400" v="11"/>
        <pc:sldMkLst>
          <pc:docMk/>
          <pc:sldMk cId="0" sldId="267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44.432" v="12"/>
        <pc:sldMkLst>
          <pc:docMk/>
          <pc:sldMk cId="0" sldId="268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48.182" v="13"/>
        <pc:sldMkLst>
          <pc:docMk/>
          <pc:sldMk cId="0" sldId="269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52.745" v="14"/>
        <pc:sldMkLst>
          <pc:docMk/>
          <pc:sldMk cId="0" sldId="270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56.417" v="15"/>
        <pc:sldMkLst>
          <pc:docMk/>
          <pc:sldMk cId="0" sldId="271"/>
        </pc:sldMkLst>
      </pc:sldChg>
      <pc:sldChg chg="modNotes">
        <pc:chgData name="Nitin Singh" userId="S::nitin.singh01@nagarro.com::3847472c-5997-4a89-8f25-b6531e475ec0" providerId="AD" clId="Web-{6E875700-38EF-5BDF-E963-5513221A6256}" dt="2026-10-06T10:48:59.792" v="16"/>
        <pc:sldMkLst>
          <pc:docMk/>
          <pc:sldMk cId="0" sldId="272"/>
        </pc:sldMkLst>
      </pc:sldChg>
      <pc:sldChg chg="modNotes">
        <pc:chgData name="Nitin Singh" userId="S::nitin.singh01@nagarro.com::3847472c-5997-4a89-8f25-b6531e475ec0" providerId="AD" clId="Web-{6E875700-38EF-5BDF-E963-5513221A6256}" dt="2026-10-06T10:49:05.417" v="17"/>
        <pc:sldMkLst>
          <pc:docMk/>
          <pc:sldMk cId="0" sldId="273"/>
        </pc:sldMkLst>
      </pc:sldChg>
      <pc:sldChg chg="modNotes">
        <pc:chgData name="Nitin Singh" userId="S::nitin.singh01@nagarro.com::3847472c-5997-4a89-8f25-b6531e475ec0" providerId="AD" clId="Web-{6E875700-38EF-5BDF-E963-5513221A6256}" dt="2026-10-06T10:49:10.183" v="18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D3A23-C5D0-4761-8738-BA09087B4DBB}" type="datetimeFigureOut"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5964E-EFCE-4806-B7B5-BB886F7EB2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2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453657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02420"/>
            <a:ext cx="10566400" cy="414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453657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02420"/>
            <a:ext cx="10566400" cy="414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A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7941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kern="0" spc="150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WORKSHOP</a:t>
            </a:r>
            <a:endParaRPr lang="en-US" sz="15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73114"/>
            <a:ext cx="10883392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8500" b="1" i="0">
                <a:solidFill>
                  <a:srgbClr val="0F17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2</a:t>
            </a:r>
            <a:endParaRPr lang="en-US" sz="8500"/>
          </a:p>
        </p:txBody>
      </p:sp>
      <p:sp>
        <p:nvSpPr>
          <p:cNvPr id="4" name="Text 2"/>
          <p:cNvSpPr/>
          <p:nvPr/>
        </p:nvSpPr>
        <p:spPr>
          <a:xfrm>
            <a:off x="812800" y="3859014"/>
            <a:ext cx="10883392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development: Spec Kit, OpenSpec, BMAD</a:t>
            </a:r>
            <a:endParaRPr lang="en-US" sz="1700"/>
          </a:p>
        </p:txBody>
      </p:sp>
      <p:sp>
        <p:nvSpPr>
          <p:cNvPr id="5" name="Text 3"/>
          <p:cNvSpPr/>
          <p:nvPr/>
        </p:nvSpPr>
        <p:spPr>
          <a:xfrm>
            <a:off x="812800" y="4228505"/>
            <a:ext cx="10883392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code review and security analysis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812800" y="4597995"/>
            <a:ext cx="10883392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testing and QA with Playwright</a:t>
            </a:r>
            <a:endParaRPr lang="en-US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0323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SPECS</a:t>
            </a:r>
            <a:endParaRPr lang="en-US" sz="13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62920"/>
            <a:ext cx="10883392" cy="1145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Vibe coding is fast until the second prompt.</a:t>
            </a:r>
            <a:endParaRPr lang="en-US" sz="4200"/>
          </a:p>
        </p:txBody>
      </p:sp>
      <p:sp>
        <p:nvSpPr>
          <p:cNvPr id="4" name="Text 2"/>
          <p:cNvSpPr/>
          <p:nvPr/>
        </p:nvSpPr>
        <p:spPr>
          <a:xfrm>
            <a:off x="812800" y="3911501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written spec keeps intent, decisions and constraints outside the chat, so the agent, the reviewer and the next teammate all work from the same source.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TOOL 1 OF 3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467267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 Kit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812800" y="1750020"/>
            <a:ext cx="46726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GitHub's open-source toolkit for spec-driven development. You write what and why first; the agent turns it into a plan, tasks and code.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12800" y="275332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30560" y="3119041"/>
            <a:ext cx="4648058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Constitution: project principles, once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Specify: what and why, no tech yet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 and plan: stack and architecture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Tasks, then implement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704979" y="812800"/>
            <a:ext cx="5674221" cy="2577604"/>
          </a:xfrm>
          <a:prstGeom prst="roundRect">
            <a:avLst>
              <a:gd name="adj" fmla="val 3942"/>
            </a:avLst>
          </a:prstGeom>
          <a:solidFill>
            <a:srgbClr val="0F1720"/>
          </a:solidFill>
          <a:ln/>
        </p:spPr>
      </p:sp>
      <p:sp>
        <p:nvSpPr>
          <p:cNvPr id="8" name="Text 6"/>
          <p:cNvSpPr/>
          <p:nvPr/>
        </p:nvSpPr>
        <p:spPr>
          <a:xfrm>
            <a:off x="5933579" y="1041400"/>
            <a:ext cx="537353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AND START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933579" y="135126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needs Python, Git, uv and an AI agent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933579" y="157757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uv tool install specify-cli \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5933579" y="180389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--from git+https://github.com/github/spec-kit.git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5933579" y="2030214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specify check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5933579" y="2256532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specify init invoice-approval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5933579" y="248285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then, inside your agent: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5933579" y="270916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/speckit.constitution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5933579" y="293548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/speckit.specify &lt;what you want&gt;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813693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 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 Kit: from one paragraph to working code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bulk invoice approval from a single idea, with the spec as the source of truth.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90270" y="2976761"/>
            <a:ext cx="514731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project principles once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Specify what and why, no tech yet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stack and architecture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into tasks and implement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299200" y="812800"/>
            <a:ext cx="5080000" cy="1762720"/>
          </a:xfrm>
          <a:prstGeom prst="roundRect">
            <a:avLst>
              <a:gd name="adj" fmla="val 4323"/>
            </a:avLst>
          </a:prstGeom>
          <a:solidFill>
            <a:srgbClr val="17222E"/>
          </a:solidFill>
          <a:ln/>
        </p:spPr>
      </p:sp>
      <p:sp>
        <p:nvSpPr>
          <p:cNvPr id="7" name="Shape 5"/>
          <p:cNvSpPr/>
          <p:nvPr/>
        </p:nvSpPr>
        <p:spPr>
          <a:xfrm>
            <a:off x="6299200" y="812800"/>
            <a:ext cx="5080000" cy="1762720"/>
          </a:xfrm>
          <a:custGeom>
            <a:avLst/>
            <a:gdLst/>
            <a:ahLst/>
            <a:cxnLst/>
            <a:rect l="l" t="t" r="r" b="b"/>
            <a:pathLst>
              <a:path w="5080000" h="1762720">
                <a:moveTo>
                  <a:pt x="76200" y="1762720"/>
                </a:moveTo>
                <a:lnTo>
                  <a:pt x="76200" y="17627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68652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578600" y="1356320"/>
            <a:ext cx="470916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/speckit.specify Approvers can approve or reject invoices in bulk. Show a summary first, allow a per-item override, and keep an audit trail of who decided what.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5550" y="275967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296922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515100" y="32587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clarifying questions the agent asks. The spec exposes gaps before any code exists.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TOOL 2 OF 3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467267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OpenSpec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812800" y="1750020"/>
            <a:ext cx="46726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 spec layer from Fission AI. You and the agent agree on a change proposal first, then build, then archive so the specs stay current.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12800" y="275332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30560" y="3119041"/>
            <a:ext cx="4648058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Propose: why, scope and tasks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spec deltas: added, modified, removed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Apply: the agent works through the tasks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Archive: deltas merge into the living specs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704979" y="812800"/>
            <a:ext cx="5674221" cy="2803922"/>
          </a:xfrm>
          <a:prstGeom prst="roundRect">
            <a:avLst>
              <a:gd name="adj" fmla="val 3623"/>
            </a:avLst>
          </a:prstGeom>
          <a:solidFill>
            <a:srgbClr val="0F1720"/>
          </a:solidFill>
          <a:ln/>
        </p:spPr>
      </p:sp>
      <p:sp>
        <p:nvSpPr>
          <p:cNvPr id="8" name="Text 6"/>
          <p:cNvSpPr/>
          <p:nvPr/>
        </p:nvSpPr>
        <p:spPr>
          <a:xfrm>
            <a:off x="5933579" y="1041400"/>
            <a:ext cx="537353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AND START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933579" y="135126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needs Node.js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933579" y="157757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npm install -g @fission-ai/openspec@latest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5933579" y="180389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cd your-repo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5933579" y="2030214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openspec init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5933579" y="2256532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then, inside your agent: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5933579" y="248285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/opsx:propose &lt;what you want to build&gt;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5933579" y="270916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later, to review and keep current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5933579" y="293548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openspec show &lt;change&gt;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5933579" y="3161804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openspec update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77577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 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OpenSpec: change an existing feature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partial-approval option to a feature that already exists.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90270" y="2976761"/>
            <a:ext cx="514731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change proposal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spec deltas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the tasks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 so specs stay current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299200" y="812800"/>
            <a:ext cx="5080000" cy="1762720"/>
          </a:xfrm>
          <a:prstGeom prst="roundRect">
            <a:avLst>
              <a:gd name="adj" fmla="val 4323"/>
            </a:avLst>
          </a:prstGeom>
          <a:solidFill>
            <a:srgbClr val="17222E"/>
          </a:solidFill>
          <a:ln/>
        </p:spPr>
      </p:sp>
      <p:sp>
        <p:nvSpPr>
          <p:cNvPr id="7" name="Shape 5"/>
          <p:cNvSpPr/>
          <p:nvPr/>
        </p:nvSpPr>
        <p:spPr>
          <a:xfrm>
            <a:off x="6299200" y="812800"/>
            <a:ext cx="5080000" cy="1762720"/>
          </a:xfrm>
          <a:custGeom>
            <a:avLst/>
            <a:gdLst/>
            <a:ahLst/>
            <a:cxnLst/>
            <a:rect l="l" t="t" r="r" b="b"/>
            <a:pathLst>
              <a:path w="5080000" h="1762720">
                <a:moveTo>
                  <a:pt x="76200" y="1762720"/>
                </a:moveTo>
                <a:lnTo>
                  <a:pt x="76200" y="17627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68652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578600" y="1356320"/>
            <a:ext cx="470916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Propose a change: allow partial approval of an invoice amount in the existing approval flow. Show spec deltas against current behaviour before writing any code.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5550" y="275967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296922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515100" y="32587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deltas show exactly what changes in existing behaviour, which suits brownfield work.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TOOL 3 OF 3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467267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BMAD Method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812800" y="1750020"/>
            <a:ext cx="46726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agile-style crew of AI personas. Analyst, PM, architect, scrum master and developer each own a phase and hand documents to the next.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12800" y="275332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30560" y="3119041"/>
            <a:ext cx="4648058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Analysis: brief and research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Planning: PRD and UX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Solutioning: architecture and stories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Implementation: sprint by sprint, story by story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704979" y="812800"/>
            <a:ext cx="5674221" cy="2577604"/>
          </a:xfrm>
          <a:prstGeom prst="roundRect">
            <a:avLst>
              <a:gd name="adj" fmla="val 3942"/>
            </a:avLst>
          </a:prstGeom>
          <a:solidFill>
            <a:srgbClr val="0F1720"/>
          </a:solidFill>
          <a:ln/>
        </p:spPr>
      </p:sp>
      <p:sp>
        <p:nvSpPr>
          <p:cNvPr id="8" name="Text 6"/>
          <p:cNvSpPr/>
          <p:nvPr/>
        </p:nvSpPr>
        <p:spPr>
          <a:xfrm>
            <a:off x="5933579" y="1041400"/>
            <a:ext cx="537353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AND START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933579" y="135126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needs Node.js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933579" y="157757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cd your-repo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5933579" y="180389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npx bmad-method install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5933579" y="2030214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pick your tool and modules in the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5933579" y="2256532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installer, then in your agent: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5933579" y="248285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ask bmad-help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5933579" y="270916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it tells you the next step and what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5933579" y="293548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is optional for your project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12788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720"/>
                </a:solidFill>
                <a:latin typeface="Inter" pitchFamily="34" charset="0"/>
                <a:ea typeface="Inter"/>
              </a:rPr>
              <a:t>DEMO</a:t>
            </a:r>
            <a:endParaRPr lang="en-US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BMAD: a crew of persona agents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same idea through specialist personas and watch the handoffs.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90270" y="2976761"/>
            <a:ext cx="514731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produces a brief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 turns it into a PRD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 proposes the design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Scrum master slices stories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299200" y="812800"/>
            <a:ext cx="5080000" cy="1515070"/>
          </a:xfrm>
          <a:prstGeom prst="roundRect">
            <a:avLst>
              <a:gd name="adj" fmla="val 5029"/>
            </a:avLst>
          </a:prstGeom>
          <a:solidFill>
            <a:srgbClr val="17222E"/>
          </a:solidFill>
          <a:ln/>
        </p:spPr>
      </p:sp>
      <p:sp>
        <p:nvSpPr>
          <p:cNvPr id="7" name="Shape 5"/>
          <p:cNvSpPr/>
          <p:nvPr/>
        </p:nvSpPr>
        <p:spPr>
          <a:xfrm>
            <a:off x="6299200" y="812800"/>
            <a:ext cx="5080000" cy="1515070"/>
          </a:xfrm>
          <a:custGeom>
            <a:avLst/>
            <a:gdLst/>
            <a:ahLst/>
            <a:cxnLst/>
            <a:rect l="l" t="t" r="r" b="b"/>
            <a:pathLst>
              <a:path w="5080000" h="1515070">
                <a:moveTo>
                  <a:pt x="76200" y="1515070"/>
                </a:moveTo>
                <a:lnTo>
                  <a:pt x="76200" y="151507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3887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578600" y="1356320"/>
            <a:ext cx="470916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Act as the BMAD Analyst. Brainstorm and brief the bulk invoice approval idea, then hand off to the PM agent to produce a PRD.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5550" y="251202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272157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515100" y="301109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artifacts passed between personas, and where you would step in as the human.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Strengths and trade-offs at a glance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815975" y="1384895"/>
            <a:ext cx="3414117" cy="3399036"/>
          </a:xfrm>
          <a:prstGeom prst="roundRect">
            <a:avLst>
              <a:gd name="adj" fmla="val 2896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565870"/>
            <a:ext cx="314373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 Kit</a:t>
            </a:r>
            <a:endParaRPr lang="en-US" sz="1900"/>
          </a:p>
        </p:txBody>
      </p:sp>
      <p:sp>
        <p:nvSpPr>
          <p:cNvPr id="5" name="Text 3"/>
          <p:cNvSpPr/>
          <p:nvPr/>
        </p:nvSpPr>
        <p:spPr>
          <a:xfrm>
            <a:off x="996950" y="1956991"/>
            <a:ext cx="3143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1102106" y="2271911"/>
            <a:ext cx="3030956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review gates before code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30+ agents, backed by GitHub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Specs are tool-neutral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996950" y="2993033"/>
            <a:ext cx="3143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B44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102106" y="3307953"/>
            <a:ext cx="3030956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for small changes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Geared to new features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Python tooling (uv)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996950" y="4003675"/>
            <a:ext cx="3052167" cy="599281"/>
          </a:xfrm>
          <a:prstGeom prst="roundRect">
            <a:avLst>
              <a:gd name="adj" fmla="val 10596"/>
            </a:avLst>
          </a:prstGeom>
          <a:solidFill>
            <a:srgbClr val="0F1720"/>
          </a:solidFill>
          <a:ln/>
        </p:spPr>
      </p:sp>
      <p:sp>
        <p:nvSpPr>
          <p:cNvPr id="10" name="Text 8"/>
          <p:cNvSpPr/>
          <p:nvPr/>
        </p:nvSpPr>
        <p:spPr>
          <a:xfrm>
            <a:off x="1123950" y="4105275"/>
            <a:ext cx="288211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for: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123950" y="4303316"/>
            <a:ext cx="288211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features that need gates.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388842" y="1384895"/>
            <a:ext cx="3414216" cy="3399036"/>
          </a:xfrm>
          <a:prstGeom prst="roundRect">
            <a:avLst>
              <a:gd name="adj" fmla="val 2896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9817" y="1565870"/>
            <a:ext cx="314383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OpenSpec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4569817" y="195699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674973" y="2271911"/>
            <a:ext cx="3031058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Fits changes to existing code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Deltas show what changes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process, quick review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569817" y="2993033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B44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TRADE-OFFS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674973" y="3307953"/>
            <a:ext cx="3031058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bring the design judgment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a strong model, clean context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Commands changed across releases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569817" y="4003675"/>
            <a:ext cx="3052266" cy="599281"/>
          </a:xfrm>
          <a:prstGeom prst="roundRect">
            <a:avLst>
              <a:gd name="adj" fmla="val 10596"/>
            </a:avLst>
          </a:prstGeom>
          <a:solidFill>
            <a:srgbClr val="0F1720"/>
          </a:solidFill>
          <a:ln/>
        </p:spPr>
      </p:sp>
      <p:sp>
        <p:nvSpPr>
          <p:cNvPr id="19" name="Text 17"/>
          <p:cNvSpPr/>
          <p:nvPr/>
        </p:nvSpPr>
        <p:spPr>
          <a:xfrm>
            <a:off x="4696817" y="4105275"/>
            <a:ext cx="288221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for: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696817" y="4303316"/>
            <a:ext cx="288221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changing an existing codebase.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7961809" y="1384895"/>
            <a:ext cx="3414216" cy="3399036"/>
          </a:xfrm>
          <a:prstGeom prst="roundRect">
            <a:avLst>
              <a:gd name="adj" fmla="val 2896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2784" y="1565870"/>
            <a:ext cx="314383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BMAD</a:t>
            </a:r>
            <a:endParaRPr lang="en-US" sz="1900"/>
          </a:p>
        </p:txBody>
      </p:sp>
      <p:sp>
        <p:nvSpPr>
          <p:cNvPr id="23" name="Text 21"/>
          <p:cNvSpPr/>
          <p:nvPr/>
        </p:nvSpPr>
        <p:spPr>
          <a:xfrm>
            <a:off x="8142784" y="1956991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8247940" y="2271911"/>
            <a:ext cx="3031058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to stories, PRD included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mirror an agile team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from small to enterprise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8142784" y="2993033"/>
            <a:ext cx="31438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B445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TRADE-OFFS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8247940" y="3307953"/>
            <a:ext cx="3031058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ceremony to learn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docs, tokens and review</a:t>
            </a:r>
            <a:endParaRPr lang="en-US" sz="1200"/>
          </a:p>
          <a:p>
            <a:pPr marL="148844" indent="-148844" algn="l">
              <a:lnSpc>
                <a:spcPts val="1560"/>
              </a:lnSpc>
              <a:buSzPct val="100000"/>
              <a:buChar char="•"/>
            </a:pPr>
            <a:r>
              <a:rPr lang="en-US" sz="12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Fast-moving versions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8142784" y="4003675"/>
            <a:ext cx="3052266" cy="599281"/>
          </a:xfrm>
          <a:prstGeom prst="roundRect">
            <a:avLst>
              <a:gd name="adj" fmla="val 10596"/>
            </a:avLst>
          </a:prstGeom>
          <a:solidFill>
            <a:srgbClr val="0F1720"/>
          </a:solidFill>
          <a:ln/>
        </p:spPr>
      </p:sp>
      <p:sp>
        <p:nvSpPr>
          <p:cNvPr id="28" name="Text 26"/>
          <p:cNvSpPr/>
          <p:nvPr/>
        </p:nvSpPr>
        <p:spPr>
          <a:xfrm>
            <a:off x="8269784" y="4105275"/>
            <a:ext cx="288221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for: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8269784" y="4303316"/>
            <a:ext cx="2882214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greenfield products, big features.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Which one, and when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812800" y="1721445"/>
            <a:ext cx="10566400" cy="0"/>
          </a:xfrm>
          <a:prstGeom prst="line">
            <a:avLst/>
          </a:prstGeom>
          <a:noFill/>
          <a:ln w="19050">
            <a:solidFill>
              <a:srgbClr val="16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600" y="1409700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situation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5257800" y="1409700"/>
            <a:ext cx="172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for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7137400" y="1409700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812800" y="2450306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" y="1857970"/>
            <a:ext cx="431673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feature, and you want review gates before any code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257800" y="1857970"/>
            <a:ext cx="172720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 Kit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7137400" y="1857970"/>
            <a:ext cx="431673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Constitution, spec, plan and tasks are separate checkpoints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812800" y="2948781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600" y="2580481"/>
            <a:ext cx="431673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change to a system that already exists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257800" y="2580481"/>
            <a:ext cx="172720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OpenSpec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7137400" y="2580481"/>
            <a:ext cx="431673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Deltas show what changes against current behaviour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812800" y="3671292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600" y="3078956"/>
            <a:ext cx="431673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whole product or large feature, starting from an idea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5257800" y="3078956"/>
            <a:ext cx="172720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BMAD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7137400" y="3078956"/>
            <a:ext cx="431673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PRD, architecture and stories before the first sprint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812800" y="4360863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600" y="3801467"/>
            <a:ext cx="431673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fix or a quick experiment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5257800" y="3801467"/>
            <a:ext cx="172720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None of them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7137400" y="3801467"/>
            <a:ext cx="431673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plan in the agent is enough; skip the ceremony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812800" y="5050433"/>
            <a:ext cx="10566400" cy="0"/>
          </a:xfrm>
          <a:prstGeom prst="line">
            <a:avLst/>
          </a:prstGeom>
          <a:noFill/>
          <a:ln w="6350">
            <a:solidFill>
              <a:srgbClr val="D5CF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600" y="4491038"/>
            <a:ext cx="431673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 new to spec-driven work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5257800" y="4491038"/>
            <a:ext cx="172720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OpenSpec first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7137400" y="4491038"/>
            <a:ext cx="431673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Smallest process to learn; move up if gates are missed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41462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pull request review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 seeded PR that has five planted problems, then run the same review in CI.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90270" y="2976761"/>
            <a:ext cx="514731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reviews the diff against a checklist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with human comments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CI job posting inline comments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Tighten the checklist to cut noise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299200" y="812800"/>
            <a:ext cx="5080000" cy="1762720"/>
          </a:xfrm>
          <a:prstGeom prst="roundRect">
            <a:avLst>
              <a:gd name="adj" fmla="val 4323"/>
            </a:avLst>
          </a:prstGeom>
          <a:solidFill>
            <a:srgbClr val="17222E"/>
          </a:solidFill>
          <a:ln/>
        </p:spPr>
      </p:sp>
      <p:sp>
        <p:nvSpPr>
          <p:cNvPr id="7" name="Shape 5"/>
          <p:cNvSpPr/>
          <p:nvPr/>
        </p:nvSpPr>
        <p:spPr>
          <a:xfrm>
            <a:off x="6299200" y="812800"/>
            <a:ext cx="5080000" cy="1762720"/>
          </a:xfrm>
          <a:custGeom>
            <a:avLst/>
            <a:gdLst/>
            <a:ahLst/>
            <a:cxnLst/>
            <a:rect l="l" t="t" r="r" b="b"/>
            <a:pathLst>
              <a:path w="5080000" h="1762720">
                <a:moveTo>
                  <a:pt x="76200" y="1762720"/>
                </a:moveTo>
                <a:lnTo>
                  <a:pt x="76200" y="17627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68652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578600" y="1356320"/>
            <a:ext cx="470916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Review this PR against our checklist. Report findings by severity with file and line, suggest a fix for each, and say what you are unsure about.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5550" y="275967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296922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515100" y="32587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positives, and how a written checklist makes the review more consistent.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41462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5520"/>
            <a:ext cx="5232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security analysis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and fix vulnerabilities in a small change, then discuss where this fits next to SAST.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90270" y="2585641"/>
            <a:ext cx="514731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Planted: SQL injection, hard-coded secret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Planted: missing authorization check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findings to OWASP Top 10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a minimal fix and re-check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299200" y="812800"/>
            <a:ext cx="5080000" cy="1515070"/>
          </a:xfrm>
          <a:prstGeom prst="roundRect">
            <a:avLst>
              <a:gd name="adj" fmla="val 5029"/>
            </a:avLst>
          </a:prstGeom>
          <a:solidFill>
            <a:srgbClr val="17222E"/>
          </a:solidFill>
          <a:ln/>
        </p:spPr>
      </p:sp>
      <p:sp>
        <p:nvSpPr>
          <p:cNvPr id="7" name="Shape 5"/>
          <p:cNvSpPr/>
          <p:nvPr/>
        </p:nvSpPr>
        <p:spPr>
          <a:xfrm>
            <a:off x="6299200" y="812800"/>
            <a:ext cx="5080000" cy="1515070"/>
          </a:xfrm>
          <a:custGeom>
            <a:avLst/>
            <a:gdLst/>
            <a:ahLst/>
            <a:cxnLst/>
            <a:rect l="l" t="t" r="r" b="b"/>
            <a:pathLst>
              <a:path w="5080000" h="1515070">
                <a:moveTo>
                  <a:pt x="76200" y="1515070"/>
                </a:moveTo>
                <a:lnTo>
                  <a:pt x="76200" y="151507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43887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578600" y="1356320"/>
            <a:ext cx="470916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 a security review of this change. Map findings to the OWASP Top 10, rate severity, and propose a minimal fix for each one.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5550" y="251202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272157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515100" y="301109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findings as leads to verify. AI review complements SAST and does not replace it.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41462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Generated tests and edge cases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legacy discount calculator has no tests. Ask the agent to change that.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90270" y="2976761"/>
            <a:ext cx="514731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edge cases first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unit tests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coverage and a mutation check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weak assertions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299200" y="812800"/>
            <a:ext cx="5080000" cy="1762720"/>
          </a:xfrm>
          <a:prstGeom prst="roundRect">
            <a:avLst>
              <a:gd name="adj" fmla="val 4323"/>
            </a:avLst>
          </a:prstGeom>
          <a:solidFill>
            <a:srgbClr val="17222E"/>
          </a:solidFill>
          <a:ln/>
        </p:spPr>
      </p:sp>
      <p:sp>
        <p:nvSpPr>
          <p:cNvPr id="7" name="Shape 5"/>
          <p:cNvSpPr/>
          <p:nvPr/>
        </p:nvSpPr>
        <p:spPr>
          <a:xfrm>
            <a:off x="6299200" y="812800"/>
            <a:ext cx="5080000" cy="1762720"/>
          </a:xfrm>
          <a:custGeom>
            <a:avLst/>
            <a:gdLst/>
            <a:ahLst/>
            <a:cxnLst/>
            <a:rect l="l" t="t" r="r" b="b"/>
            <a:pathLst>
              <a:path w="5080000" h="1762720">
                <a:moveTo>
                  <a:pt x="76200" y="1762720"/>
                </a:moveTo>
                <a:lnTo>
                  <a:pt x="76200" y="17627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68652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578600" y="1356320"/>
            <a:ext cx="470916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Write unit tests for DiscountCalculator. List edge cases first: boundaries, nulls, rounding, currency. Then generate the tests, run them, and report coverage.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5550" y="275967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296922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515100" y="32587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that pass but assert nothing. Coverage alone does not prove quality.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1 OF 3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467267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Playwright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812800" y="1750020"/>
            <a:ext cx="467267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Microsoft's open-source end-to-end testing framework. One API drives Chromium, Firefox and WebKit, and it waits for the page so tests flake less.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12800" y="302002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TEAMS USE IT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30560" y="3385741"/>
            <a:ext cx="4648058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Auto-waiting: no sleep calls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locators like getByRole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viewer and codegen for debugging</a:t>
            </a:r>
            <a:endParaRPr lang="en-US" sz="1400"/>
          </a:p>
          <a:p>
            <a:pPr marL="210840" indent="-210840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for TypeScript, Python, Java and .NET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704979" y="812800"/>
            <a:ext cx="5674221" cy="3256558"/>
          </a:xfrm>
          <a:prstGeom prst="roundRect">
            <a:avLst>
              <a:gd name="adj" fmla="val 3120"/>
            </a:avLst>
          </a:prstGeom>
          <a:solidFill>
            <a:srgbClr val="0F1720"/>
          </a:solidFill>
          <a:ln/>
        </p:spPr>
      </p:sp>
      <p:sp>
        <p:nvSpPr>
          <p:cNvPr id="8" name="Text 6"/>
          <p:cNvSpPr/>
          <p:nvPr/>
        </p:nvSpPr>
        <p:spPr>
          <a:xfrm>
            <a:off x="5933579" y="1041400"/>
            <a:ext cx="537353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TEST IN TYPESCRIPT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933579" y="135126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set up (Node.js)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933579" y="157757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npm init playwright@latest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5933579" y="180389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tests/approve.spec.ts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5933579" y="2030214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test('approve an invoice', async ({ page }) =&gt; {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5933579" y="2256532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 page.goto('/approvals');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5933579" y="248285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 page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5933579" y="270916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.getByRole('button', { name: 'Approve' })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5933579" y="293548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.first().click();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5933579" y="3161804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await expect(page.getByText('Approved'))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5933579" y="3388122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.toBeVisible();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5933579" y="361444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});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672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2 OF 3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4672676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Playwright MCP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812800" y="1750020"/>
            <a:ext cx="467267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MCP server from Microsoft that gives the agent a real browser. It sees the page as a structured snapshot of roles and labels, not as pixels.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815975" y="2972395"/>
            <a:ext cx="1247577" cy="618430"/>
          </a:xfrm>
          <a:prstGeom prst="roundRect">
            <a:avLst>
              <a:gd name="adj" fmla="val 11808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9950" y="3077170"/>
            <a:ext cx="11396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869950" y="3308251"/>
            <a:ext cx="113962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coding tool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2155627" y="3130451"/>
            <a:ext cx="2667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/>
          </a:p>
        </p:txBody>
      </p:sp>
      <p:sp>
        <p:nvSpPr>
          <p:cNvPr id="9" name="Shape 7"/>
          <p:cNvSpPr/>
          <p:nvPr/>
        </p:nvSpPr>
        <p:spPr>
          <a:xfrm>
            <a:off x="2460427" y="2969220"/>
            <a:ext cx="1241326" cy="624780"/>
          </a:xfrm>
          <a:prstGeom prst="roundRect">
            <a:avLst>
              <a:gd name="adj" fmla="val 12196"/>
            </a:avLst>
          </a:prstGeom>
          <a:solidFill>
            <a:srgbClr val="0F1720"/>
          </a:solidFill>
          <a:ln/>
        </p:spPr>
      </p:sp>
      <p:sp>
        <p:nvSpPr>
          <p:cNvPr id="10" name="Text 8"/>
          <p:cNvSpPr/>
          <p:nvPr/>
        </p:nvSpPr>
        <p:spPr>
          <a:xfrm>
            <a:off x="2511227" y="3070820"/>
            <a:ext cx="113972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MCP server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2511227" y="3301901"/>
            <a:ext cx="113972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3790652" y="3130451"/>
            <a:ext cx="2667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/>
          </a:p>
        </p:txBody>
      </p:sp>
      <p:sp>
        <p:nvSpPr>
          <p:cNvPr id="13" name="Shape 11"/>
          <p:cNvSpPr/>
          <p:nvPr/>
        </p:nvSpPr>
        <p:spPr>
          <a:xfrm>
            <a:off x="4098627" y="2972395"/>
            <a:ext cx="1247577" cy="618430"/>
          </a:xfrm>
          <a:prstGeom prst="roundRect">
            <a:avLst>
              <a:gd name="adj" fmla="val 11808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2602" y="3077170"/>
            <a:ext cx="11396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Browser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152602" y="3308251"/>
            <a:ext cx="113962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running app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833882" y="3746401"/>
            <a:ext cx="4645879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to navigate, click, type, fill forms and snapshot the page</a:t>
            </a:r>
            <a:endParaRPr lang="en-US" sz="140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>
                <a:solidFill>
                  <a:srgbClr val="2B36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Snapshots are text, so they are cheaper and steadier than screenshots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5704979" y="812800"/>
            <a:ext cx="5674221" cy="3709194"/>
          </a:xfrm>
          <a:prstGeom prst="roundRect">
            <a:avLst>
              <a:gd name="adj" fmla="val 2739"/>
            </a:avLst>
          </a:prstGeom>
          <a:solidFill>
            <a:srgbClr val="0F1720"/>
          </a:solidFill>
          <a:ln/>
        </p:spPr>
      </p:sp>
      <p:sp>
        <p:nvSpPr>
          <p:cNvPr id="18" name="Text 16"/>
          <p:cNvSpPr/>
          <p:nvPr/>
        </p:nvSpPr>
        <p:spPr>
          <a:xfrm>
            <a:off x="5933579" y="1041400"/>
            <a:ext cx="537353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(NODE.JS 18 OR NEWER)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933579" y="135126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Claude Code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5933579" y="157757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claude mcp add playwright -- \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5933579" y="180389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npx @playwright/mcp@latest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5933579" y="2030214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any MCP client: add to its config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5933579" y="2256532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5933579" y="248285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"mcpServers": {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5933579" y="270916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"playwright": {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5933579" y="293548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"command": "npx",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5933579" y="3161804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"args": ["@playwright/mcp@latest"]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5933579" y="3388122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5933579" y="3614440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5933579" y="3840758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5933579" y="4067076"/>
            <a:ext cx="5373532" cy="251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3"/>
              </a:lnSpc>
              <a:buNone/>
            </a:pPr>
            <a:r>
              <a:rPr lang="en-US" sz="1150">
                <a:solidFill>
                  <a:srgbClr val="35C7B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then check it is connected: /mcp</a:t>
            </a:r>
            <a:endParaRPr lang="en-US" sz="115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3 OF 3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pair an agent with a real browser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815975" y="1854795"/>
            <a:ext cx="5175250" cy="2320131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6570"/>
            <a:ext cx="485305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Without it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1132332" y="2503091"/>
            <a:ext cx="4760849" cy="1225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910" indent="-168910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/>
                <a:cs typeface="Inter" pitchFamily="34" charset="-120"/>
              </a:rPr>
              <a:t>The agent writes tests from the code alone and guesses selectors</a:t>
            </a:r>
            <a:endParaRPr lang="en-US" sz="1400" dirty="0">
              <a:latin typeface="Inter"/>
              <a:ea typeface="Inter"/>
            </a:endParaRPr>
          </a:p>
          <a:p>
            <a:pPr marL="168910" indent="-168910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The first run fails and you debug locators by hand</a:t>
            </a:r>
            <a:endParaRPr lang="en-US" sz="1400" dirty="0">
              <a:latin typeface="Inter"/>
            </a:endParaRPr>
          </a:p>
          <a:p>
            <a:pPr marL="168910" indent="-168910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Hidden states, such as a loading spinner or a modal, get missed</a:t>
            </a:r>
            <a:endParaRPr lang="en-US" sz="1400" dirty="0">
              <a:latin typeface="Inter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00775" y="1854795"/>
            <a:ext cx="5175250" cy="2320131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086570"/>
            <a:ext cx="485305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Playwright MCP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6517132" y="2503091"/>
            <a:ext cx="4760849" cy="146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910" indent="-168910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The agent opens the running app and sees what a user sees</a:t>
            </a:r>
            <a:endParaRPr lang="en-US" sz="1400" dirty="0">
              <a:latin typeface="Inter"/>
            </a:endParaRPr>
          </a:p>
          <a:p>
            <a:pPr marL="168910" indent="-168910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It writes the test from real roles and labels, then runs it</a:t>
            </a:r>
            <a:endParaRPr lang="en-US" sz="1400" dirty="0">
              <a:latin typeface="Inter"/>
            </a:endParaRPr>
          </a:p>
          <a:p>
            <a:pPr marL="168910" indent="-168910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B3642"/>
                </a:solidFill>
                <a:latin typeface="Inter"/>
                <a:ea typeface="Inter" pitchFamily="34" charset="-122"/>
                <a:cs typeface="Inter" pitchFamily="34" charset="-120"/>
              </a:rPr>
              <a:t>When a test breaks, it re-inspects the page and repairs it</a:t>
            </a:r>
            <a:endParaRPr lang="en-US" sz="1400" dirty="0">
              <a:latin typeface="Inte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2800" y="4381302"/>
            <a:ext cx="10566400" cy="1076325"/>
          </a:xfrm>
          <a:prstGeom prst="roundRect">
            <a:avLst>
              <a:gd name="adj" fmla="val 7080"/>
            </a:avLst>
          </a:prstGeom>
          <a:solidFill>
            <a:srgbClr val="0F1720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4533702"/>
            <a:ext cx="1041247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keep: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1041400" y="4790877"/>
            <a:ext cx="10412476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output is plain Playwright test files in the repo. They run in CI without the agent, and humans review them like any other code.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741462" cy="314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0F17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05520"/>
            <a:ext cx="523240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Playwright MCP: tests from plain English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2265561"/>
            <a:ext cx="5232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 the agent drive a real browser, then keep the test it writes.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90270" y="2976761"/>
            <a:ext cx="514731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explores the app in a browser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 Playwright spec with page objects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a selector on purpose</a:t>
            </a:r>
            <a:endParaRPr lang="en-US" sz="1500"/>
          </a:p>
          <a:p>
            <a:pPr marL="176530" indent="-176530" algn="l">
              <a:lnSpc>
                <a:spcPts val="2100"/>
              </a:lnSpc>
              <a:buSzPct val="100000"/>
              <a:buChar char="•"/>
            </a:pPr>
            <a:r>
              <a:rPr lang="en-US" sz="15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heals the test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6299200" y="812800"/>
            <a:ext cx="5080000" cy="2010370"/>
          </a:xfrm>
          <a:prstGeom prst="roundRect">
            <a:avLst>
              <a:gd name="adj" fmla="val 3790"/>
            </a:avLst>
          </a:prstGeom>
          <a:solidFill>
            <a:srgbClr val="17222E"/>
          </a:solidFill>
          <a:ln/>
        </p:spPr>
      </p:sp>
      <p:sp>
        <p:nvSpPr>
          <p:cNvPr id="7" name="Shape 5"/>
          <p:cNvSpPr/>
          <p:nvPr/>
        </p:nvSpPr>
        <p:spPr>
          <a:xfrm>
            <a:off x="6299200" y="812800"/>
            <a:ext cx="5080000" cy="2010370"/>
          </a:xfrm>
          <a:custGeom>
            <a:avLst/>
            <a:gdLst/>
            <a:ahLst/>
            <a:cxnLst/>
            <a:rect l="l" t="t" r="r" b="b"/>
            <a:pathLst>
              <a:path w="5080000" h="2010370">
                <a:moveTo>
                  <a:pt x="76200" y="2010370"/>
                </a:moveTo>
                <a:lnTo>
                  <a:pt x="76200" y="201037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1934170"/>
                </a:lnTo>
                <a:arcTo wR="25400" hR="76200" stAng="10800000" swAng="-5400000"/>
                <a:close/>
              </a:path>
            </a:pathLst>
          </a:cu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6578600" y="104140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6578600" y="1356320"/>
            <a:ext cx="4709160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>
                <a:solidFill>
                  <a:srgbClr val="E8EE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Using Playwright, open the app, log in as a test user, create an invoice and submit it for approval. Generate a maintainable Playwright test with page objects and role-based locators.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5550" y="3007320"/>
            <a:ext cx="5067300" cy="1206302"/>
          </a:xfrm>
          <a:prstGeom prst="roundRect">
            <a:avLst>
              <a:gd name="adj" fmla="val 5790"/>
            </a:avLst>
          </a:prstGeom>
          <a:noFill/>
          <a:ln w="12700">
            <a:solidFill>
              <a:srgbClr val="2C3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5100" y="3216870"/>
            <a:ext cx="47876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F5A5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FOR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515100" y="350639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8EE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locators instead of brittle CSS paths, and a test you would actually commit.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83234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>
                <a:solidFill>
                  <a:srgbClr val="35C7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</a:t>
            </a:r>
            <a:endParaRPr lang="en-US" sz="13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842915"/>
            <a:ext cx="10883392" cy="585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Generated tests need tests too.</a:t>
            </a:r>
            <a:endParaRPr lang="en-US" sz="4200"/>
          </a:p>
        </p:txBody>
      </p:sp>
      <p:sp>
        <p:nvSpPr>
          <p:cNvPr id="4" name="Text 2"/>
          <p:cNvSpPr/>
          <p:nvPr/>
        </p:nvSpPr>
        <p:spPr>
          <a:xfrm>
            <a:off x="812800" y="3631505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that assertions mean something, run mutation testing on critical code, and keep a human accountable for what correct means.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B4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Session 3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815975" y="1516955"/>
            <a:ext cx="2520950" cy="1574502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48730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one spec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1047750" y="2113161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Spec Kit or OpenSpec on a small real change.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495675" y="1516955"/>
            <a:ext cx="2520950" cy="1574502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27450" y="1748730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one AI review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3727450" y="2113161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an agent at a real PR and list what it found.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175375" y="1516955"/>
            <a:ext cx="2520950" cy="1574502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7150" y="1748730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 tests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6407150" y="2113161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an untested class and check the tests with mutation testing.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8855075" y="1516955"/>
            <a:ext cx="2520950" cy="1574502"/>
          </a:xfrm>
          <a:prstGeom prst="roundRect">
            <a:avLst>
              <a:gd name="adj" fmla="val 6251"/>
            </a:avLst>
          </a:prstGeom>
          <a:solidFill>
            <a:srgbClr val="FBFAF6"/>
          </a:solidFill>
          <a:ln w="6350">
            <a:solidFill>
              <a:srgbClr val="D5CF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6850" y="1748730"/>
            <a:ext cx="2119122" cy="288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 a bad log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9086850" y="2113161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B46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a real or sample incident log for the RCA demo.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SDLC · Session 2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10871200" y="62382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F5B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in SDLC — Session 2: Spec-driven development, code review, testing">
  <a:themeElements>
    <a:clrScheme name="AI in SDLC — Session 2: Spec-driven development, code review, testing">
      <a:dk1>
        <a:srgbClr val="4F5B67"/>
      </a:dk1>
      <a:lt1>
        <a:srgbClr val="F4F1EA"/>
      </a:lt1>
      <a:dk2>
        <a:srgbClr val="788188"/>
      </a:dk2>
      <a:lt2>
        <a:srgbClr val="E4E2DD"/>
      </a:lt2>
      <a:accent1>
        <a:srgbClr val="F5A524"/>
      </a:accent1>
      <a:accent2>
        <a:srgbClr val="35C7B4"/>
      </a:accent2>
      <a:accent3>
        <a:srgbClr val="0F766E"/>
      </a:accent3>
      <a:accent4>
        <a:srgbClr val="B4452F"/>
      </a:accent4>
      <a:accent5>
        <a:srgbClr val="0F1720"/>
      </a:accent5>
      <a:accent6>
        <a:srgbClr val="B4C2CE"/>
      </a:accent6>
      <a:hlink>
        <a:srgbClr val="0563C1"/>
      </a:hlink>
      <a:folHlink>
        <a:srgbClr val="954F72"/>
      </a:folHlink>
    </a:clrScheme>
    <a:fontScheme name="AI in SDLC — Session 2: Spec-driven development, code review, testing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AI in SDLC — Session 2: Spec-driven development, code review, testing</vt:lpstr>
      <vt:lpstr>Session 2</vt:lpstr>
      <vt:lpstr>Vibe coding is fast until the second prompt.</vt:lpstr>
      <vt:lpstr>Spec Kit</vt:lpstr>
      <vt:lpstr>Spec Kit: from one paragraph to working code</vt:lpstr>
      <vt:lpstr>OpenSpec</vt:lpstr>
      <vt:lpstr>OpenSpec: change an existing feature</vt:lpstr>
      <vt:lpstr>BMAD Method</vt:lpstr>
      <vt:lpstr>BMAD: a crew of persona agents</vt:lpstr>
      <vt:lpstr>Strengths and trade-offs at a glance</vt:lpstr>
      <vt:lpstr>Which one, and when</vt:lpstr>
      <vt:lpstr>Automated pull request review</vt:lpstr>
      <vt:lpstr>AI security analysis</vt:lpstr>
      <vt:lpstr>Generated tests and edge cases</vt:lpstr>
      <vt:lpstr>Playwright</vt:lpstr>
      <vt:lpstr>Playwright MCP</vt:lpstr>
      <vt:lpstr>Why pair an agent with a real browser</vt:lpstr>
      <vt:lpstr>Playwright MCP: tests from plain English</vt:lpstr>
      <vt:lpstr>Generated tests need tests too.</vt:lpstr>
      <vt:lpstr>Before Session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SDLC — Session 2: Spec-driven development, code review, testing</dc:title>
  <dc:subject/>
  <dc:creator/>
  <cp:revision>15</cp:revision>
  <dcterms:created xsi:type="dcterms:W3CDTF">2026-10-05T04:50:23Z</dcterms:created>
  <dcterms:modified xsi:type="dcterms:W3CDTF">2026-10-06T10:49:13Z</dcterms:modified>
</cp:coreProperties>
</file>